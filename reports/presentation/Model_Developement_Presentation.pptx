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14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6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0" y="0"/>
            <a:ext cx="142646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42646" y="6715354"/>
            <a:ext cx="12049049" cy="1426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52805" y="1216198"/>
            <a:ext cx="5829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 Authority of NY &amp; NJ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2048256"/>
            <a:ext cx="969721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Traffic Analytics &amp;</a:t>
            </a:r>
            <a:endParaRPr lang="en-US" sz="5400" dirty="0"/>
          </a:p>
          <a:p>
            <a:r>
              <a:rPr lang="en-US" sz="5400" b="1" dirty="0">
                <a:solidFill>
                  <a:srgbClr val="FFFFFF"/>
                </a:solidFill>
                <a:latin typeface="Montserrat" pitchFamily="34" charset="0"/>
              </a:rPr>
              <a:t>Model Development</a:t>
            </a:r>
          </a:p>
        </p:txBody>
      </p:sp>
      <p:sp>
        <p:nvSpPr>
          <p:cNvPr id="8" name="Text 4"/>
          <p:cNvSpPr txBox="1"/>
          <p:nvPr/>
        </p:nvSpPr>
        <p:spPr>
          <a:xfrm>
            <a:off x="952805" y="3810305"/>
            <a:ext cx="105924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Insights for Traffic Optimization, Revenue Protection, and Long-Term Planning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5524805"/>
            <a:ext cx="3924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5743346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</a:rPr>
              <a:t>Group 6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715000" y="5524805"/>
            <a:ext cx="3924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5743346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 31, 2026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15907" y="6838798"/>
            <a:ext cx="2876702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172493" y="3981298"/>
            <a:ext cx="19202" cy="28767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522A5A-A1FB-A8DC-3155-E587B9A704B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20D321-E74E-49CB-998E-CAF3BD286CA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A497BC7-34F7-08DF-A627-5D647E94CD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0" b="-80"/>
          <a:stretch/>
        </p:blipFill>
        <p:spPr>
          <a:xfrm>
            <a:off x="0" y="0"/>
            <a:ext cx="95098" cy="68580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D3012C9-C7A1-F685-79EE-5DA5BC99BB4F}"/>
              </a:ext>
            </a:extLst>
          </p:cNvPr>
          <p:cNvSpPr txBox="1"/>
          <p:nvPr/>
        </p:nvSpPr>
        <p:spPr>
          <a:xfrm>
            <a:off x="857707" y="609905"/>
            <a:ext cx="3477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36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1BAC445-1BD8-9C6C-BF3E-F830D5CF36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857707" y="1218895"/>
            <a:ext cx="914400" cy="38405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451F2DB-F09E-4AF1-1556-BD1B2C9D1FFE}"/>
              </a:ext>
            </a:extLst>
          </p:cNvPr>
          <p:cNvSpPr/>
          <p:nvPr/>
        </p:nvSpPr>
        <p:spPr>
          <a:xfrm>
            <a:off x="857707" y="1471270"/>
            <a:ext cx="10573207" cy="4181551"/>
          </a:xfrm>
          <a:prstGeom prst="roundRect">
            <a:avLst>
              <a:gd name="adj" fmla="val 11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29A0B22-75CF-6F89-7474-A3C6EDFB6B8E}"/>
              </a:ext>
            </a:extLst>
          </p:cNvPr>
          <p:cNvSpPr/>
          <p:nvPr/>
        </p:nvSpPr>
        <p:spPr>
          <a:xfrm>
            <a:off x="866851" y="1481328"/>
            <a:ext cx="10554005" cy="504749"/>
          </a:xfrm>
          <a:prstGeom prst="roundRect">
            <a:avLst>
              <a:gd name="adj" fmla="val 8203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1AE1793-3928-194C-1B77-C98972D9524B}"/>
              </a:ext>
            </a:extLst>
          </p:cNvPr>
          <p:cNvSpPr/>
          <p:nvPr/>
        </p:nvSpPr>
        <p:spPr>
          <a:xfrm>
            <a:off x="866851" y="1976933"/>
            <a:ext cx="10554005" cy="9144"/>
          </a:xfrm>
          <a:prstGeom prst="roundRect">
            <a:avLst>
              <a:gd name="adj" fmla="val 452830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D0EA37A-5694-D2A8-04E0-5E015EB82BD4}"/>
              </a:ext>
            </a:extLst>
          </p:cNvPr>
          <p:cNvSpPr txBox="1"/>
          <p:nvPr/>
        </p:nvSpPr>
        <p:spPr>
          <a:xfrm>
            <a:off x="1171346" y="1633118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B78646F-41D3-1971-2DC4-676550DB7277}"/>
              </a:ext>
            </a:extLst>
          </p:cNvPr>
          <p:cNvSpPr txBox="1"/>
          <p:nvPr/>
        </p:nvSpPr>
        <p:spPr>
          <a:xfrm>
            <a:off x="4486046" y="1633118"/>
            <a:ext cx="6743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endParaRPr lang="en-US" sz="10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52A03A7-7A61-25E8-9A34-9C1C9D922A1E}"/>
              </a:ext>
            </a:extLst>
          </p:cNvPr>
          <p:cNvSpPr/>
          <p:nvPr/>
        </p:nvSpPr>
        <p:spPr>
          <a:xfrm>
            <a:off x="866851" y="1986077"/>
            <a:ext cx="10554005" cy="733349"/>
          </a:xfrm>
          <a:prstGeom prst="rect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5D23590-A198-9289-66D4-28745C16C63A}"/>
              </a:ext>
            </a:extLst>
          </p:cNvPr>
          <p:cNvSpPr/>
          <p:nvPr/>
        </p:nvSpPr>
        <p:spPr>
          <a:xfrm>
            <a:off x="866851" y="2710282"/>
            <a:ext cx="10554005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7B79C86-AAC1-0C98-D6BA-49B196710320}"/>
              </a:ext>
            </a:extLst>
          </p:cNvPr>
          <p:cNvSpPr txBox="1"/>
          <p:nvPr/>
        </p:nvSpPr>
        <p:spPr>
          <a:xfrm>
            <a:off x="1171346" y="2214677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Nandani Raj</a:t>
            </a:r>
            <a:endParaRPr lang="en-US" sz="15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AC07652-7663-AB94-53B6-B69814CFCC7E}"/>
              </a:ext>
            </a:extLst>
          </p:cNvPr>
          <p:cNvSpPr txBox="1"/>
          <p:nvPr/>
        </p:nvSpPr>
        <p:spPr>
          <a:xfrm>
            <a:off x="4486046" y="2214677"/>
            <a:ext cx="6743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PPT, Project Report, Python Notebooks</a:t>
            </a:r>
            <a:endParaRPr lang="en-US" sz="13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2CBA24-703D-ED6C-5269-761E89B1A8E2}"/>
              </a:ext>
            </a:extLst>
          </p:cNvPr>
          <p:cNvSpPr/>
          <p:nvPr/>
        </p:nvSpPr>
        <p:spPr>
          <a:xfrm>
            <a:off x="866851" y="2719426"/>
            <a:ext cx="10554005" cy="73334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5A1B229-9A27-75BF-C696-71D2724A3752}"/>
              </a:ext>
            </a:extLst>
          </p:cNvPr>
          <p:cNvSpPr/>
          <p:nvPr/>
        </p:nvSpPr>
        <p:spPr>
          <a:xfrm>
            <a:off x="866851" y="3443630"/>
            <a:ext cx="10554005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54F57A1-C61E-2B0F-5E70-9C60FB54E71F}"/>
              </a:ext>
            </a:extLst>
          </p:cNvPr>
          <p:cNvSpPr txBox="1"/>
          <p:nvPr/>
        </p:nvSpPr>
        <p:spPr>
          <a:xfrm>
            <a:off x="1171346" y="2948026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Tulasi Teju Ponnam</a:t>
            </a:r>
            <a:endParaRPr lang="en-US" sz="15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896AD27-D4A2-B8D3-60B0-E96F2FC96C12}"/>
              </a:ext>
            </a:extLst>
          </p:cNvPr>
          <p:cNvSpPr txBox="1"/>
          <p:nvPr/>
        </p:nvSpPr>
        <p:spPr>
          <a:xfrm>
            <a:off x="4486046" y="2948026"/>
            <a:ext cx="6743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AutoML and Project Report</a:t>
            </a:r>
            <a:endParaRPr lang="en-US" sz="13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20655C07-E77B-9FB2-97A0-3CEE140C719D}"/>
              </a:ext>
            </a:extLst>
          </p:cNvPr>
          <p:cNvSpPr/>
          <p:nvPr/>
        </p:nvSpPr>
        <p:spPr>
          <a:xfrm>
            <a:off x="866851" y="3452774"/>
            <a:ext cx="10554005" cy="73334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4225B220-CF42-CAC0-A901-28905C099FCA}"/>
              </a:ext>
            </a:extLst>
          </p:cNvPr>
          <p:cNvSpPr/>
          <p:nvPr/>
        </p:nvSpPr>
        <p:spPr>
          <a:xfrm>
            <a:off x="866851" y="4176979"/>
            <a:ext cx="10554005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D1040F8-EB9B-D835-2A59-44D8894577BF}"/>
              </a:ext>
            </a:extLst>
          </p:cNvPr>
          <p:cNvSpPr txBox="1"/>
          <p:nvPr/>
        </p:nvSpPr>
        <p:spPr>
          <a:xfrm>
            <a:off x="1171346" y="3681374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Dhwani Pathak</a:t>
            </a:r>
            <a:endParaRPr lang="en-US" sz="15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052AA20D-EF12-E91C-C05A-C41673B292FA}"/>
              </a:ext>
            </a:extLst>
          </p:cNvPr>
          <p:cNvSpPr txBox="1"/>
          <p:nvPr/>
        </p:nvSpPr>
        <p:spPr>
          <a:xfrm>
            <a:off x="4486046" y="3681374"/>
            <a:ext cx="6743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BF8034D6-79DA-A215-38E4-B4713D4BBF0E}"/>
              </a:ext>
            </a:extLst>
          </p:cNvPr>
          <p:cNvSpPr/>
          <p:nvPr/>
        </p:nvSpPr>
        <p:spPr>
          <a:xfrm>
            <a:off x="866851" y="4186123"/>
            <a:ext cx="10554005" cy="73334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10F1A1A-F0CF-E093-E139-216E634DEC51}"/>
              </a:ext>
            </a:extLst>
          </p:cNvPr>
          <p:cNvSpPr/>
          <p:nvPr/>
        </p:nvSpPr>
        <p:spPr>
          <a:xfrm>
            <a:off x="866851" y="4910328"/>
            <a:ext cx="10554005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EBD306F-EDE1-9CF4-3781-C86DF2CAE462}"/>
              </a:ext>
            </a:extLst>
          </p:cNvPr>
          <p:cNvSpPr txBox="1"/>
          <p:nvPr/>
        </p:nvSpPr>
        <p:spPr>
          <a:xfrm>
            <a:off x="1171346" y="4414723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Sandeep Bhagavan Peesa</a:t>
            </a:r>
            <a:endParaRPr lang="en-US" sz="15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5CDEA6B-C046-1925-530B-366B895C362E}"/>
              </a:ext>
            </a:extLst>
          </p:cNvPr>
          <p:cNvSpPr txBox="1"/>
          <p:nvPr/>
        </p:nvSpPr>
        <p:spPr>
          <a:xfrm>
            <a:off x="4486046" y="4414723"/>
            <a:ext cx="6743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&amp; Descriptive Analysis</a:t>
            </a:r>
            <a:endParaRPr lang="en-US" sz="13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AC167A4B-1108-38A5-938F-48A872FDEFF3}"/>
              </a:ext>
            </a:extLst>
          </p:cNvPr>
          <p:cNvSpPr/>
          <p:nvPr/>
        </p:nvSpPr>
        <p:spPr>
          <a:xfrm>
            <a:off x="866851" y="4919472"/>
            <a:ext cx="10554005" cy="724205"/>
          </a:xfrm>
          <a:prstGeom prst="roundRect">
            <a:avLst>
              <a:gd name="adj" fmla="val 39872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6DAFC0C-946C-61C6-4F44-C2E152863C29}"/>
              </a:ext>
            </a:extLst>
          </p:cNvPr>
          <p:cNvSpPr txBox="1"/>
          <p:nvPr/>
        </p:nvSpPr>
        <p:spPr>
          <a:xfrm>
            <a:off x="1171346" y="5148072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 Lahari Kollipara</a:t>
            </a:r>
            <a:endParaRPr lang="en-US" sz="15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E8E31A5-54B1-30E1-EFE6-3F73BD534CA9}"/>
              </a:ext>
            </a:extLst>
          </p:cNvPr>
          <p:cNvSpPr txBox="1"/>
          <p:nvPr/>
        </p:nvSpPr>
        <p:spPr>
          <a:xfrm>
            <a:off x="4486046" y="5148072"/>
            <a:ext cx="6743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&amp; Descriptive Analysis</a:t>
            </a:r>
            <a:endParaRPr lang="en-US" sz="1300" dirty="0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42CB5FBD-4A15-246A-AE9B-4D0E4DF844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6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5505602"/>
            <a:ext cx="11106302" cy="8092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505602"/>
            <a:ext cx="57607" cy="809244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&amp; OBJECTIVES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1190549"/>
            <a:ext cx="11125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Foundation: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dataset has been rigorously audited, cleaned, and integrated. A stratified sampling approach was applied across facilities and time periods to ensure statistical representation while optimizing for model performance. 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2238451"/>
            <a:ext cx="3924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71500" y="2714854"/>
            <a:ext cx="286207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47902" y="2686507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Traffic Drivers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47902" y="2915107"/>
            <a:ext cx="9639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the key factors influencing vehicle volume, including weather, facility type, and temporal patterns.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846" y="3258007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47902" y="3228746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Toll Violations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47902" y="3457346"/>
            <a:ext cx="9639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Pinpoint where and when violations occur most frequently to target enforcement effectively.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9846" y="3800246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47902" y="3771900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Peak Demand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47902" y="4000500"/>
            <a:ext cx="9639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Determine the specific times, days, and seasons with the highest traffic loads.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86130" y="4343400"/>
            <a:ext cx="256946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47902" y="4315054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 Congestion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047902" y="4543654"/>
            <a:ext cx="9639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high-traffic conditions to predict and manage potential bottlenecks.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9846" y="4886554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47902" y="4858207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 Future Usage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1047902" y="5086807"/>
            <a:ext cx="9639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traffic volumes through 2027 to support long-term operational planning.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809244" y="5648249"/>
            <a:ext cx="106491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objectives are addressed using a combination of regression, classification, and time-series modeling to ensure both explanation and prediction of traffic behavior.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APPROACH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1238098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MODELING WORKFLOW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71500" y="1809598"/>
            <a:ext cx="381305" cy="381305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3095" y="185714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52551" y="2190902"/>
            <a:ext cx="19202" cy="571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1762049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AutoML Model Evaluation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2038198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Tested multiple algorithms objectively using H2O AutoML to establish performance baselines.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71500" y="2857500"/>
            <a:ext cx="381305" cy="381305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3095" y="2905049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52551" y="3238805"/>
            <a:ext cx="19202" cy="5715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2809951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Performer: Stacked Ensemble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3086100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Achieved highest predictive accuracy (R² ≈ 0.94) by combining multiple model strengths.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71500" y="3905402"/>
            <a:ext cx="381305" cy="381305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33095" y="395295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52551" y="4286707"/>
            <a:ext cx="19202" cy="5715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3857854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Interpretable: GBM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4134002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Boosting Machine selected to extract feature importance and explain drivers.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71500" y="4953305"/>
            <a:ext cx="381305" cy="381305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33095" y="500085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" y="4905756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Replication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" y="5181905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Replicated key models in standard Python libraries to ensure transparency and reproducibility.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144207" y="1714500"/>
            <a:ext cx="4496105" cy="382950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398" b="-398"/>
          <a:stretch/>
        </p:blipFill>
        <p:spPr>
          <a:xfrm>
            <a:off x="7144207" y="1714500"/>
            <a:ext cx="4476902" cy="576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29500" y="2000707"/>
            <a:ext cx="4114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Approach?</a:t>
            </a:r>
            <a:endParaRPr lang="en-US" sz="18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53274" y="2576779"/>
            <a:ext cx="237744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810805" y="2523744"/>
            <a:ext cx="3734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 Selection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810805" y="2781605"/>
            <a:ext cx="3696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AutoML prevents bias by testing diverse algorithms (GLM, DRF, GBM, Deep Learning).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77049" y="3386023"/>
            <a:ext cx="190195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810805" y="3333902"/>
            <a:ext cx="3734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810805" y="3590849"/>
            <a:ext cx="3696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Selecting GBM alongside the ensemble ensures we understand </a:t>
            </a:r>
            <a:r>
              <a:rPr lang="en-US" sz="100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predictions are made.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3274" y="4529023"/>
            <a:ext cx="237744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810805" y="4476902"/>
            <a:ext cx="3734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7810805" y="4733849"/>
            <a:ext cx="3696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replication proves the model logic is sound and independent of proprietary tools.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7144207" y="5715000"/>
            <a:ext cx="4515307" cy="8092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0"/>
          <p:cNvSpPr/>
          <p:nvPr/>
        </p:nvSpPr>
        <p:spPr>
          <a:xfrm>
            <a:off x="7144207" y="5715000"/>
            <a:ext cx="38405" cy="809244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334402" y="5810098"/>
            <a:ext cx="41724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"This approach ensures that model selection is objective, while still allowing business interpretation of results."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1244" y="1714500"/>
            <a:ext cx="1429207" cy="1429207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73345" y="2048256"/>
            <a:ext cx="16459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248156" y="3619195"/>
            <a:ext cx="969721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are the top factors driving traffic usage?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181198" y="514350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QUESTION 1 — TRAFFIC DRIVERS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5715000"/>
            <a:ext cx="3810305" cy="192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571854"/>
            <a:ext cx="5381244" cy="13331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571854"/>
            <a:ext cx="47549" cy="1333195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4286707"/>
            <a:ext cx="11087100" cy="1228954"/>
          </a:xfrm>
          <a:prstGeom prst="roundRect">
            <a:avLst>
              <a:gd name="adj" fmla="val 4614"/>
            </a:avLst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5667451"/>
            <a:ext cx="11106302" cy="761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5667451"/>
            <a:ext cx="57607" cy="761695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VARIABLES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1143000"/>
            <a:ext cx="5448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Dependent Variable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1714500"/>
            <a:ext cx="5067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Traffic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206654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aggregated vehicle count across all lanes and payment types at each facility. This represents the total demand signal the model must explain.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86500" y="1143000"/>
            <a:ext cx="5448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 Variables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7823" y="1623974"/>
            <a:ext cx="142646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667805" y="1591056"/>
            <a:ext cx="51627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(Facility)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67805" y="1819656"/>
            <a:ext cx="5600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structural capacity differences across bridges/tunnels.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344107" y="2195474"/>
            <a:ext cx="171907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67805" y="2162556"/>
            <a:ext cx="51627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(DayOfWeek)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667805" y="2391156"/>
            <a:ext cx="5162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weekly commuting and leisure cycles.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10274" y="2766974"/>
            <a:ext cx="237744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667805" y="2734056"/>
            <a:ext cx="51627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(TMAX, TAVG, TMIN, AWND, PRCP, SNOW)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667805" y="2962656"/>
            <a:ext cx="5734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environmental conditions that influence travel decisions.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10274" y="3338474"/>
            <a:ext cx="237744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667805" y="3305556"/>
            <a:ext cx="51627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(Passenger_Vol, Bus_Vol)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667805" y="3534156"/>
            <a:ext cx="5162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Multimodal demand indicators.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4533595"/>
            <a:ext cx="304495" cy="3044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29207" y="4496105"/>
            <a:ext cx="10020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LEAKAGE CONTROLS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429207" y="4800600"/>
            <a:ext cx="99825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1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Variables excluded: </a:t>
            </a:r>
            <a:r>
              <a:rPr lang="en-US" sz="1200" b="1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CASH, EZPASS, VIOLATION, Autos, Small_T, Large_T, Buses, STATION</a:t>
            </a:r>
            <a:r>
              <a:rPr lang="en-US" sz="1200" dirty="0">
                <a:solidFill>
                  <a:srgbClr val="7F1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These are components of the target variable and would artificially inflate model accuracy. 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809244" y="5810098"/>
            <a:ext cx="106491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variables were selected to capture external drivers of traffic rather than internal components, ensuring the model reflects real-world influencing factors.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SELECTION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1238098"/>
            <a:ext cx="5829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AutoML Performance Leaderboard (Top 6)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5" b="-25"/>
          <a:stretch/>
        </p:blipFill>
        <p:spPr>
          <a:xfrm>
            <a:off x="571500" y="1714500"/>
            <a:ext cx="6191402" cy="4288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1809598"/>
            <a:ext cx="3448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Name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095598" y="1809598"/>
            <a:ext cx="2477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RMSE (Lower is Better)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1500" y="2143354"/>
            <a:ext cx="6191402" cy="4855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619756"/>
            <a:ext cx="619140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1695" y="2266798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StackedEnsemble_AllModels_1 </a:t>
            </a: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ACCURACY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162702" y="2266798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3,948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1500" y="2619756"/>
            <a:ext cx="6229807" cy="485546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1695" y="2743200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GBM_2 </a:t>
            </a: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CHOSEN MODEL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162702" y="2743200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4,001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" y="3095244"/>
            <a:ext cx="6191402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571500" y="3571646"/>
            <a:ext cx="6191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61695" y="3219602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StackedEnsemble_BestOfFamily_1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162702" y="3219602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4,015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71500" y="3571646"/>
            <a:ext cx="6191402" cy="4855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9"/>
          <p:cNvSpPr/>
          <p:nvPr/>
        </p:nvSpPr>
        <p:spPr>
          <a:xfrm>
            <a:off x="571500" y="4048049"/>
            <a:ext cx="6191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61695" y="3696005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GBM_5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162702" y="3696005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4,053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71500" y="4048049"/>
            <a:ext cx="6191402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571500" y="4524451"/>
            <a:ext cx="6191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61695" y="4172407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DRF_1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162702" y="4172407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4,445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71500" y="4524451"/>
            <a:ext cx="6191402" cy="4855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7"/>
          <p:cNvSpPr/>
          <p:nvPr/>
        </p:nvSpPr>
        <p:spPr>
          <a:xfrm>
            <a:off x="571500" y="5000854"/>
            <a:ext cx="6191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1695" y="4647895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GLM_1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162702" y="4647895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18,426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7239305" y="1714500"/>
            <a:ext cx="4419295" cy="3323844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25400">
            <a:solidFill>
              <a:srgbClr val="00B0B9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7239305" y="1714500"/>
            <a:ext cx="4381805" cy="5715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7372807" y="1857146"/>
            <a:ext cx="4114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DECISION: GBM</a:t>
            </a:r>
            <a:endParaRPr lang="en-US" sz="16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52944" y="2572207"/>
            <a:ext cx="228600" cy="2286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905902" y="2523744"/>
            <a:ext cx="3543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Performance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7905902" y="2781605"/>
            <a:ext cx="35058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RMSE is only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1.3% higher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the complex ensemble model (4,001 vs 3,948), representing a negligible accuracy trade-off.</a:t>
            </a:r>
            <a:endParaRPr lang="en-US" sz="1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52944" y="3524098"/>
            <a:ext cx="228600" cy="2286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905902" y="3476549"/>
            <a:ext cx="3543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Interpretability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7905902" y="3733495"/>
            <a:ext cx="35058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Although the Stacked Ensemble achieved the lowest error, it operates as a black-box model, making it difficult to explain results. GBM provides transparency through feature importance while maintaining near-optimal performance.</a:t>
            </a:r>
            <a:endParaRPr lang="en-US" sz="12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7239305" y="5095951"/>
            <a:ext cx="4419295" cy="1238098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477049" y="5238598"/>
            <a:ext cx="40297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GBM was selected because it provides transparency through feature importance while maintaining near-optimal performance — critical for actionable business recommendations.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524305"/>
            <a:ext cx="3429000" cy="3333902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1805" y="1524305"/>
            <a:ext cx="3429000" cy="3333902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91195" y="1524305"/>
            <a:ext cx="3429000" cy="3333902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6" b="-16"/>
          <a:stretch/>
        </p:blipFill>
        <p:spPr>
          <a:xfrm>
            <a:off x="571500" y="5333695"/>
            <a:ext cx="11087100" cy="9528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PERFORMANCE</a:t>
            </a:r>
            <a:endParaRPr lang="en-US" sz="3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71500" y="1524305"/>
            <a:ext cx="3429000" cy="576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1695" y="1619402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800100" y="2762402"/>
            <a:ext cx="2971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 Score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724205" y="3238805"/>
            <a:ext cx="31245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 R² of 0.94 means the model explains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94%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traffic variation — most traffic behavior can be predicted using the selected variables.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4381805" y="1524305"/>
            <a:ext cx="3429000" cy="576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1619402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4,470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4610405" y="2762402"/>
            <a:ext cx="2971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RMSE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533595" y="3238805"/>
            <a:ext cx="31245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 average, predictions deviate by about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4,470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vehicles per day — a small margin relative to daily volumes of 40,000+. 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8191195" y="1524305"/>
            <a:ext cx="3429000" cy="576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382305" y="1619402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3,096</a:t>
            </a:r>
            <a:endParaRPr lang="en-US" sz="5400" dirty="0"/>
          </a:p>
        </p:txBody>
      </p:sp>
      <p:sp>
        <p:nvSpPr>
          <p:cNvPr id="21" name="Text 14"/>
          <p:cNvSpPr txBox="1"/>
          <p:nvPr/>
        </p:nvSpPr>
        <p:spPr>
          <a:xfrm>
            <a:off x="8419795" y="2762402"/>
            <a:ext cx="2971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8343900" y="3238805"/>
            <a:ext cx="31245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typical prediction error is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~3,096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vehicles, confirming consistent accuracy across both high and low traffic conditions. 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47318" y="5667451"/>
            <a:ext cx="200254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33195" y="5477256"/>
            <a:ext cx="10077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metrics confirm that the model is highly accurate and reliable. Results were validated in both AutoML and independent Python replication (R² = 0.94, RMSE = 4,624), confirming reproducibility.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429207"/>
            <a:ext cx="3448202" cy="41148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1805" y="1429207"/>
            <a:ext cx="3448202" cy="41148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91195" y="1429207"/>
            <a:ext cx="3448202" cy="41148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5715000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4" r="-24"/>
          <a:stretch/>
        </p:blipFill>
        <p:spPr>
          <a:xfrm>
            <a:off x="571500" y="1429207"/>
            <a:ext cx="3429000" cy="485546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l="-24" r="-24"/>
          <a:stretch/>
        </p:blipFill>
        <p:spPr>
          <a:xfrm>
            <a:off x="4381805" y="1429207"/>
            <a:ext cx="3429000" cy="485546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l="-24" r="-24"/>
          <a:stretch/>
        </p:blipFill>
        <p:spPr>
          <a:xfrm>
            <a:off x="8191195" y="1429207"/>
            <a:ext cx="3429000" cy="48554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VALIDATION</a:t>
            </a:r>
            <a:endParaRPr lang="en-US" sz="3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169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 vs Predicted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761695" y="2048256"/>
            <a:ext cx="3047695" cy="2476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24205" y="4619549"/>
            <a:ext cx="31245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Predictions </a:t>
            </a:r>
            <a:r>
              <a:rPr lang="en-US" sz="9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tightly align</a:t>
            </a: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actual values along the diagonal, confirming that the model performs consistently across both low and high traffic conditions. 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4572000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Distribution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4572000" y="2048256"/>
            <a:ext cx="3047695" cy="2476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533595" y="4619549"/>
            <a:ext cx="31245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Errors are </a:t>
            </a:r>
            <a:r>
              <a:rPr lang="en-US" sz="9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randomly distributed</a:t>
            </a: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centered at zero, confirming that the model does not systematically overestimate or underestimate traffic volume. 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838230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Generalization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 l="-1" r="-1"/>
          <a:stretch/>
        </p:blipFill>
        <p:spPr>
          <a:xfrm>
            <a:off x="8382305" y="2048256"/>
            <a:ext cx="3047695" cy="24761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343900" y="4619549"/>
            <a:ext cx="31245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convergence of training and validation performance indicates that the model </a:t>
            </a:r>
            <a:r>
              <a:rPr lang="en-US" sz="9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generalizes well</a:t>
            </a: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unseen data and is not overfitting. 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8505" y="6001207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90549" y="5905195"/>
            <a:ext cx="103162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three diagnostics confirm the model is robust, unbiased, and production-ready — results are consistent across AutoML and Python replication.</a:t>
            </a:r>
            <a:endParaRPr lang="en-US" sz="1300" dirty="0"/>
          </a:p>
        </p:txBody>
      </p:sp>
      <p:sp>
        <p:nvSpPr>
          <p:cNvPr id="25" name="Text 15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DRIVERS OF TRAFFIC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333195"/>
            <a:ext cx="6687007" cy="4781398"/>
          </a:xfrm>
          <a:prstGeom prst="roundRect">
            <a:avLst>
              <a:gd name="adj" fmla="val 6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1524305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GBM Variable Importance (%)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904695"/>
            <a:ext cx="6286500" cy="4000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19695" y="1333195"/>
            <a:ext cx="4038905" cy="2800807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25400">
            <a:solidFill>
              <a:srgbClr val="00B0B9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6" b="-16"/>
          <a:stretch/>
        </p:blipFill>
        <p:spPr>
          <a:xfrm>
            <a:off x="7619695" y="1333195"/>
            <a:ext cx="4000500" cy="476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79308" y="1447495"/>
            <a:ext cx="3365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Primary Driver 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810805" y="1462126"/>
            <a:ext cx="219456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810805" y="1952244"/>
            <a:ext cx="37344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(88.8%)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7810805" y="2371954"/>
            <a:ext cx="3696005" cy="15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dominance (88.8%) indicates that infrastructure location is the primary determinant of traffic volume. This confirms that congestion and demand are structurally driven rather than purely behavioral — the physical capacity and role of each bridge or tunnel shapes its traffic far more than any external factor.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7619695" y="4286707"/>
            <a:ext cx="4038905" cy="2133295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25400">
            <a:solidFill>
              <a:srgbClr val="0A162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7619695" y="4286707"/>
            <a:ext cx="4000500" cy="476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150047" y="4401007"/>
            <a:ext cx="3395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Supporting Factors 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10805" y="4414723"/>
            <a:ext cx="190195" cy="19019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810805" y="4905756"/>
            <a:ext cx="36960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of Week (2.3%) drives weekly commuting and leisure cycles. Temperature (Max/Avg) impacts seasonal travel decisions. Wind speed (AWND) affects bridge operations and driver behavior. Together, these modulate daily fluctuations around the facility baseline.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10591495" y="6238951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3495751" cy="4209898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33195"/>
            <a:ext cx="57607" cy="4209898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805" y="1333195"/>
            <a:ext cx="3495751" cy="4209898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1805" y="1333195"/>
            <a:ext cx="57607" cy="4209898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195" y="1333195"/>
            <a:ext cx="3495751" cy="4209898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91195" y="1333195"/>
            <a:ext cx="57607" cy="4209898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5715000"/>
            <a:ext cx="11087100" cy="7141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5715000"/>
            <a:ext cx="38405" cy="714146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237744"/>
            <a:ext cx="8763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RECOMMENDATIONS</a:t>
            </a:r>
            <a:endParaRPr lang="en-US" sz="3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7105" y="1638605"/>
            <a:ext cx="3429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4730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Facility-Based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24205" y="3047695"/>
            <a:ext cx="31245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Allocate resources proportional to each facility's traffic share.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7 alone drives the largest volume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prioritize capacity investment there. This enables resource allocation to be optimized based on actual demand rather than uniform distribution. 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848149" y="1638605"/>
            <a:ext cx="400507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24121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Day-Based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Staffing 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533595" y="3047695"/>
            <a:ext cx="31245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Plan for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 and Saturday surges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(avg ~42,400 vehicles). Optimize mid-week staffing to reduce costs on lower-demand Tuesdays (~39,800). Aligning staffing to demand patterns reduces labor costs while maintaining service levels. 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2500" y="1638605"/>
            <a:ext cx="5715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34426" y="2286000"/>
            <a:ext cx="29434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Weather-Responsive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43900" y="3238805"/>
            <a:ext cx="31245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Integrate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temperature and wind forecasts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into daily operational planning. Extreme weather events require proactive lane and staffing adjustments. Data shows weather variables account for ~5% of traffic variation — enough to shift thousands of vehicles per day. 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24205" y="5857646"/>
            <a:ext cx="10744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recommendations transform model insights into measurable operational improvements — shifting from reactive to predictive resource management.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591495" y="6572707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1244" y="1714500"/>
            <a:ext cx="1429207" cy="1429207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24551" y="1952244"/>
            <a:ext cx="15435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248156" y="3619195"/>
            <a:ext cx="969721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many toll violators exist and where?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181198" y="514350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QUESTION 2 — VIOLATIONS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5715000"/>
            <a:ext cx="3810305" cy="192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714500"/>
            <a:ext cx="34290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1805" y="1714500"/>
            <a:ext cx="34290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91195" y="1714500"/>
            <a:ext cx="34290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571500" y="5143500"/>
            <a:ext cx="11087100" cy="12380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— KEY RESULTS</a:t>
            </a:r>
            <a:endParaRPr lang="en-US" sz="3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71500" y="1714500"/>
            <a:ext cx="3429000" cy="576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6598" y="2095805"/>
            <a:ext cx="3238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8,023,030</a:t>
            </a:r>
            <a:endParaRPr lang="en-US" sz="4200" dirty="0"/>
          </a:p>
        </p:txBody>
      </p:sp>
      <p:sp>
        <p:nvSpPr>
          <p:cNvPr id="13" name="Text 8"/>
          <p:cNvSpPr txBox="1"/>
          <p:nvPr/>
        </p:nvSpPr>
        <p:spPr>
          <a:xfrm>
            <a:off x="800100" y="3047695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Toll Violations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19302" y="3619195"/>
            <a:ext cx="29343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all facilities from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2013–2024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representing a significant and sustained revenue leakage challenge. 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4381805" y="1714500"/>
            <a:ext cx="3429000" cy="576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2095805"/>
            <a:ext cx="3048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46.8%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4627778" y="3047695"/>
            <a:ext cx="293613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Concentrated in 2 Facilities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629607" y="3619195"/>
            <a:ext cx="29343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 9: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1,909,032 (23.8%) +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 7: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1,846,933 (23.0%) — nearly half of all violations occur at just two locations. 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8191195" y="1714500"/>
            <a:ext cx="3429000" cy="576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382305" y="2095805"/>
            <a:ext cx="3048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1.25M</a:t>
            </a:r>
            <a:endParaRPr lang="en-US" sz="5400" dirty="0"/>
          </a:p>
        </p:txBody>
      </p:sp>
      <p:sp>
        <p:nvSpPr>
          <p:cNvPr id="21" name="Text 14"/>
          <p:cNvSpPr txBox="1"/>
          <p:nvPr/>
        </p:nvSpPr>
        <p:spPr>
          <a:xfrm>
            <a:off x="8419795" y="3047695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Year (2020)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438998" y="3619195"/>
            <a:ext cx="29343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peaked at ~1.25M in 2020 before declining post-2021, suggesting existing measures are partially effective.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3602" y="5619902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33195" y="5333695"/>
            <a:ext cx="100776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concentration of violations suggests that enforcement strategies should be location-specific rather than system-wide. Targeting just two facilities addresses nearly half of all violations with minimal resource expansion.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— VISUAL ANALYSIS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571500" y="1429207"/>
            <a:ext cx="3429000" cy="4855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by Year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31248" b="-31248"/>
          <a:stretch/>
        </p:blipFill>
        <p:spPr>
          <a:xfrm>
            <a:off x="761695" y="2048256"/>
            <a:ext cx="3047695" cy="2476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4205" y="4714646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Steady increase from 2013 to peak of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~1.25M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2020, with decline after 2021 — suggesting partial effectiveness of enforcement measures. 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381805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4381805" y="1429207"/>
            <a:ext cx="3429000" cy="48554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0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by Month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31248" b="-31248"/>
          <a:stretch/>
        </p:blipFill>
        <p:spPr>
          <a:xfrm>
            <a:off x="4572000" y="2048256"/>
            <a:ext cx="3047695" cy="2476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33595" y="4714646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seasonal increase in violations aligns with higher traffic volumes, indicating that violations are partly driven by increased demand during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May–August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8191195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8191195" y="1429207"/>
            <a:ext cx="3429000" cy="48554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38230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by Facility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 t="-31248" b="-31248"/>
          <a:stretch/>
        </p:blipFill>
        <p:spPr>
          <a:xfrm>
            <a:off x="8382305" y="2048256"/>
            <a:ext cx="3047695" cy="24761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343900" y="4714646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 7 &amp; 9 account for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~47%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all violations — a concentrated problem requiring targeted intervention. 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571500" y="5810098"/>
            <a:ext cx="11048695" cy="952805"/>
          </a:xfrm>
          <a:prstGeom prst="roundRect">
            <a:avLst>
              <a:gd name="adj" fmla="val 7678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771754" y="6172200"/>
            <a:ext cx="171907" cy="2286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095451" y="5810098"/>
            <a:ext cx="97923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Insight: The seasonal increase in violations aligns with higher traffic volumes, confirming that violations are demand-driven. Enforcement should be targeted at Facilities 7 &amp; 9 during summer peaks for maximum impact.</a:t>
            </a:r>
            <a:endParaRPr lang="en-US" sz="1100" dirty="0"/>
          </a:p>
        </p:txBody>
      </p:sp>
      <p:sp>
        <p:nvSpPr>
          <p:cNvPr id="25" name="Text 15"/>
          <p:cNvSpPr txBox="1"/>
          <p:nvPr/>
        </p:nvSpPr>
        <p:spPr>
          <a:xfrm>
            <a:off x="11306556" y="6200546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190549"/>
            <a:ext cx="11125505" cy="8577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190549"/>
            <a:ext cx="75895" cy="857707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5715000"/>
            <a:ext cx="11106302" cy="761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5715000"/>
            <a:ext cx="57607" cy="761695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1500" y="237744"/>
            <a:ext cx="11239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— BUSINESS INSIGHT</a:t>
            </a:r>
            <a:endParaRPr lang="en-US" sz="31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1420978"/>
            <a:ext cx="8630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"This is a concentrated problem, not system-wide."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2243023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8098" y="2238451"/>
            <a:ext cx="104589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Impact Focus: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Two facilities (FAC 7 &amp; 9) account for nearly half of all 8 million violations. The concentration of violations suggests that enforcement strategies should be location-specific rather than system-wide, enabling high-impact intervention with minimal resource expansion. 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737921" y="3386023"/>
            <a:ext cx="237744" cy="2670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8098" y="3381451"/>
            <a:ext cx="104589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Predictability: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Violations peak in summer months (May–August) creating a predictable seasonal window for targeted intervention. This seasonal pattern aligns with higher traffic volumes, confirming that violations are partly demand-driven. 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4205" y="4529023"/>
            <a:ext cx="267005" cy="2670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8098" y="4524451"/>
            <a:ext cx="104589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Structural Concentration: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post-2020 decline suggests existing measures are working — but the concentration at specific facilities remains unchanged, indicating structural causes at these locations that require dedicated solutions. 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5810098"/>
            <a:ext cx="105540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concentration allows for targeted intervention, significantly improving enforcement efficiency. Addressing two facilities and one seasonal window captures nearly half the problem.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591495" y="6524244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80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180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19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9119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5857646"/>
            <a:ext cx="11087100" cy="7141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5857646"/>
            <a:ext cx="38405" cy="714146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237744"/>
            <a:ext cx="8763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 RECOMMENDATIONS</a:t>
            </a:r>
            <a:endParaRPr lang="en-US" sz="3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57400" y="1638605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4730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Targeted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Enforcement 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24205" y="3047695"/>
            <a:ext cx="31245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Concentrate enforcement resources at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Facilities 7 &amp; 9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which generate 47% of all violations. Deploy automated detection systems at these locations first. This location-specific approach maximizes enforcement ROI by addressing the highest-impact areas. 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67705" y="1638605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24121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Summer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Surge Plan 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533595" y="3047695"/>
            <a:ext cx="31245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Scale up enforcement staffing and automated toll monitoring during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May–August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when violations peak. The seasonal alignment with traffic demand means violations are predictable and preventable with proactive resource deployment. 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77095" y="1638605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34426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Live Monitoring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43900" y="3238805"/>
            <a:ext cx="31245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Build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violation dashboards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facility-level and seasonal drill-down to enable data-driven allocation of enforcement resources. Continuous monitoring transforms reactive enforcement into a proactive, intelligence-led operation. 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24205" y="6001207"/>
            <a:ext cx="10744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enables high-impact enforcement with minimal resource expansion — targeting two facilities and one seasonal window captures nearly half of all violations.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591495" y="6620256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1244" y="1714500"/>
            <a:ext cx="1429207" cy="1429207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5715000"/>
            <a:ext cx="3810305" cy="192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75758" y="2048256"/>
            <a:ext cx="14401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238098" y="3619195"/>
            <a:ext cx="9715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is traffic highest?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3181198" y="514350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QUESTION 3 — PEAK DEMAND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9715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DEMAND — PATTERNS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524305"/>
            <a:ext cx="3448202" cy="3590849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1524305"/>
            <a:ext cx="3448202" cy="57607"/>
          </a:xfrm>
          <a:prstGeom prst="roundRect">
            <a:avLst>
              <a:gd name="adj" fmla="val 70157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1833372" y="1733702"/>
            <a:ext cx="333756" cy="3813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1345" y="2381098"/>
            <a:ext cx="317022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July &amp;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August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800100" y="333390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Months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24205" y="3762756"/>
            <a:ext cx="31245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Average daily traffic exceeds </a:t>
            </a: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44,000 vehicles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during summer, driven by increased leisure travel and favorable weather conditions identified in the regression model. 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81805" y="1524305"/>
            <a:ext cx="3448202" cy="3590849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81805" y="1524305"/>
            <a:ext cx="3448202" cy="57607"/>
          </a:xfrm>
          <a:prstGeom prst="roundRect">
            <a:avLst>
              <a:gd name="adj" fmla="val 70157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19902" y="1733702"/>
            <a:ext cx="381305" cy="3813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10735" y="2381098"/>
            <a:ext cx="317022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 &amp;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4610405" y="333390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Days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533595" y="3762756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Fri avg: </a:t>
            </a: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42,486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| Sat avg: </a:t>
            </a: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42,347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overlap of end-of-week commuting and weekend leisure travel creates consistent peak conditions. 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191195" y="1524305"/>
            <a:ext cx="3448202" cy="3590849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91195" y="1524305"/>
            <a:ext cx="3448202" cy="57607"/>
          </a:xfrm>
          <a:prstGeom prst="roundRect">
            <a:avLst>
              <a:gd name="adj" fmla="val 70157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7" r="-17"/>
          <a:stretch/>
        </p:blipFill>
        <p:spPr>
          <a:xfrm>
            <a:off x="9453982" y="1733702"/>
            <a:ext cx="333756" cy="3813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87207" y="2381098"/>
            <a:ext cx="32388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95,214</a:t>
            </a:r>
            <a:endParaRPr lang="en-US" sz="4200" dirty="0"/>
          </a:p>
        </p:txBody>
      </p:sp>
      <p:sp>
        <p:nvSpPr>
          <p:cNvPr id="23" name="Text 17"/>
          <p:cNvSpPr txBox="1"/>
          <p:nvPr/>
        </p:nvSpPr>
        <p:spPr>
          <a:xfrm>
            <a:off x="8419795" y="333390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 Daily Traffic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343900" y="3762756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7, Saturday, Sept 24, 2022 — all top 5 busiest days occurred at Facility 7, confirming infrastructure as the binding capacity constraint.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71500" y="5333695"/>
            <a:ext cx="11048695" cy="952805"/>
          </a:xfrm>
          <a:prstGeom prst="roundRect">
            <a:avLst>
              <a:gd name="adj" fmla="val 15355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1949" y="5672023"/>
            <a:ext cx="267005" cy="2670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29207" y="5524805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demand aligns with both seasonal travel behavior and facility capacity constraints identified in earlier analysis. These patterns are predictable and recurring, enabling proactive operational planning.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591495" y="6572707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82872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DEMAND — VISUALS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571500" y="1429207"/>
            <a:ext cx="3429000" cy="4855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by Month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31248" b="-31248"/>
          <a:stretch/>
        </p:blipFill>
        <p:spPr>
          <a:xfrm>
            <a:off x="761695" y="2048256"/>
            <a:ext cx="3047695" cy="2476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4205" y="4667098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Summer months consistently exceed 44,000 daily avg, driven by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leisure travel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favorable weather conditions. 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381805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4381805" y="1429207"/>
            <a:ext cx="3429000" cy="48554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0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by Day of Week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31248" b="-31248"/>
          <a:stretch/>
        </p:blipFill>
        <p:spPr>
          <a:xfrm>
            <a:off x="4572000" y="2048256"/>
            <a:ext cx="3047695" cy="2476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33595" y="4667098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Friday &amp; Saturday lead — the combination of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end-of-week commuting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weekend leisure creates predictable peak congestion. 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8191195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8191195" y="1429207"/>
            <a:ext cx="3429000" cy="48554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38230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Weekday vs Weekend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 t="-31248" b="-31248"/>
          <a:stretch/>
        </p:blipFill>
        <p:spPr>
          <a:xfrm>
            <a:off x="8382305" y="2048256"/>
            <a:ext cx="3047695" cy="24761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343900" y="4667098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Weekend traffic slightly higher —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leisure travel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a significant contributor, not just commuting patterns. 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571500" y="5810098"/>
            <a:ext cx="11048695" cy="761695"/>
          </a:xfrm>
          <a:prstGeom prst="roundRect">
            <a:avLst>
              <a:gd name="adj" fmla="val 12005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771754" y="6077102"/>
            <a:ext cx="171907" cy="2286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095451" y="5891479"/>
            <a:ext cx="96012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Insight: The combination of weekend travel and seasonal demand creates predictable peak congestion periods. Passenger vehicles dominate traffic variation (correlation: 0.98), making them the primary focus for congestion management strategies.</a:t>
            </a:r>
            <a:endParaRPr lang="en-US" sz="1100" dirty="0"/>
          </a:p>
        </p:txBody>
      </p:sp>
      <p:sp>
        <p:nvSpPr>
          <p:cNvPr id="25" name="Text 15"/>
          <p:cNvSpPr txBox="1"/>
          <p:nvPr/>
        </p:nvSpPr>
        <p:spPr>
          <a:xfrm>
            <a:off x="10877702" y="6096305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5333695"/>
            <a:ext cx="11106302" cy="952805"/>
          </a:xfrm>
          <a:prstGeom prst="roundRect">
            <a:avLst>
              <a:gd name="adj" fmla="val 3839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333695"/>
            <a:ext cx="57607" cy="952805"/>
          </a:xfrm>
          <a:prstGeom prst="roundRect">
            <a:avLst>
              <a:gd name="adj" fmla="val 63492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237744"/>
            <a:ext cx="8763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DEMAND — INSIGHT</a:t>
            </a:r>
            <a:endParaRPr lang="en-US" sz="3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76502" y="1143000"/>
            <a:ext cx="96396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"Traffic peaks are predictable and recurring."</a:t>
            </a:r>
            <a:endParaRPr lang="en-US" sz="2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75" r="-775"/>
          <a:stretch/>
        </p:blipFill>
        <p:spPr>
          <a:xfrm>
            <a:off x="700430" y="1954987"/>
            <a:ext cx="314554" cy="2478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8098" y="1904695"/>
            <a:ext cx="103638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Weekend vs. Weekday: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Weekend average (42,057) slightly exceeds weekday average (41,111), indicating that leisure and discretionary travel is a significant contributor to total bridge and tunnel usage — traffic is not driven exclusively by commuting patterns. 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606" r="-606"/>
          <a:stretch/>
        </p:blipFill>
        <p:spPr>
          <a:xfrm>
            <a:off x="747979" y="3050438"/>
            <a:ext cx="219456" cy="2478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8098" y="3000146"/>
            <a:ext cx="103638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Day-of-Week Variance: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Friday is the highest single day (avg 42,486) while Tuesday is lowest (39,817) — a 6.7% swing that staffing plans should reflect. This day-of-week pattern was confirmed as the second most important predictor in the regression model. 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4145890"/>
            <a:ext cx="247802" cy="2478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8098" y="4095598"/>
            <a:ext cx="103638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Consistency:</a:t>
            </a: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Summer peaks (June–August) are consistent year over year, creating a reliable planning window for capacity management. Passenger vehicles dominate traffic variation (correlation: 0.98), making them the primary focus for congestion management strategies. 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913486" y="5477256"/>
            <a:ext cx="1036563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Predictability is an operational advantage — these patterns enable proactive rather than reactive resource allocation, with clear seasonal and weekly planning windows.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80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180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19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9119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5857646"/>
            <a:ext cx="11087100" cy="7141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5857646"/>
            <a:ext cx="38405" cy="714146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237744"/>
            <a:ext cx="8763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 RECOMMENDATIONS</a:t>
            </a:r>
            <a:endParaRPr lang="en-US" sz="3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44" r="-44"/>
          <a:stretch/>
        </p:blipFill>
        <p:spPr>
          <a:xfrm>
            <a:off x="2029054" y="1638605"/>
            <a:ext cx="514807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4730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Capacity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19302" y="3047695"/>
            <a:ext cx="29343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Schedule major maintenance and construction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outside the June–August peak window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Pre-position additional lane capacity and traffic management resources before summer. This enables proactive congestion management rather than reactive response. 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10098" y="1638605"/>
            <a:ext cx="5715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24121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Dynamic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Staffing 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629607" y="3047695"/>
            <a:ext cx="29343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Increase toll operations and traffic management staffing on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Fridays and Saturdays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Reduce Tuesday/Wednesday staffing to optimize labor costs. Aligning staffing to the 6.7% day-of-week traffic swing reduces costs while maintaining service levels. 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706356" y="1638605"/>
            <a:ext cx="400507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34426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Weekend Surge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Readiness 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438998" y="3047695"/>
            <a:ext cx="29343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weekend-specific traffic management protocols. Passenger vehicles dominate traffic variation, making personal vehicle management the priority for congestion mitigation during peak leisure travel periods.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24205" y="5924398"/>
            <a:ext cx="10744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recommendations leverage the predictability identified in the data — transforming recurring patterns into structured operational protocols.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591495" y="6620256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1244" y="1714500"/>
            <a:ext cx="1429207" cy="1429207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5715000"/>
            <a:ext cx="3810305" cy="192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24551" y="2124151"/>
            <a:ext cx="15435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248156" y="3619195"/>
            <a:ext cx="969721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congestion shifting across facilities?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276502" y="5143500"/>
            <a:ext cx="9639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QUESTION 4 — CONGESTION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238098"/>
            <a:ext cx="5581498" cy="42867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238098"/>
            <a:ext cx="57607" cy="4286707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6500" y="1238098"/>
            <a:ext cx="5391302" cy="42867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6286500" y="1238098"/>
            <a:ext cx="57607" cy="4286707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5715000"/>
            <a:ext cx="11106302" cy="76169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5715000"/>
            <a:ext cx="57607" cy="761695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" y="237744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MODEL SETUP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857707" y="1429207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Configuration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256" y="1910182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8098" y="1857146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38098" y="2104949"/>
            <a:ext cx="46488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Predict High Traffic days (top 25% of TOTAL volume) to identify when congestion occurs. </a:t>
            </a: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was used instead of regression because the objective is to identify when congestion occurs, not just how much traffic exists.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148279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8098" y="3095244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3343046"/>
            <a:ext cx="46488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High_Traffic = 1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(top quartile), </a:t>
            </a: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 = 0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High traffic was defined as the top 25% of TOTAL values, representing days when facilities operate near capacity. 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4196182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8098" y="4143146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238098" y="4390949"/>
            <a:ext cx="50758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Classifier (Python) / Stacked Ensemble (AutoML).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5256" y="4957877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38098" y="4905756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Split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238098" y="5152644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80/20 train-test split, random state 42.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572707" y="1429207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Selection</a:t>
            </a:r>
            <a:endParaRPr lang="en-US" sz="18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0256" y="1957730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53098" y="1904695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Included Predictors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6953098" y="2190902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Infrastructure: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Facility (FAC)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Temporal: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DayOfWeek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Weather: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TMAX, TAVG, TMIN, AWND, PRCP, SNOW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Volume: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Passenger_Volume, Bus_Volume 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20256" y="3624682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3571646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11D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Excluded (Leakage Control)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3857854"/>
            <a:ext cx="4553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 that directly sum to total traffic were removed: CASH, EZPASS, VIOLATION, Autos, Small_T, Large_T, Buses, STATION.</a:t>
            </a:r>
            <a:endParaRPr lang="en-US" sz="11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86054" y="5952744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333195" y="5857646"/>
            <a:ext cx="101727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Classification threshold optimized at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 F1 score (~0.397)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balance precision and recall — ensuring the model catches most high-traffic days while minimizing false alarms for operational alerting. 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524305"/>
            <a:ext cx="3429000" cy="3333902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1805" y="1524305"/>
            <a:ext cx="3429000" cy="3333902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91195" y="1524305"/>
            <a:ext cx="3429000" cy="3333902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5143500"/>
            <a:ext cx="11087100" cy="1143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PERFORMANCE</a:t>
            </a:r>
            <a:endParaRPr lang="en-US" sz="3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71500" y="1524305"/>
            <a:ext cx="3429000" cy="576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1695" y="1714500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0.98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800100" y="2762402"/>
            <a:ext cx="2971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 Score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19302" y="3238805"/>
            <a:ext cx="293431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Near-perfect discrimination between high and normal traffic conditions. The model achieves approximately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accuracy in identifying congestion conditions.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4381805" y="1524305"/>
            <a:ext cx="3429000" cy="576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1714500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92.7%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4610405" y="2762402"/>
            <a:ext cx="2971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629607" y="3238805"/>
            <a:ext cx="29343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Correctly classifies congestion status for 93 out of 100 days. This indicates that congestion patterns are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predictable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rather than random. 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8191195" y="1524305"/>
            <a:ext cx="3429000" cy="576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382305" y="1714500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0.91</a:t>
            </a:r>
            <a:endParaRPr lang="en-US" sz="5400" dirty="0"/>
          </a:p>
        </p:txBody>
      </p:sp>
      <p:sp>
        <p:nvSpPr>
          <p:cNvPr id="21" name="Text 14"/>
          <p:cNvSpPr txBox="1"/>
          <p:nvPr/>
        </p:nvSpPr>
        <p:spPr>
          <a:xfrm>
            <a:off x="8419795" y="276240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 (High Traffic)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438998" y="3238805"/>
            <a:ext cx="293431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Catches 91% of all high-traffic days — minimal missed alerts. The model correctly identifies both normal and high traffic conditions with minimal misclassification.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47318" y="5524805"/>
            <a:ext cx="200254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33195" y="5315407"/>
            <a:ext cx="10077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predicts congestion with very high accuracy, confirming that high-traffic conditions are structurally driven by identifiable factors — not random events. This makes the model suitable for operational deployment as a real-time alerting system.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11144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MODEL — VALIDATION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38758" y="2514600"/>
            <a:ext cx="9144" cy="185714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47902" y="2506370"/>
            <a:ext cx="2762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665122" y="3069641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TN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3048610" y="3069641"/>
            <a:ext cx="2194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FP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571500" y="5905195"/>
            <a:ext cx="11048695" cy="476402"/>
          </a:xfrm>
          <a:prstGeom prst="roundRect">
            <a:avLst>
              <a:gd name="adj" fmla="val 30710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6001207"/>
            <a:ext cx="228600" cy="2286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095451" y="5952744"/>
            <a:ext cx="100776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confirms the model is highly accurate (91.9%) with low false negative rate — ready for deployment as an operational congestion alert system.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10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32BE86-ECA5-5AC0-266D-C05CB6831D2B}"/>
              </a:ext>
            </a:extLst>
          </p:cNvPr>
          <p:cNvGrpSpPr/>
          <p:nvPr/>
        </p:nvGrpSpPr>
        <p:grpSpPr>
          <a:xfrm>
            <a:off x="6296628" y="1360304"/>
            <a:ext cx="4989465" cy="4401007"/>
            <a:chOff x="8259718" y="1429207"/>
            <a:chExt cx="3467404" cy="4401007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6F1A925-C1F9-053D-B91B-ED24C2453D60}"/>
                </a:ext>
              </a:extLst>
            </p:cNvPr>
            <p:cNvGrpSpPr/>
            <p:nvPr/>
          </p:nvGrpSpPr>
          <p:grpSpPr>
            <a:xfrm>
              <a:off x="8259718" y="1429207"/>
              <a:ext cx="3467404" cy="4401007"/>
              <a:chOff x="4362603" y="1429207"/>
              <a:chExt cx="3467404" cy="4401007"/>
            </a:xfrm>
          </p:grpSpPr>
          <p:sp>
            <p:nvSpPr>
              <p:cNvPr id="33" name="Shape 29"/>
              <p:cNvSpPr/>
              <p:nvPr/>
            </p:nvSpPr>
            <p:spPr>
              <a:xfrm>
                <a:off x="4381805" y="1429207"/>
                <a:ext cx="3448202" cy="4401007"/>
              </a:xfrm>
              <a:prstGeom prst="roundRect">
                <a:avLst>
                  <a:gd name="adj" fmla="val 1172"/>
                </a:avLst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16200000" algn="bl" rotWithShape="0">
                  <a:srgbClr val="000000">
                    <a:alpha val="10000"/>
                  </a:srgbClr>
                </a:outerShdw>
              </a:effectLst>
            </p:spPr>
          </p:sp>
          <p:pic>
            <p:nvPicPr>
              <p:cNvPr id="34" name="Image 2" descr="preencoded.png"/>
              <p:cNvPicPr>
                <a:picLocks noChangeAspect="1"/>
              </p:cNvPicPr>
              <p:nvPr/>
            </p:nvPicPr>
            <p:blipFill>
              <a:blip r:embed="rId5"/>
              <a:srcRect l="-24" r="-24"/>
              <a:stretch/>
            </p:blipFill>
            <p:spPr>
              <a:xfrm>
                <a:off x="4381805" y="1429207"/>
                <a:ext cx="3429000" cy="485546"/>
              </a:xfrm>
              <a:prstGeom prst="rect">
                <a:avLst/>
              </a:prstGeom>
            </p:spPr>
          </p:pic>
          <p:pic>
            <p:nvPicPr>
              <p:cNvPr id="36" name="Image 3" descr="preencoded.png"/>
              <p:cNvPicPr>
                <a:picLocks noChangeAspect="1"/>
              </p:cNvPicPr>
              <p:nvPr/>
            </p:nvPicPr>
            <p:blipFill>
              <a:blip r:embed="rId6"/>
              <a:srcRect t="-31248" b="-31248"/>
              <a:stretch/>
            </p:blipFill>
            <p:spPr>
              <a:xfrm>
                <a:off x="4507992" y="1528646"/>
                <a:ext cx="3047695" cy="2476195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44BEEC7B-D36F-7CB4-0548-2B60580E6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62603" y="1914753"/>
                <a:ext cx="3467404" cy="2707991"/>
              </a:xfrm>
              <a:prstGeom prst="rect">
                <a:avLst/>
              </a:prstGeom>
            </p:spPr>
          </p:pic>
        </p:grpSp>
        <p:sp>
          <p:nvSpPr>
            <p:cNvPr id="35" name="Text 30"/>
            <p:cNvSpPr txBox="1"/>
            <p:nvPr/>
          </p:nvSpPr>
          <p:spPr>
            <a:xfrm>
              <a:off x="8457285" y="1580569"/>
              <a:ext cx="316291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A162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Feature Importance</a:t>
              </a:r>
              <a:endParaRPr lang="en-US" sz="1300" dirty="0"/>
            </a:p>
          </p:txBody>
        </p:sp>
        <p:sp>
          <p:nvSpPr>
            <p:cNvPr id="37" name="Text 31"/>
            <p:cNvSpPr txBox="1"/>
            <p:nvPr/>
          </p:nvSpPr>
          <p:spPr>
            <a:xfrm>
              <a:off x="8405107" y="4628692"/>
              <a:ext cx="3124505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F172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Facility remains the dominant factor, confirming that congestion is location-driven. </a:t>
              </a:r>
              <a:r>
                <a:rPr lang="en-US" sz="1000" b="1" dirty="0">
                  <a:solidFill>
                    <a:srgbClr val="00B0B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FAC_7 and FAC_9</a:t>
              </a:r>
              <a:r>
                <a:rPr lang="en-US" sz="1000" dirty="0">
                  <a:solidFill>
                    <a:srgbClr val="0F172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dominate the prediction of high-traffic conditions. </a:t>
              </a:r>
              <a:endParaRPr lang="en-US" sz="10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9E57BB4-B608-F223-BD71-20A7E9D0A552}"/>
              </a:ext>
            </a:extLst>
          </p:cNvPr>
          <p:cNvGrpSpPr/>
          <p:nvPr/>
        </p:nvGrpSpPr>
        <p:grpSpPr>
          <a:xfrm>
            <a:off x="226161" y="1331338"/>
            <a:ext cx="5686410" cy="4458938"/>
            <a:chOff x="992731" y="1304010"/>
            <a:chExt cx="4048505" cy="440100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B0C73BF-DA85-6CFD-33BC-80EEF811ADD8}"/>
                </a:ext>
              </a:extLst>
            </p:cNvPr>
            <p:cNvGrpSpPr/>
            <p:nvPr/>
          </p:nvGrpSpPr>
          <p:grpSpPr>
            <a:xfrm>
              <a:off x="992731" y="1304010"/>
              <a:ext cx="4048505" cy="4401007"/>
              <a:chOff x="-28803" y="1429207"/>
              <a:chExt cx="4048505" cy="4401007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571500" y="1429207"/>
                <a:ext cx="3448202" cy="4401007"/>
              </a:xfrm>
              <a:prstGeom prst="roundRect">
                <a:avLst>
                  <a:gd name="adj" fmla="val 1172"/>
                </a:avLst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16200000" algn="bl" rotWithShape="0">
                  <a:srgbClr val="000000">
                    <a:alpha val="10000"/>
                  </a:srgbClr>
                </a:outerShdw>
              </a:effectLst>
            </p:spPr>
          </p:sp>
          <p:pic>
            <p:nvPicPr>
              <p:cNvPr id="8" name="Image 1" descr="preencoded.png"/>
              <p:cNvPicPr>
                <a:picLocks noChangeAspect="1"/>
              </p:cNvPicPr>
              <p:nvPr/>
            </p:nvPicPr>
            <p:blipFill>
              <a:blip r:embed="rId5"/>
              <a:srcRect l="-24" r="-24"/>
              <a:stretch/>
            </p:blipFill>
            <p:spPr>
              <a:xfrm>
                <a:off x="571500" y="1429207"/>
                <a:ext cx="3429000" cy="485546"/>
              </a:xfrm>
              <a:prstGeom prst="rect">
                <a:avLst/>
              </a:prstGeom>
            </p:spPr>
          </p:pic>
          <p:sp>
            <p:nvSpPr>
              <p:cNvPr id="10" name="Text 6"/>
              <p:cNvSpPr txBox="1"/>
              <p:nvPr/>
            </p:nvSpPr>
            <p:spPr>
              <a:xfrm>
                <a:off x="705002" y="2048256"/>
                <a:ext cx="3162910" cy="1335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0F172A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PREDICTED CLASS</a:t>
                </a:r>
                <a:endParaRPr lang="en-US" sz="800" dirty="0"/>
              </a:p>
            </p:txBody>
          </p:sp>
          <p:sp>
            <p:nvSpPr>
              <p:cNvPr id="12" name="Text 8"/>
              <p:cNvSpPr txBox="1"/>
              <p:nvPr/>
            </p:nvSpPr>
            <p:spPr>
              <a:xfrm rot="16200000">
                <a:off x="244374" y="2412872"/>
                <a:ext cx="1311707" cy="185806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0F172A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ACTUAL CLASS</a:t>
                </a:r>
                <a:endParaRPr lang="en-US" sz="900" dirty="0"/>
              </a:p>
            </p:txBody>
          </p:sp>
          <p:sp>
            <p:nvSpPr>
              <p:cNvPr id="14" name="Text 10"/>
              <p:cNvSpPr txBox="1"/>
              <p:nvPr/>
            </p:nvSpPr>
            <p:spPr>
              <a:xfrm>
                <a:off x="1472184" y="2295144"/>
                <a:ext cx="734263" cy="1435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0F172A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Normal (0)</a:t>
                </a:r>
                <a:endParaRPr lang="en-US" sz="900" dirty="0"/>
              </a:p>
            </p:txBody>
          </p:sp>
          <p:sp>
            <p:nvSpPr>
              <p:cNvPr id="15" name="Text 11"/>
              <p:cNvSpPr txBox="1"/>
              <p:nvPr/>
            </p:nvSpPr>
            <p:spPr>
              <a:xfrm>
                <a:off x="2946197" y="2295144"/>
                <a:ext cx="533095" cy="1435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0F172A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High (1)</a:t>
                </a:r>
                <a:endParaRPr lang="en-US" sz="900" dirty="0"/>
              </a:p>
            </p:txBody>
          </p:sp>
          <p:sp>
            <p:nvSpPr>
              <p:cNvPr id="16" name="Shape 12"/>
              <p:cNvSpPr/>
              <p:nvPr/>
            </p:nvSpPr>
            <p:spPr>
              <a:xfrm>
                <a:off x="1047902" y="2514600"/>
                <a:ext cx="1380744" cy="933602"/>
              </a:xfrm>
              <a:prstGeom prst="rect">
                <a:avLst/>
              </a:prstGeom>
              <a:solidFill>
                <a:srgbClr val="0F766E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" name="Text 13"/>
              <p:cNvSpPr txBox="1"/>
              <p:nvPr/>
            </p:nvSpPr>
            <p:spPr>
              <a:xfrm>
                <a:off x="1516990" y="2755087"/>
                <a:ext cx="523951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49</a:t>
                </a:r>
                <a:r>
                  <a:rPr lang="en-US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7</a:t>
                </a:r>
                <a:endParaRPr lang="en-US" sz="1800" dirty="0"/>
              </a:p>
            </p:txBody>
          </p:sp>
          <p:sp>
            <p:nvSpPr>
              <p:cNvPr id="19" name="Shape 15"/>
              <p:cNvSpPr/>
              <p:nvPr/>
            </p:nvSpPr>
            <p:spPr>
              <a:xfrm>
                <a:off x="2428646" y="2514600"/>
                <a:ext cx="1380744" cy="933602"/>
              </a:xfrm>
              <a:prstGeom prst="rect">
                <a:avLst/>
              </a:prstGeom>
              <a:solidFill>
                <a:srgbClr val="F87171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" name="Text 16"/>
              <p:cNvSpPr txBox="1"/>
              <p:nvPr/>
            </p:nvSpPr>
            <p:spPr>
              <a:xfrm>
                <a:off x="2979115" y="2755087"/>
                <a:ext cx="362102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r>
                  <a:rPr lang="en-US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6</a:t>
                </a:r>
                <a:endParaRPr lang="en-US" sz="1800" dirty="0"/>
              </a:p>
            </p:txBody>
          </p:sp>
          <p:sp>
            <p:nvSpPr>
              <p:cNvPr id="22" name="Shape 18"/>
              <p:cNvSpPr/>
              <p:nvPr/>
            </p:nvSpPr>
            <p:spPr>
              <a:xfrm>
                <a:off x="1047902" y="3443630"/>
                <a:ext cx="1380744" cy="933602"/>
              </a:xfrm>
              <a:prstGeom prst="rect">
                <a:avLst/>
              </a:prstGeom>
              <a:solidFill>
                <a:srgbClr val="F87171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3" name="Text 19"/>
              <p:cNvSpPr txBox="1"/>
              <p:nvPr/>
            </p:nvSpPr>
            <p:spPr>
              <a:xfrm>
                <a:off x="1595628" y="3684118"/>
                <a:ext cx="362102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28</a:t>
                </a:r>
                <a:endParaRPr lang="en-US" sz="1800" dirty="0"/>
              </a:p>
            </p:txBody>
          </p:sp>
          <p:sp>
            <p:nvSpPr>
              <p:cNvPr id="24" name="Text 20"/>
              <p:cNvSpPr txBox="1"/>
              <p:nvPr/>
            </p:nvSpPr>
            <p:spPr>
              <a:xfrm>
                <a:off x="1662379" y="3997757"/>
                <a:ext cx="228600" cy="1335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800" dirty="0">
                    <a:solidFill>
                      <a:srgbClr val="FFFFFF">
                        <a:alpha val="90000"/>
                      </a:srgb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FN</a:t>
                </a:r>
                <a:endParaRPr lang="en-US" sz="800" dirty="0"/>
              </a:p>
            </p:txBody>
          </p:sp>
          <p:sp>
            <p:nvSpPr>
              <p:cNvPr id="25" name="Shape 21"/>
              <p:cNvSpPr/>
              <p:nvPr/>
            </p:nvSpPr>
            <p:spPr>
              <a:xfrm>
                <a:off x="2428646" y="3443630"/>
                <a:ext cx="1380744" cy="933602"/>
              </a:xfrm>
              <a:prstGeom prst="rect">
                <a:avLst/>
              </a:prstGeom>
              <a:solidFill>
                <a:srgbClr val="0F766E"/>
              </a:solidFill>
              <a:ln w="127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6" name="Text 22"/>
              <p:cNvSpPr txBox="1"/>
              <p:nvPr/>
            </p:nvSpPr>
            <p:spPr>
              <a:xfrm>
                <a:off x="2916936" y="3684118"/>
                <a:ext cx="486461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144</a:t>
                </a:r>
                <a:endParaRPr lang="en-US" sz="1800" dirty="0"/>
              </a:p>
            </p:txBody>
          </p:sp>
          <p:sp>
            <p:nvSpPr>
              <p:cNvPr id="27" name="Text 23"/>
              <p:cNvSpPr txBox="1"/>
              <p:nvPr/>
            </p:nvSpPr>
            <p:spPr>
              <a:xfrm>
                <a:off x="3051353" y="3997757"/>
                <a:ext cx="219456" cy="1335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800" dirty="0">
                    <a:solidFill>
                      <a:srgbClr val="FFFFFF">
                        <a:alpha val="90000"/>
                      </a:srgb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TP</a:t>
                </a:r>
                <a:endParaRPr lang="en-US" sz="800" dirty="0"/>
              </a:p>
            </p:txBody>
          </p:sp>
          <p:sp>
            <p:nvSpPr>
              <p:cNvPr id="32" name="Text 28"/>
              <p:cNvSpPr txBox="1"/>
              <p:nvPr/>
            </p:nvSpPr>
            <p:spPr>
              <a:xfrm>
                <a:off x="724205" y="4591202"/>
                <a:ext cx="3124505" cy="10003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F172A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The model correctly identifies both normal and high traffic conditions with minimal misclassification. Only </a:t>
                </a:r>
                <a:r>
                  <a:rPr lang="en-US" sz="1000" b="1" dirty="0">
                    <a:solidFill>
                      <a:srgbClr val="F87171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28</a:t>
                </a:r>
                <a:r>
                  <a:rPr lang="en-US" sz="1000" dirty="0">
                    <a:solidFill>
                      <a:srgbClr val="0F172A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high-traffic days missed out of 695 total samples — strong operational reliability. </a:t>
                </a:r>
                <a:endParaRPr lang="en-US" sz="1000" dirty="0"/>
              </a:p>
            </p:txBody>
          </p:sp>
        </p:grpSp>
        <p:sp>
          <p:nvSpPr>
            <p:cNvPr id="9" name="Text 5"/>
            <p:cNvSpPr txBox="1"/>
            <p:nvPr/>
          </p:nvSpPr>
          <p:spPr>
            <a:xfrm>
              <a:off x="1779422" y="1452067"/>
              <a:ext cx="316291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A162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Confusion Matrix</a:t>
              </a:r>
              <a:endParaRPr lang="en-US" sz="13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B1CAE36-BC5F-DDC4-70DF-E4DB4C04C7BD}"/>
              </a:ext>
            </a:extLst>
          </p:cNvPr>
          <p:cNvGrpSpPr/>
          <p:nvPr/>
        </p:nvGrpSpPr>
        <p:grpSpPr>
          <a:xfrm>
            <a:off x="3258568" y="4414524"/>
            <a:ext cx="838505" cy="193314"/>
            <a:chOff x="1804338" y="4316507"/>
            <a:chExt cx="838505" cy="193314"/>
          </a:xfrm>
        </p:grpSpPr>
        <p:sp>
          <p:nvSpPr>
            <p:cNvPr id="28" name="Shape 24"/>
            <p:cNvSpPr/>
            <p:nvPr/>
          </p:nvSpPr>
          <p:spPr>
            <a:xfrm>
              <a:off x="1847088" y="4433926"/>
              <a:ext cx="75895" cy="75895"/>
            </a:xfrm>
            <a:prstGeom prst="ellipse">
              <a:avLst/>
            </a:prstGeom>
            <a:solidFill>
              <a:srgbClr val="0F766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0" name="Shape 26"/>
            <p:cNvSpPr/>
            <p:nvPr/>
          </p:nvSpPr>
          <p:spPr>
            <a:xfrm>
              <a:off x="2399386" y="4433926"/>
              <a:ext cx="75895" cy="75895"/>
            </a:xfrm>
            <a:prstGeom prst="ellipse">
              <a:avLst/>
            </a:prstGeom>
            <a:solidFill>
              <a:srgbClr val="F8717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B9AC01E-1751-A34D-E9B5-CEDF40EEC169}"/>
                </a:ext>
              </a:extLst>
            </p:cNvPr>
            <p:cNvGrpSpPr/>
            <p:nvPr/>
          </p:nvGrpSpPr>
          <p:grpSpPr>
            <a:xfrm>
              <a:off x="1804338" y="4316507"/>
              <a:ext cx="838505" cy="105156"/>
              <a:chOff x="1971446" y="4419295"/>
              <a:chExt cx="838505" cy="105156"/>
            </a:xfrm>
          </p:grpSpPr>
          <p:sp>
            <p:nvSpPr>
              <p:cNvPr id="29" name="Text 25"/>
              <p:cNvSpPr txBox="1"/>
              <p:nvPr/>
            </p:nvSpPr>
            <p:spPr>
              <a:xfrm>
                <a:off x="1971446" y="4419295"/>
                <a:ext cx="362102" cy="1051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800" dirty="0">
                    <a:solidFill>
                      <a:srgbClr val="0F172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Correct</a:t>
                </a:r>
                <a:endParaRPr lang="en-US" sz="800" dirty="0"/>
              </a:p>
            </p:txBody>
          </p:sp>
          <p:sp>
            <p:nvSpPr>
              <p:cNvPr id="31" name="Text 27"/>
              <p:cNvSpPr txBox="1"/>
              <p:nvPr/>
            </p:nvSpPr>
            <p:spPr>
              <a:xfrm>
                <a:off x="2523744" y="4419295"/>
                <a:ext cx="286207" cy="1051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800" dirty="0">
                    <a:solidFill>
                      <a:srgbClr val="0F172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Error</a:t>
                </a:r>
                <a:endParaRPr lang="en-US" sz="800" dirty="0"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805" y="5572354"/>
            <a:ext cx="10344607" cy="9528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52805" y="5572354"/>
            <a:ext cx="57607" cy="952805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237744"/>
            <a:ext cx="7810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— INSIGHT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1238098" y="1238098"/>
            <a:ext cx="9715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"Congestion is location-driven, not random."</a:t>
            </a:r>
            <a:endParaRPr lang="en-US" sz="2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014070" y="2000707"/>
            <a:ext cx="2569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24305" y="1952244"/>
            <a:ext cx="9829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Shifting Risk Profile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2257654"/>
            <a:ext cx="97923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7 is gaining traffic share (+2.94%) while Facility 2 is declining (-0.71%). Instead of reducing traffic, congestion appears to redistribute across facilities — indicating behavioral adaptation rather than demand reduction.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1057046" y="3191256"/>
            <a:ext cx="1719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24305" y="3143707"/>
            <a:ext cx="9829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Determinants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3448202"/>
            <a:ext cx="9792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Facility-level dummies (FAC_7, FAC_9) are the top classification features. Facility remains the dominant factor, confirming that congestion is location-driven and structurally determined by infrastructure capacity.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8700" y="4381805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24305" y="4334256"/>
            <a:ext cx="9829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Predictability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24305" y="4638751"/>
            <a:ext cx="9792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achieves AUC of 0.98 with only 66 missed high-traffic days — proving congestion follows predictable, location-based patterns that can be anticipated and managed proactively.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238098" y="5715000"/>
            <a:ext cx="9792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pricing does not eliminate congestion — it shifts it. Understanding this redistribution pattern is essential for designing effective facility-level management strategies.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591495" y="6572707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80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180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19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9119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5952744"/>
            <a:ext cx="9944100" cy="7141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5952744"/>
            <a:ext cx="38405" cy="714146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237744"/>
            <a:ext cx="8763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 RECOMMENDATIONS</a:t>
            </a:r>
            <a:endParaRPr lang="en-US" sz="3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2143354" y="1638605"/>
            <a:ext cx="286207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4730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Monitor High-Risk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Facilities 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19302" y="3047695"/>
            <a:ext cx="29343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Establish model-driven watchlists for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Facilities 7 and 9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Prioritize incident response teams, lane control, and real-time monitoring at these locations. Congestion is structurally concentrated — monitoring must match this concentration. 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5896051" y="1638605"/>
            <a:ext cx="400507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24121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Predictive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Alerts 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629607" y="3047695"/>
            <a:ext cx="29343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Deploy the classification model as a daily operational tool. At the optimized threshold (F1 ≈ 0.40), it catches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91% of high-traffic days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only 6.3% false alarm rate. This enables dynamic pricing strategies to prevent congestion concentration. 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706356" y="1638605"/>
            <a:ext cx="400507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34426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Dynamic Capacity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 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438998" y="3047695"/>
            <a:ext cx="29343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 variable staffing and lane strategies triggered by model predictions. Coordinate with </a:t>
            </a: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forecasts and event calendars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Because congestion shifts rather than disappears, management must be adaptive across the facility network. 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19302" y="6096305"/>
            <a:ext cx="9411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recommendations transform congestion from a reactive problem into a predictable, manageable operational condition — leveraging the model's 98% discrimination accuracy.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496398" y="6572707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1244" y="1714500"/>
            <a:ext cx="1429207" cy="1429207"/>
          </a:xfrm>
          <a:prstGeom prst="ellipse">
            <a:avLst/>
          </a:prstGeom>
          <a:solidFill>
            <a:srgbClr val="00B0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5715000"/>
            <a:ext cx="3810305" cy="192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24551" y="2095805"/>
            <a:ext cx="15435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213055" y="3619195"/>
            <a:ext cx="1176558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will future traffic look like?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276502" y="5143500"/>
            <a:ext cx="9639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QUESTION 5 — FORECASTING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85646"/>
            <a:ext cx="5333695" cy="400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85646"/>
            <a:ext cx="5333695" cy="400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5477256"/>
            <a:ext cx="11106302" cy="905256"/>
          </a:xfrm>
          <a:prstGeom prst="roundRect">
            <a:avLst>
              <a:gd name="adj" fmla="val 8506"/>
            </a:avLst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5477256"/>
            <a:ext cx="57607" cy="905256"/>
          </a:xfrm>
          <a:prstGeom prst="roundRect">
            <a:avLst>
              <a:gd name="adj" fmla="val 133668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571500" y="1285646"/>
            <a:ext cx="57607" cy="40005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286500" y="1285646"/>
            <a:ext cx="57607" cy="40005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237744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SERIES FORECASTING MODEL</a:t>
            </a:r>
            <a:endParaRPr lang="en-US" sz="3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1481328"/>
            <a:ext cx="333756" cy="2670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1476756"/>
            <a:ext cx="4401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Architecture</a:t>
            </a:r>
            <a:endParaRPr lang="en-US" sz="1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l="-11" r="-11"/>
          <a:stretch/>
        </p:blipFill>
        <p:spPr>
          <a:xfrm>
            <a:off x="857707" y="1952244"/>
            <a:ext cx="4762195" cy="82844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09498" y="2066544"/>
            <a:ext cx="4572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Time-series modeling was used because traffic data is sequential and influenced by historical patterns — future volume depends on past trends and seasonal cycles.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857707" y="2971800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SARIMA (Seasonal ARIMA) 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857707" y="3299155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Parameters: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Order (1,1,1) × Seasonal (1,1,1,12) 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857707" y="3550615"/>
            <a:ext cx="4839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SARIMA model was selected to capture both trend and seasonality in the data.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857707" y="4007815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Granularity: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Monthly aggregated traffic by facility 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57707" y="4336085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24 months (through 2027) 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57707" y="4663440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Validation:</a:t>
            </a: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AutoTS also tested for benchmarking 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1481328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000646" y="1476756"/>
            <a:ext cx="4401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SARIMA?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6801307" y="1952244"/>
            <a:ext cx="4610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both long-term trend and 12-month seasonal cycles that match observed traffic patterns.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6801307" y="2600554"/>
            <a:ext cx="4610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Interpretable parameters enable operational teams to understand what drives the forecast.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801307" y="3247949"/>
            <a:ext cx="4610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track record in transportation demand forecasting and infrastructure planning.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801307" y="3895344"/>
            <a:ext cx="4610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7 was chosen as the primary forecast target due to its high traffic volume and operational importance.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572707" y="2000707"/>
            <a:ext cx="133502" cy="152705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572707" y="2648102"/>
            <a:ext cx="133502" cy="152705"/>
          </a:xfrm>
          <a:prstGeom prst="rect">
            <a:avLst/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572707" y="3295498"/>
            <a:ext cx="133502" cy="152705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572707" y="3943807"/>
            <a:ext cx="133502" cy="1527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14400" y="5619902"/>
            <a:ext cx="10363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Facility-level forecasts enable location-specific planning — Facility 7 alone forecasted at </a:t>
            </a: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~252,000–258,000</a:t>
            </a:r>
            <a:r>
              <a:rPr lang="en-US" sz="14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vehicles per month in mid-2025, consistent with its dominant role identified in earlier analysis. 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37744"/>
            <a:ext cx="11144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FORECAST — VISUALS</a:t>
            </a:r>
            <a:endParaRPr lang="en-US" sz="3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571500" y="1429207"/>
            <a:ext cx="3429000" cy="4855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7 Monthly Forecast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23447" b="-23447"/>
          <a:stretch/>
        </p:blipFill>
        <p:spPr>
          <a:xfrm>
            <a:off x="761695" y="2048256"/>
            <a:ext cx="3047695" cy="22384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4205" y="4476902"/>
            <a:ext cx="31245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Seasonal pattern persists with summer peaks and winter troughs. The forecast shows continued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demand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recurring seasonal cycles, confirming predictable long-term behavior. 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381805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4381805" y="1429207"/>
            <a:ext cx="3429000" cy="48554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0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Cross-Facility Snapshot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23447" b="-23447"/>
          <a:stretch/>
        </p:blipFill>
        <p:spPr>
          <a:xfrm>
            <a:off x="4572000" y="2048256"/>
            <a:ext cx="3047695" cy="2238451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33595" y="4476902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Facility 7 dominates at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2× the volume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the next facility, reinforcing its role as the primary capacity constraint in the network. 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8191195" y="1429207"/>
            <a:ext cx="3448202" cy="420989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 l="-24" r="-24"/>
          <a:stretch/>
        </p:blipFill>
        <p:spPr>
          <a:xfrm>
            <a:off x="8191195" y="1429207"/>
            <a:ext cx="3429000" cy="48554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382305" y="1543507"/>
            <a:ext cx="3162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Trajectory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 t="-23447" b="-23447"/>
          <a:stretch/>
        </p:blipFill>
        <p:spPr>
          <a:xfrm>
            <a:off x="8382305" y="2048256"/>
            <a:ext cx="3047695" cy="2238451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343900" y="4476902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Flat growth curve confirms </a:t>
            </a:r>
            <a:r>
              <a:rPr lang="en-US" sz="10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stabilization</a:t>
            </a: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not expansion — supporting an optimization-focused investment strategy over new capacity construction. 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571500" y="5810098"/>
            <a:ext cx="11048695" cy="761695"/>
          </a:xfrm>
          <a:prstGeom prst="roundRect">
            <a:avLst>
              <a:gd name="adj" fmla="val 12005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3407" y="6077102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095451" y="5991149"/>
            <a:ext cx="103638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forecast shows continued growth with recurring seasonal peaks, indicating stable long-term demand. Traffic stabilizes post-2025 with no explosive growth — enabling confident long-term planning.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10591495" y="6620256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5143500"/>
            <a:ext cx="11106302" cy="11905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5143500"/>
            <a:ext cx="57607" cy="1190549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" y="237744"/>
            <a:ext cx="9715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 — INSIGHT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1276502" y="1190549"/>
            <a:ext cx="104013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"Traffic stabilizes post-2025 — no explosive growth."</a:t>
            </a:r>
            <a:endParaRPr lang="en-US" sz="2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2" y="2052828"/>
            <a:ext cx="267005" cy="2670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33195" y="2000707"/>
            <a:ext cx="10363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Monthly forecasts for Facility 7 range from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~231K to ~267K vehicles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stable seasonal band with no upward breakout trend. The forecast shows continued growth with recurring seasonal peaks, indicating stable long-term demand rather than accelerating expansion. 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833018" y="3100730"/>
            <a:ext cx="237744" cy="2670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33195" y="3047695"/>
            <a:ext cx="10363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Seasonal patterns (summer peaks, winter troughs) persist consistently across the forecast horizon, enabling predictable resource planning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12–24 months ahead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This confirms that historical patterns remain valid for forward-looking operational decisions. 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2221" y="4147718"/>
            <a:ext cx="200254" cy="2670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33195" y="4095598"/>
            <a:ext cx="10363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Facility 7 continues as the dominant volume center at </a:t>
            </a: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~252K/month</a:t>
            </a: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roughly double the next-largest facility. This concentration reinforces the infrastructure-driven demand structure identified in the regression and classification models. 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952805" y="5286146"/>
            <a:ext cx="10363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Stabilization is an operational advantage: it means optimization and efficiency investments will have a longer payback period than new capacity construction. The organization can plan with confidence using these forecasts.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0591495" y="638159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3495751" cy="44961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33195"/>
            <a:ext cx="57607" cy="4496105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805" y="1333195"/>
            <a:ext cx="3495751" cy="44961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1805" y="1333195"/>
            <a:ext cx="57607" cy="4496105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195" y="1333195"/>
            <a:ext cx="3495751" cy="44961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91195" y="1333195"/>
            <a:ext cx="57607" cy="4496105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6001207"/>
            <a:ext cx="11087100" cy="57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6001207"/>
            <a:ext cx="38405" cy="571500"/>
          </a:xfrm>
          <a:prstGeom prst="rect">
            <a:avLst/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237744"/>
            <a:ext cx="8763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 RECOMMENDATIONS</a:t>
            </a:r>
            <a:endParaRPr lang="en-US" sz="3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57400" y="1638605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4730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Optimize,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Expand 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19302" y="3047695"/>
            <a:ext cx="2934310" cy="180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traffic stabilizing post-2025, prioritize throughput and reliability improvements over major new capacity investments. Focus capital on </a:t>
            </a: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efficiency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at existing facilities. Stabilization means optimization investments will have a longer payback period than new construction. 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7705" y="1638605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24121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Forecast-Driven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629607" y="3047695"/>
            <a:ext cx="29343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Integrate </a:t>
            </a: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12–24 month SARIMA forecasts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into annual budgeting, maintenance scheduling, and staffing plans. Update models quarterly with new data for rolling accuracy. Time-series forecasting transforms reactive planning into evidence-based, forward-looking resource management. 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77095" y="1638605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34426" y="2286000"/>
            <a:ext cx="29434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Scenario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Readiness 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438998" y="3047695"/>
            <a:ext cx="29343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Stress-test operational plans against higher/lower growth scenarios and weather anomaly bands. Build </a:t>
            </a: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contingency protocols</a:t>
            </a: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forecast deviations beyond ±10%. The stable forecast baseline provides confidence, but prepared contingencies ensure resilience. 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819302" y="6086246"/>
            <a:ext cx="10554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recommendations leverage the predictability confirmed by both SARIMA and AutoTS models — enabling long-term planning grounded in validated forecasts rather than assumptions.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0591495" y="6572707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00B0B9"/>
          </a:solidFill>
          <a:ln w="12700">
            <a:solidFill>
              <a:srgbClr val="00B0B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80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180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195" y="1333195"/>
            <a:ext cx="3495751" cy="4401007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91195" y="1333195"/>
            <a:ext cx="57607" cy="4401007"/>
          </a:xfrm>
          <a:prstGeom prst="roundRect">
            <a:avLst>
              <a:gd name="adj" fmla="val 6920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001207"/>
            <a:ext cx="12191695" cy="5715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" y="237744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IMPACT — FROM INSIGHT TO ACTION</a:t>
            </a:r>
            <a:endParaRPr lang="en-US" sz="2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rcRect t="-384" b="-384"/>
          <a:stretch/>
        </p:blipFill>
        <p:spPr>
          <a:xfrm>
            <a:off x="571500" y="809244"/>
            <a:ext cx="952805" cy="38405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15007" y="1657807"/>
            <a:ext cx="3429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5002" y="2286000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05002" y="2667305"/>
            <a:ext cx="3162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Facility-Driven Planning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71754" y="3095244"/>
            <a:ext cx="3029407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explains 88.8% of traffic variation — making infrastructure the primary planning lever. Deploy predictive congestion alerts (AUC 0.98) for proactive management. Align staffing to Friday/Saturday surges and summer peaks. This enables proactive congestion management rather than reactive response.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952744" y="1657807"/>
            <a:ext cx="286207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15307" y="2286000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515307" y="2667305"/>
            <a:ext cx="3162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Violations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581144" y="3095244"/>
            <a:ext cx="3029407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8M+ toll violations with 47% concentrated at just 2 facilities (FAC 7 &amp; 9). Focus enforcement on summer months (May–Aug) when violations peak with traffic demand. Build live violation dashboards for real-time, intelligence-led enforcement allocation. This enables high-impact enforcement with minimal resource expansion.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77095" y="1657807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24698" y="2286000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324698" y="2667305"/>
            <a:ext cx="3162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Models in Production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1449" y="3095244"/>
            <a:ext cx="3029407" cy="15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SARIMA for 12–24 month demand forecasting with validated seasonal accuracy. Deploy classification model for daily congestion alerts. Traffic stabilizing post-2025 — invest in optimization over expansion. Data-driven decisions replace assumptions across all facility operations.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33095" y="6096305"/>
            <a:ext cx="11125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analysis demonstrates that traffic behavior is predictable, structured, and driven by identifiable factors — enabling data-driven operational planning across the Port Authority network.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10591495" y="6572707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81244" y="1143000"/>
            <a:ext cx="1466698" cy="1466698"/>
          </a:xfrm>
          <a:prstGeom prst="ellipse">
            <a:avLst/>
          </a:prstGeom>
          <a:solidFill>
            <a:srgbClr val="00B0B9">
              <a:alpha val="10000"/>
            </a:srgbClr>
          </a:solidFill>
          <a:ln w="25400">
            <a:solidFill>
              <a:srgbClr val="00B0B9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408" b="-408"/>
          <a:stretch/>
        </p:blipFill>
        <p:spPr>
          <a:xfrm>
            <a:off x="5143500" y="3666744"/>
            <a:ext cx="1904695" cy="384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10098" y="1548079"/>
            <a:ext cx="571500" cy="5715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238098" y="2857500"/>
            <a:ext cx="9715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0" name="Text 4"/>
          <p:cNvSpPr txBox="1"/>
          <p:nvPr/>
        </p:nvSpPr>
        <p:spPr>
          <a:xfrm>
            <a:off x="1276502" y="3952951"/>
            <a:ext cx="963960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"This analysis demonstrates that traffic behavior is </a:t>
            </a:r>
            <a:r>
              <a:rPr lang="en-US" sz="2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predictable</a:t>
            </a: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</a:t>
            </a: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driven by identifiable factors, enabling </a:t>
            </a:r>
            <a:r>
              <a:rPr lang="en-US" sz="2400" b="1" dirty="0">
                <a:solidFill>
                  <a:srgbClr val="00B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operational planning</a:t>
            </a: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the Port Authority network." </a:t>
            </a:r>
            <a:endParaRPr lang="en-US" sz="2400" dirty="0"/>
          </a:p>
        </p:txBody>
      </p:sp>
      <p:sp>
        <p:nvSpPr>
          <p:cNvPr id="11" name="Text 5"/>
          <p:cNvSpPr txBox="1"/>
          <p:nvPr/>
        </p:nvSpPr>
        <p:spPr>
          <a:xfrm>
            <a:off x="10591495" y="6381598"/>
            <a:ext cx="1028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3898</Words>
  <Application>Microsoft Office PowerPoint</Application>
  <PresentationFormat>Widescreen</PresentationFormat>
  <Paragraphs>406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Courier New</vt:lpstr>
      <vt:lpstr>Inter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Nandani Raj</cp:lastModifiedBy>
  <cp:revision>4</cp:revision>
  <dcterms:created xsi:type="dcterms:W3CDTF">2026-03-31T04:17:44Z</dcterms:created>
  <dcterms:modified xsi:type="dcterms:W3CDTF">2026-03-31T05:32:51Z</dcterms:modified>
</cp:coreProperties>
</file>