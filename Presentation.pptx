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60" r:id="rId5"/>
    <p:sldId id="261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72" y="-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70074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1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2.png"/><Relationship Id="rId7" Type="http://schemas.openxmlformats.org/officeDocument/2006/relationships/image" Target="../media/image23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7.png"/><Relationship Id="rId5" Type="http://schemas.openxmlformats.org/officeDocument/2006/relationships/image" Target="../media/image22.png"/><Relationship Id="rId10" Type="http://schemas.openxmlformats.org/officeDocument/2006/relationships/image" Target="../media/image26.png"/><Relationship Id="rId4" Type="http://schemas.openxmlformats.org/officeDocument/2006/relationships/image" Target="../media/image21.png"/><Relationship Id="rId9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3" Type="http://schemas.openxmlformats.org/officeDocument/2006/relationships/image" Target="../media/image28.png"/><Relationship Id="rId7" Type="http://schemas.openxmlformats.org/officeDocument/2006/relationships/image" Target="../media/image16.png"/><Relationship Id="rId12" Type="http://schemas.openxmlformats.org/officeDocument/2006/relationships/image" Target="../media/image3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34.png"/><Relationship Id="rId5" Type="http://schemas.openxmlformats.org/officeDocument/2006/relationships/image" Target="../media/image30.png"/><Relationship Id="rId10" Type="http://schemas.openxmlformats.org/officeDocument/2006/relationships/image" Target="../media/image33.png"/><Relationship Id="rId4" Type="http://schemas.openxmlformats.org/officeDocument/2006/relationships/image" Target="../media/image29.png"/><Relationship Id="rId9" Type="http://schemas.openxmlformats.org/officeDocument/2006/relationships/image" Target="../media/image32.png"/><Relationship Id="rId1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3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3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10" Type="http://schemas.openxmlformats.org/officeDocument/2006/relationships/image" Target="../media/image49.png"/><Relationship Id="rId4" Type="http://schemas.openxmlformats.org/officeDocument/2006/relationships/image" Target="../media/image44.png"/><Relationship Id="rId9" Type="http://schemas.openxmlformats.org/officeDocument/2006/relationships/image" Target="../media/image4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3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1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11" Type="http://schemas.openxmlformats.org/officeDocument/2006/relationships/image" Target="../media/image11.png"/><Relationship Id="rId5" Type="http://schemas.openxmlformats.org/officeDocument/2006/relationships/image" Target="../media/image57.png"/><Relationship Id="rId10" Type="http://schemas.openxmlformats.org/officeDocument/2006/relationships/image" Target="../media/image62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13" Type="http://schemas.openxmlformats.org/officeDocument/2006/relationships/image" Target="../media/image69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12" Type="http://schemas.openxmlformats.org/officeDocument/2006/relationships/image" Target="../media/image4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5.png"/><Relationship Id="rId11" Type="http://schemas.openxmlformats.org/officeDocument/2006/relationships/image" Target="../media/image68.png"/><Relationship Id="rId5" Type="http://schemas.openxmlformats.org/officeDocument/2006/relationships/image" Target="../media/image64.png"/><Relationship Id="rId10" Type="http://schemas.openxmlformats.org/officeDocument/2006/relationships/image" Target="../media/image48.png"/><Relationship Id="rId4" Type="http://schemas.openxmlformats.org/officeDocument/2006/relationships/image" Target="../media/image63.png"/><Relationship Id="rId9" Type="http://schemas.openxmlformats.org/officeDocument/2006/relationships/image" Target="../media/image67.png"/><Relationship Id="rId1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3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51.png"/><Relationship Id="rId7" Type="http://schemas.openxmlformats.org/officeDocument/2006/relationships/image" Target="../media/image7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75.png"/><Relationship Id="rId7" Type="http://schemas.openxmlformats.org/officeDocument/2006/relationships/image" Target="../media/image7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8.png"/><Relationship Id="rId11" Type="http://schemas.openxmlformats.org/officeDocument/2006/relationships/image" Target="../media/image83.png"/><Relationship Id="rId5" Type="http://schemas.openxmlformats.org/officeDocument/2006/relationships/image" Target="../media/image77.png"/><Relationship Id="rId10" Type="http://schemas.openxmlformats.org/officeDocument/2006/relationships/image" Target="../media/image82.png"/><Relationship Id="rId4" Type="http://schemas.openxmlformats.org/officeDocument/2006/relationships/image" Target="../media/image76.png"/><Relationship Id="rId9" Type="http://schemas.openxmlformats.org/officeDocument/2006/relationships/image" Target="../media/image8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13" Type="http://schemas.openxmlformats.org/officeDocument/2006/relationships/image" Target="../media/image69.png"/><Relationship Id="rId3" Type="http://schemas.openxmlformats.org/officeDocument/2006/relationships/image" Target="../media/image43.png"/><Relationship Id="rId7" Type="http://schemas.openxmlformats.org/officeDocument/2006/relationships/image" Target="../media/image87.png"/><Relationship Id="rId12" Type="http://schemas.openxmlformats.org/officeDocument/2006/relationships/image" Target="../media/image4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6.png"/><Relationship Id="rId11" Type="http://schemas.openxmlformats.org/officeDocument/2006/relationships/image" Target="../media/image68.png"/><Relationship Id="rId5" Type="http://schemas.openxmlformats.org/officeDocument/2006/relationships/image" Target="../media/image85.png"/><Relationship Id="rId10" Type="http://schemas.openxmlformats.org/officeDocument/2006/relationships/image" Target="../media/image48.png"/><Relationship Id="rId4" Type="http://schemas.openxmlformats.org/officeDocument/2006/relationships/image" Target="../media/image84.png"/><Relationship Id="rId9" Type="http://schemas.openxmlformats.org/officeDocument/2006/relationships/image" Target="../media/image6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38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3" Type="http://schemas.openxmlformats.org/officeDocument/2006/relationships/image" Target="../media/image75.png"/><Relationship Id="rId7" Type="http://schemas.openxmlformats.org/officeDocument/2006/relationships/image" Target="../media/image91.png"/><Relationship Id="rId12" Type="http://schemas.openxmlformats.org/officeDocument/2006/relationships/image" Target="../media/image9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0.png"/><Relationship Id="rId11" Type="http://schemas.openxmlformats.org/officeDocument/2006/relationships/image" Target="../media/image95.png"/><Relationship Id="rId5" Type="http://schemas.openxmlformats.org/officeDocument/2006/relationships/image" Target="../media/image89.png"/><Relationship Id="rId10" Type="http://schemas.openxmlformats.org/officeDocument/2006/relationships/image" Target="../media/image94.png"/><Relationship Id="rId4" Type="http://schemas.openxmlformats.org/officeDocument/2006/relationships/image" Target="../media/image88.png"/><Relationship Id="rId9" Type="http://schemas.openxmlformats.org/officeDocument/2006/relationships/image" Target="../media/image93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3" Type="http://schemas.openxmlformats.org/officeDocument/2006/relationships/image" Target="../media/image75.png"/><Relationship Id="rId7" Type="http://schemas.openxmlformats.org/officeDocument/2006/relationships/image" Target="../media/image10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9.png"/><Relationship Id="rId5" Type="http://schemas.openxmlformats.org/officeDocument/2006/relationships/image" Target="../media/image98.png"/><Relationship Id="rId4" Type="http://schemas.openxmlformats.org/officeDocument/2006/relationships/image" Target="../media/image97.png"/><Relationship Id="rId9" Type="http://schemas.openxmlformats.org/officeDocument/2006/relationships/image" Target="../media/image102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13" Type="http://schemas.openxmlformats.org/officeDocument/2006/relationships/image" Target="../media/image111.png"/><Relationship Id="rId3" Type="http://schemas.openxmlformats.org/officeDocument/2006/relationships/image" Target="../media/image51.png"/><Relationship Id="rId7" Type="http://schemas.openxmlformats.org/officeDocument/2006/relationships/image" Target="../media/image105.png"/><Relationship Id="rId12" Type="http://schemas.openxmlformats.org/officeDocument/2006/relationships/image" Target="../media/image1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4.png"/><Relationship Id="rId11" Type="http://schemas.openxmlformats.org/officeDocument/2006/relationships/image" Target="../media/image109.png"/><Relationship Id="rId5" Type="http://schemas.openxmlformats.org/officeDocument/2006/relationships/image" Target="../media/image78.png"/><Relationship Id="rId10" Type="http://schemas.openxmlformats.org/officeDocument/2006/relationships/image" Target="../media/image108.png"/><Relationship Id="rId4" Type="http://schemas.openxmlformats.org/officeDocument/2006/relationships/image" Target="../media/image103.png"/><Relationship Id="rId9" Type="http://schemas.openxmlformats.org/officeDocument/2006/relationships/image" Target="../media/image107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13" Type="http://schemas.openxmlformats.org/officeDocument/2006/relationships/image" Target="../media/image11.png"/><Relationship Id="rId3" Type="http://schemas.openxmlformats.org/officeDocument/2006/relationships/image" Target="../media/image43.png"/><Relationship Id="rId7" Type="http://schemas.openxmlformats.org/officeDocument/2006/relationships/image" Target="../media/image115.png"/><Relationship Id="rId12" Type="http://schemas.openxmlformats.org/officeDocument/2006/relationships/image" Target="../media/image6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4.png"/><Relationship Id="rId11" Type="http://schemas.openxmlformats.org/officeDocument/2006/relationships/image" Target="../media/image117.png"/><Relationship Id="rId5" Type="http://schemas.openxmlformats.org/officeDocument/2006/relationships/image" Target="../media/image113.png"/><Relationship Id="rId10" Type="http://schemas.openxmlformats.org/officeDocument/2006/relationships/image" Target="../media/image68.png"/><Relationship Id="rId4" Type="http://schemas.openxmlformats.org/officeDocument/2006/relationships/image" Target="../media/image112.png"/><Relationship Id="rId9" Type="http://schemas.openxmlformats.org/officeDocument/2006/relationships/image" Target="../media/image11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38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png"/><Relationship Id="rId3" Type="http://schemas.openxmlformats.org/officeDocument/2006/relationships/image" Target="../media/image51.png"/><Relationship Id="rId7" Type="http://schemas.openxmlformats.org/officeDocument/2006/relationships/image" Target="../media/image12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0.png"/><Relationship Id="rId5" Type="http://schemas.openxmlformats.org/officeDocument/2006/relationships/image" Target="../media/image119.png"/><Relationship Id="rId4" Type="http://schemas.openxmlformats.org/officeDocument/2006/relationships/image" Target="../media/image118.png"/><Relationship Id="rId9" Type="http://schemas.openxmlformats.org/officeDocument/2006/relationships/image" Target="../media/image123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png"/><Relationship Id="rId3" Type="http://schemas.openxmlformats.org/officeDocument/2006/relationships/image" Target="../media/image75.png"/><Relationship Id="rId7" Type="http://schemas.openxmlformats.org/officeDocument/2006/relationships/image" Target="../media/image12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6.png"/><Relationship Id="rId5" Type="http://schemas.openxmlformats.org/officeDocument/2006/relationships/image" Target="../media/image125.png"/><Relationship Id="rId10" Type="http://schemas.openxmlformats.org/officeDocument/2006/relationships/image" Target="../media/image130.png"/><Relationship Id="rId4" Type="http://schemas.openxmlformats.org/officeDocument/2006/relationships/image" Target="../media/image124.png"/><Relationship Id="rId9" Type="http://schemas.openxmlformats.org/officeDocument/2006/relationships/image" Target="../media/image129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13" Type="http://schemas.openxmlformats.org/officeDocument/2006/relationships/image" Target="../media/image69.png"/><Relationship Id="rId3" Type="http://schemas.openxmlformats.org/officeDocument/2006/relationships/image" Target="../media/image43.png"/><Relationship Id="rId7" Type="http://schemas.openxmlformats.org/officeDocument/2006/relationships/image" Target="../media/image87.png"/><Relationship Id="rId12" Type="http://schemas.openxmlformats.org/officeDocument/2006/relationships/image" Target="../media/image4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6.png"/><Relationship Id="rId11" Type="http://schemas.openxmlformats.org/officeDocument/2006/relationships/image" Target="../media/image68.png"/><Relationship Id="rId5" Type="http://schemas.openxmlformats.org/officeDocument/2006/relationships/image" Target="../media/image85.png"/><Relationship Id="rId10" Type="http://schemas.openxmlformats.org/officeDocument/2006/relationships/image" Target="../media/image48.png"/><Relationship Id="rId4" Type="http://schemas.openxmlformats.org/officeDocument/2006/relationships/image" Target="../media/image84.png"/><Relationship Id="rId9" Type="http://schemas.openxmlformats.org/officeDocument/2006/relationships/image" Target="../media/image67.png"/><Relationship Id="rId14" Type="http://schemas.openxmlformats.org/officeDocument/2006/relationships/image" Target="../media/image11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png"/><Relationship Id="rId3" Type="http://schemas.openxmlformats.org/officeDocument/2006/relationships/image" Target="../media/image131.png"/><Relationship Id="rId7" Type="http://schemas.openxmlformats.org/officeDocument/2006/relationships/image" Target="../media/image135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4.png"/><Relationship Id="rId5" Type="http://schemas.openxmlformats.org/officeDocument/2006/relationships/image" Target="../media/image133.png"/><Relationship Id="rId10" Type="http://schemas.openxmlformats.org/officeDocument/2006/relationships/image" Target="../media/image138.png"/><Relationship Id="rId4" Type="http://schemas.openxmlformats.org/officeDocument/2006/relationships/image" Target="../media/image132.png"/><Relationship Id="rId9" Type="http://schemas.openxmlformats.org/officeDocument/2006/relationships/image" Target="../media/image137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png"/><Relationship Id="rId3" Type="http://schemas.openxmlformats.org/officeDocument/2006/relationships/image" Target="../media/image139.png"/><Relationship Id="rId7" Type="http://schemas.openxmlformats.org/officeDocument/2006/relationships/image" Target="../media/image143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2.png"/><Relationship Id="rId11" Type="http://schemas.openxmlformats.org/officeDocument/2006/relationships/image" Target="../media/image147.png"/><Relationship Id="rId5" Type="http://schemas.openxmlformats.org/officeDocument/2006/relationships/image" Target="../media/image141.png"/><Relationship Id="rId10" Type="http://schemas.openxmlformats.org/officeDocument/2006/relationships/image" Target="../media/image146.png"/><Relationship Id="rId4" Type="http://schemas.openxmlformats.org/officeDocument/2006/relationships/image" Target="../media/image140.png"/><Relationship Id="rId9" Type="http://schemas.openxmlformats.org/officeDocument/2006/relationships/image" Target="../media/image145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png"/><Relationship Id="rId3" Type="http://schemas.openxmlformats.org/officeDocument/2006/relationships/image" Target="../media/image148.png"/><Relationship Id="rId7" Type="http://schemas.openxmlformats.org/officeDocument/2006/relationships/image" Target="../media/image1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1.png"/><Relationship Id="rId5" Type="http://schemas.openxmlformats.org/officeDocument/2006/relationships/image" Target="../media/image150.png"/><Relationship Id="rId4" Type="http://schemas.openxmlformats.org/officeDocument/2006/relationships/image" Target="../media/image149.png"/><Relationship Id="rId9" Type="http://schemas.openxmlformats.org/officeDocument/2006/relationships/image" Target="../media/image11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9.png"/><Relationship Id="rId3" Type="http://schemas.openxmlformats.org/officeDocument/2006/relationships/image" Target="../media/image154.png"/><Relationship Id="rId7" Type="http://schemas.openxmlformats.org/officeDocument/2006/relationships/image" Target="../media/image158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7.png"/><Relationship Id="rId5" Type="http://schemas.openxmlformats.org/officeDocument/2006/relationships/image" Target="../media/image156.png"/><Relationship Id="rId10" Type="http://schemas.openxmlformats.org/officeDocument/2006/relationships/image" Target="../media/image161.png"/><Relationship Id="rId4" Type="http://schemas.openxmlformats.org/officeDocument/2006/relationships/image" Target="../media/image155.png"/><Relationship Id="rId9" Type="http://schemas.openxmlformats.org/officeDocument/2006/relationships/image" Target="../media/image160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7.png"/><Relationship Id="rId13" Type="http://schemas.openxmlformats.org/officeDocument/2006/relationships/image" Target="../media/image102.png"/><Relationship Id="rId3" Type="http://schemas.openxmlformats.org/officeDocument/2006/relationships/image" Target="../media/image162.png"/><Relationship Id="rId7" Type="http://schemas.openxmlformats.org/officeDocument/2006/relationships/image" Target="../media/image166.png"/><Relationship Id="rId12" Type="http://schemas.openxmlformats.org/officeDocument/2006/relationships/image" Target="../media/image171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5.png"/><Relationship Id="rId11" Type="http://schemas.openxmlformats.org/officeDocument/2006/relationships/image" Target="../media/image170.png"/><Relationship Id="rId5" Type="http://schemas.openxmlformats.org/officeDocument/2006/relationships/image" Target="../media/image164.png"/><Relationship Id="rId10" Type="http://schemas.openxmlformats.org/officeDocument/2006/relationships/image" Target="../media/image169.png"/><Relationship Id="rId4" Type="http://schemas.openxmlformats.org/officeDocument/2006/relationships/image" Target="../media/image163.png"/><Relationship Id="rId9" Type="http://schemas.openxmlformats.org/officeDocument/2006/relationships/image" Target="../media/image16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7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0096805" y="761695"/>
            <a:ext cx="1181405" cy="1181405"/>
          </a:xfrm>
          <a:prstGeom prst="ellipse">
            <a:avLst/>
          </a:prstGeom>
          <a:noFill/>
          <a:ln w="254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61695" y="1429207"/>
            <a:ext cx="780898" cy="780898"/>
          </a:xfrm>
          <a:prstGeom prst="roundRect">
            <a:avLst>
              <a:gd name="adj" fmla="val 22848"/>
            </a:avLst>
          </a:prstGeom>
          <a:noFill/>
          <a:ln w="12700">
            <a:solidFill>
              <a:srgbClr val="3B82F6">
                <a:alpha val="15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191902" y="5143500"/>
            <a:ext cx="590702" cy="590702"/>
          </a:xfrm>
          <a:prstGeom prst="roundRect">
            <a:avLst>
              <a:gd name="adj" fmla="val 19974"/>
            </a:avLst>
          </a:prstGeom>
          <a:noFill/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952805" y="1904695"/>
            <a:ext cx="10287000" cy="9144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952805" y="4943246"/>
            <a:ext cx="10287000" cy="9144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5"/>
          <a:srcRect l="-88" r="-88"/>
          <a:stretch/>
        </p:blipFill>
        <p:spPr>
          <a:xfrm>
            <a:off x="571500" y="381305"/>
            <a:ext cx="2952598" cy="342900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571500" y="381305"/>
            <a:ext cx="2952598" cy="342900"/>
          </a:xfrm>
          <a:prstGeom prst="roundRect">
            <a:avLst>
              <a:gd name="adj" fmla="val 266667"/>
            </a:avLst>
          </a:prstGeom>
          <a:noFill/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11" name="Text 5"/>
          <p:cNvSpPr/>
          <p:nvPr/>
        </p:nvSpPr>
        <p:spPr>
          <a:xfrm>
            <a:off x="981151" y="381305"/>
            <a:ext cx="2543861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marL="0" indent="0" algn="l">
              <a:buNone/>
            </a:pPr>
            <a:r>
              <a:rPr lang="en-US" sz="1000" kern="0" spc="113" dirty="0">
                <a:solidFill>
                  <a:srgbClr val="FFFFFF">
                    <a:alpha val="8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Port Authority of NY &amp; NJ </a:t>
            </a:r>
            <a:endParaRPr lang="en-US" sz="10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6"/>
          <a:srcRect l="-8283" r="-8283"/>
          <a:stretch/>
        </p:blipFill>
        <p:spPr>
          <a:xfrm>
            <a:off x="733349" y="476402"/>
            <a:ext cx="133502" cy="152705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2286000" y="3249778"/>
            <a:ext cx="762061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Data-Driven Insights for Traffic Flow, Congestion Management, and Strategic Planning</a:t>
            </a:r>
            <a:endParaRPr lang="en-US" sz="1600" dirty="0"/>
          </a:p>
        </p:txBody>
      </p:sp>
      <p:sp>
        <p:nvSpPr>
          <p:cNvPr id="14" name="Shape 7"/>
          <p:cNvSpPr/>
          <p:nvPr/>
        </p:nvSpPr>
        <p:spPr>
          <a:xfrm>
            <a:off x="1848917" y="4492447"/>
            <a:ext cx="2600554" cy="743407"/>
          </a:xfrm>
          <a:prstGeom prst="roundRect">
            <a:avLst>
              <a:gd name="adj" fmla="val 37847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15" name="Shape 8"/>
          <p:cNvSpPr/>
          <p:nvPr/>
        </p:nvSpPr>
        <p:spPr>
          <a:xfrm>
            <a:off x="2125066" y="4654296"/>
            <a:ext cx="418795" cy="418795"/>
          </a:xfrm>
          <a:prstGeom prst="roundRect">
            <a:avLst>
              <a:gd name="adj" fmla="val 99246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2248510" y="4777740"/>
            <a:ext cx="171907" cy="171907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2556662" y="4768596"/>
            <a:ext cx="17574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Predictive Analytics</a:t>
            </a:r>
            <a:endParaRPr lang="en-US" sz="1400" dirty="0"/>
          </a:p>
        </p:txBody>
      </p:sp>
      <p:sp>
        <p:nvSpPr>
          <p:cNvPr id="18" name="Shape 10"/>
          <p:cNvSpPr/>
          <p:nvPr/>
        </p:nvSpPr>
        <p:spPr>
          <a:xfrm>
            <a:off x="4823460" y="4492447"/>
            <a:ext cx="2581351" cy="743407"/>
          </a:xfrm>
          <a:prstGeom prst="roundRect">
            <a:avLst>
              <a:gd name="adj" fmla="val 37847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19" name="Shape 11"/>
          <p:cNvSpPr/>
          <p:nvPr/>
        </p:nvSpPr>
        <p:spPr>
          <a:xfrm>
            <a:off x="5099609" y="4654296"/>
            <a:ext cx="418795" cy="418795"/>
          </a:xfrm>
          <a:prstGeom prst="roundRect">
            <a:avLst>
              <a:gd name="adj" fmla="val 99246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8"/>
          <a:srcRect t="-1087" b="-1087"/>
          <a:stretch/>
        </p:blipFill>
        <p:spPr>
          <a:xfrm>
            <a:off x="5256886" y="4777740"/>
            <a:ext cx="105156" cy="171907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5532120" y="4768596"/>
            <a:ext cx="173461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Traffic Optimization</a:t>
            </a:r>
            <a:endParaRPr lang="en-US" sz="1400" dirty="0"/>
          </a:p>
        </p:txBody>
      </p:sp>
      <p:sp>
        <p:nvSpPr>
          <p:cNvPr id="22" name="Shape 13"/>
          <p:cNvSpPr/>
          <p:nvPr/>
        </p:nvSpPr>
        <p:spPr>
          <a:xfrm>
            <a:off x="7783373" y="4492447"/>
            <a:ext cx="2562149" cy="743407"/>
          </a:xfrm>
          <a:prstGeom prst="roundRect">
            <a:avLst>
              <a:gd name="adj" fmla="val 37847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23" name="Shape 14"/>
          <p:cNvSpPr/>
          <p:nvPr/>
        </p:nvSpPr>
        <p:spPr>
          <a:xfrm>
            <a:off x="8059522" y="4654296"/>
            <a:ext cx="418795" cy="418795"/>
          </a:xfrm>
          <a:prstGeom prst="roundRect">
            <a:avLst>
              <a:gd name="adj" fmla="val 99246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9"/>
          <a:srcRect t="-1087" b="-1087"/>
          <a:stretch/>
        </p:blipFill>
        <p:spPr>
          <a:xfrm>
            <a:off x="8216798" y="4777740"/>
            <a:ext cx="105156" cy="171907"/>
          </a:xfrm>
          <a:prstGeom prst="rect">
            <a:avLst/>
          </a:prstGeom>
        </p:spPr>
      </p:pic>
      <p:sp>
        <p:nvSpPr>
          <p:cNvPr id="25" name="Text 15"/>
          <p:cNvSpPr txBox="1"/>
          <p:nvPr/>
        </p:nvSpPr>
        <p:spPr>
          <a:xfrm>
            <a:off x="8494776" y="4768596"/>
            <a:ext cx="171175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Protection</a:t>
            </a:r>
            <a:endParaRPr lang="en-US" sz="1400" dirty="0"/>
          </a:p>
        </p:txBody>
      </p:sp>
      <p:sp>
        <p:nvSpPr>
          <p:cNvPr id="26" name="Text 16"/>
          <p:cNvSpPr txBox="1"/>
          <p:nvPr/>
        </p:nvSpPr>
        <p:spPr>
          <a:xfrm>
            <a:off x="857707" y="1623060"/>
            <a:ext cx="10478110" cy="1343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kern="0" spc="-75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Traffic Analytics &amp; Optimization Strategy</a:t>
            </a:r>
            <a:endParaRPr lang="en-US" sz="4800" dirty="0"/>
          </a:p>
        </p:txBody>
      </p:sp>
      <p:sp>
        <p:nvSpPr>
          <p:cNvPr id="27" name="Shape 17"/>
          <p:cNvSpPr/>
          <p:nvPr/>
        </p:nvSpPr>
        <p:spPr>
          <a:xfrm>
            <a:off x="571500" y="6096305"/>
            <a:ext cx="2152498" cy="352044"/>
          </a:xfrm>
          <a:prstGeom prst="roundRect">
            <a:avLst>
              <a:gd name="adj" fmla="val 259740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10"/>
          <a:srcRect l="-769" r="-769"/>
          <a:stretch/>
        </p:blipFill>
        <p:spPr>
          <a:xfrm>
            <a:off x="771754" y="6200546"/>
            <a:ext cx="181051" cy="142646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1067105" y="6096305"/>
            <a:ext cx="1457554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Prepared by: Group 6</a:t>
            </a:r>
            <a:endParaRPr lang="en-US" sz="1100" dirty="0"/>
          </a:p>
        </p:txBody>
      </p:sp>
      <p:pic>
        <p:nvPicPr>
          <p:cNvPr id="30" name="Image 9" descr="preencoded.png"/>
          <p:cNvPicPr>
            <a:picLocks noChangeAspect="1"/>
          </p:cNvPicPr>
          <p:nvPr/>
        </p:nvPicPr>
        <p:blipFill>
          <a:blip r:embed="rId11"/>
          <a:srcRect l="-56" r="-56"/>
          <a:stretch/>
        </p:blipFill>
        <p:spPr>
          <a:xfrm>
            <a:off x="9953244" y="6096305"/>
            <a:ext cx="1666951" cy="352044"/>
          </a:xfrm>
          <a:prstGeom prst="rect">
            <a:avLst/>
          </a:prstGeom>
        </p:spPr>
      </p:pic>
      <p:sp>
        <p:nvSpPr>
          <p:cNvPr id="31" name="Shape 19"/>
          <p:cNvSpPr/>
          <p:nvPr/>
        </p:nvSpPr>
        <p:spPr>
          <a:xfrm>
            <a:off x="9953244" y="6096305"/>
            <a:ext cx="1666951" cy="352044"/>
          </a:xfrm>
          <a:prstGeom prst="roundRect">
            <a:avLst>
              <a:gd name="adj" fmla="val 259740"/>
            </a:avLst>
          </a:prstGeom>
          <a:noFill/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32" name="Text 20"/>
          <p:cNvSpPr/>
          <p:nvPr/>
        </p:nvSpPr>
        <p:spPr>
          <a:xfrm>
            <a:off x="10372039" y="6096305"/>
            <a:ext cx="1248156" cy="3529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76200" rIns="190500" bIns="762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March 31, 2026 </a:t>
            </a:r>
            <a:endParaRPr lang="en-US" sz="1100" dirty="0"/>
          </a:p>
        </p:txBody>
      </p:sp>
      <p:pic>
        <p:nvPicPr>
          <p:cNvPr id="33" name="Image 10" descr="preencoded.png"/>
          <p:cNvPicPr>
            <a:picLocks noChangeAspect="1"/>
          </p:cNvPicPr>
          <p:nvPr/>
        </p:nvPicPr>
        <p:blipFill>
          <a:blip r:embed="rId12"/>
          <a:srcRect t="-556" b="-556"/>
          <a:stretch/>
        </p:blipFill>
        <p:spPr>
          <a:xfrm>
            <a:off x="10153498" y="6200546"/>
            <a:ext cx="123444" cy="14264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203B92A6-E832-7B32-415C-20A5F494995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851265" y="42977"/>
            <a:ext cx="1275338" cy="676656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9B4EE848-40F3-8844-C5EA-9357DE832FAE}"/>
              </a:ext>
            </a:extLst>
          </p:cNvPr>
          <p:cNvSpPr txBox="1"/>
          <p:nvPr/>
        </p:nvSpPr>
        <p:spPr>
          <a:xfrm>
            <a:off x="11766897" y="6158526"/>
            <a:ext cx="381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</a:t>
            </a:r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alphaModFix amt="30000"/>
          </a:blip>
          <a:srcRect l="-384" r="-384"/>
          <a:stretch/>
        </p:blipFill>
        <p:spPr>
          <a:xfrm>
            <a:off x="11697005" y="952805"/>
            <a:ext cx="19202" cy="952805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4">
            <a:alphaModFix amt="30000"/>
          </a:blip>
          <a:srcRect l="-384" r="-384"/>
          <a:stretch/>
        </p:blipFill>
        <p:spPr>
          <a:xfrm>
            <a:off x="476402" y="4953305"/>
            <a:ext cx="19202" cy="952805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5">
            <a:alphaModFix amt="50000"/>
          </a:blip>
          <a:srcRect/>
          <a:stretch/>
        </p:blipFill>
        <p:spPr>
          <a:xfrm>
            <a:off x="476402" y="476402"/>
            <a:ext cx="1904695" cy="1904695"/>
          </a:xfrm>
          <a:prstGeom prst="rect">
            <a:avLst/>
          </a:prstGeom>
        </p:spPr>
      </p:pic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5">
            <a:alphaModFix amt="50000"/>
          </a:blip>
          <a:srcRect/>
          <a:stretch/>
        </p:blipFill>
        <p:spPr>
          <a:xfrm>
            <a:off x="9810598" y="4476902"/>
            <a:ext cx="1904695" cy="1904695"/>
          </a:xfrm>
          <a:prstGeom prst="rect">
            <a:avLst/>
          </a:prstGeom>
        </p:spPr>
      </p:pic>
      <p:sp>
        <p:nvSpPr>
          <p:cNvPr id="9" name="Text 2"/>
          <p:cNvSpPr txBox="1"/>
          <p:nvPr/>
        </p:nvSpPr>
        <p:spPr>
          <a:xfrm>
            <a:off x="771754" y="571500"/>
            <a:ext cx="288584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 spc="90" dirty="0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Port Authority of NY &amp; NJ </a:t>
            </a:r>
            <a:endParaRPr lang="en-US" sz="1300" dirty="0"/>
          </a:p>
        </p:txBody>
      </p:sp>
      <p:sp>
        <p:nvSpPr>
          <p:cNvPr id="10" name="Shape 3"/>
          <p:cNvSpPr/>
          <p:nvPr/>
        </p:nvSpPr>
        <p:spPr>
          <a:xfrm>
            <a:off x="571500" y="2734056"/>
            <a:ext cx="3571646" cy="952805"/>
          </a:xfrm>
          <a:prstGeom prst="roundRect">
            <a:avLst>
              <a:gd name="adj" fmla="val 2303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  <a:effectLst>
            <a:outerShdw blurRad="139700" dist="38100" dir="162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Shape 4"/>
          <p:cNvSpPr/>
          <p:nvPr/>
        </p:nvSpPr>
        <p:spPr>
          <a:xfrm>
            <a:off x="819302" y="2962656"/>
            <a:ext cx="495605" cy="495605"/>
          </a:xfrm>
          <a:prstGeom prst="roundRect">
            <a:avLst>
              <a:gd name="adj" fmla="val 70962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6"/>
          <a:srcRect t="-6603" b="-6603"/>
          <a:stretch/>
        </p:blipFill>
        <p:spPr>
          <a:xfrm>
            <a:off x="985723" y="3105302"/>
            <a:ext cx="161849" cy="209398"/>
          </a:xfrm>
          <a:prstGeom prst="rect">
            <a:avLst/>
          </a:prstGeom>
        </p:spPr>
      </p:pic>
      <p:sp>
        <p:nvSpPr>
          <p:cNvPr id="13" name="Text 5"/>
          <p:cNvSpPr txBox="1"/>
          <p:nvPr/>
        </p:nvSpPr>
        <p:spPr>
          <a:xfrm>
            <a:off x="1505102" y="2903220"/>
            <a:ext cx="23911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Nandani Raj</a:t>
            </a:r>
            <a:endParaRPr lang="en-US" sz="1500" dirty="0"/>
          </a:p>
        </p:txBody>
      </p:sp>
      <p:sp>
        <p:nvSpPr>
          <p:cNvPr id="14" name="Text 6"/>
          <p:cNvSpPr txBox="1"/>
          <p:nvPr/>
        </p:nvSpPr>
        <p:spPr>
          <a:xfrm>
            <a:off x="1505102" y="3170225"/>
            <a:ext cx="2391156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PPT, Project Report, Python Notebooks and ,Power BI</a:t>
            </a:r>
            <a:endParaRPr lang="en-US" sz="1000" dirty="0"/>
          </a:p>
        </p:txBody>
      </p:sp>
      <p:sp>
        <p:nvSpPr>
          <p:cNvPr id="15" name="Shape 7"/>
          <p:cNvSpPr/>
          <p:nvPr/>
        </p:nvSpPr>
        <p:spPr>
          <a:xfrm>
            <a:off x="4421124" y="2734056"/>
            <a:ext cx="3457346" cy="952805"/>
          </a:xfrm>
          <a:prstGeom prst="roundRect">
            <a:avLst>
              <a:gd name="adj" fmla="val 2303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  <a:effectLst>
            <a:outerShdw blurRad="139700" dist="38100" dir="162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Shape 8"/>
          <p:cNvSpPr/>
          <p:nvPr/>
        </p:nvSpPr>
        <p:spPr>
          <a:xfrm>
            <a:off x="4668926" y="2962656"/>
            <a:ext cx="495605" cy="495605"/>
          </a:xfrm>
          <a:prstGeom prst="roundRect">
            <a:avLst>
              <a:gd name="adj" fmla="val 70962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6"/>
          <a:srcRect t="-6603" b="-6603"/>
          <a:stretch/>
        </p:blipFill>
        <p:spPr>
          <a:xfrm>
            <a:off x="4835347" y="3105302"/>
            <a:ext cx="161849" cy="209398"/>
          </a:xfrm>
          <a:prstGeom prst="rect">
            <a:avLst/>
          </a:prstGeom>
        </p:spPr>
      </p:pic>
      <p:sp>
        <p:nvSpPr>
          <p:cNvPr id="18" name="Text 9"/>
          <p:cNvSpPr txBox="1"/>
          <p:nvPr/>
        </p:nvSpPr>
        <p:spPr>
          <a:xfrm>
            <a:off x="5354726" y="2990088"/>
            <a:ext cx="2276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Tulasi Teju Ponnam</a:t>
            </a:r>
            <a:endParaRPr lang="en-US" sz="1500" dirty="0"/>
          </a:p>
        </p:txBody>
      </p:sp>
      <p:sp>
        <p:nvSpPr>
          <p:cNvPr id="19" name="Text 10"/>
          <p:cNvSpPr txBox="1"/>
          <p:nvPr/>
        </p:nvSpPr>
        <p:spPr>
          <a:xfrm>
            <a:off x="5354726" y="3256178"/>
            <a:ext cx="22768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AutoML and Data Audit</a:t>
            </a:r>
            <a:endParaRPr lang="en-US" sz="1000" dirty="0"/>
          </a:p>
        </p:txBody>
      </p:sp>
      <p:sp>
        <p:nvSpPr>
          <p:cNvPr id="20" name="Shape 11"/>
          <p:cNvSpPr/>
          <p:nvPr/>
        </p:nvSpPr>
        <p:spPr>
          <a:xfrm>
            <a:off x="8163763" y="2734056"/>
            <a:ext cx="3457346" cy="952805"/>
          </a:xfrm>
          <a:prstGeom prst="roundRect">
            <a:avLst>
              <a:gd name="adj" fmla="val 2303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  <a:effectLst>
            <a:outerShdw blurRad="139700" dist="38100" dir="162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Shape 12"/>
          <p:cNvSpPr/>
          <p:nvPr/>
        </p:nvSpPr>
        <p:spPr>
          <a:xfrm>
            <a:off x="8411566" y="2962656"/>
            <a:ext cx="495605" cy="495605"/>
          </a:xfrm>
          <a:prstGeom prst="roundRect">
            <a:avLst>
              <a:gd name="adj" fmla="val 70962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6"/>
          <a:srcRect t="-6603" b="-6603"/>
          <a:stretch/>
        </p:blipFill>
        <p:spPr>
          <a:xfrm>
            <a:off x="8577986" y="3105302"/>
            <a:ext cx="161849" cy="209398"/>
          </a:xfrm>
          <a:prstGeom prst="rect">
            <a:avLst/>
          </a:prstGeom>
        </p:spPr>
      </p:pic>
      <p:sp>
        <p:nvSpPr>
          <p:cNvPr id="23" name="Text 13"/>
          <p:cNvSpPr txBox="1"/>
          <p:nvPr/>
        </p:nvSpPr>
        <p:spPr>
          <a:xfrm>
            <a:off x="9097366" y="2990088"/>
            <a:ext cx="2276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Dhwani Pathak</a:t>
            </a:r>
            <a:endParaRPr lang="en-US" sz="1500" dirty="0"/>
          </a:p>
        </p:txBody>
      </p:sp>
      <p:sp>
        <p:nvSpPr>
          <p:cNvPr id="24" name="Text 14"/>
          <p:cNvSpPr txBox="1"/>
          <p:nvPr/>
        </p:nvSpPr>
        <p:spPr>
          <a:xfrm>
            <a:off x="9097366" y="3256178"/>
            <a:ext cx="22768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Development</a:t>
            </a:r>
            <a:endParaRPr lang="en-US" sz="1000" dirty="0"/>
          </a:p>
        </p:txBody>
      </p:sp>
      <p:sp>
        <p:nvSpPr>
          <p:cNvPr id="25" name="Shape 15"/>
          <p:cNvSpPr/>
          <p:nvPr/>
        </p:nvSpPr>
        <p:spPr>
          <a:xfrm>
            <a:off x="571500" y="3972154"/>
            <a:ext cx="3571646" cy="952805"/>
          </a:xfrm>
          <a:prstGeom prst="roundRect">
            <a:avLst>
              <a:gd name="adj" fmla="val 2303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  <a:effectLst>
            <a:outerShdw blurRad="139700" dist="38100" dir="162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6" name="Shape 16"/>
          <p:cNvSpPr/>
          <p:nvPr/>
        </p:nvSpPr>
        <p:spPr>
          <a:xfrm>
            <a:off x="819302" y="4200754"/>
            <a:ext cx="495605" cy="495605"/>
          </a:xfrm>
          <a:prstGeom prst="roundRect">
            <a:avLst>
              <a:gd name="adj" fmla="val 70962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6"/>
          <a:srcRect t="-6603" b="-6603"/>
          <a:stretch/>
        </p:blipFill>
        <p:spPr>
          <a:xfrm>
            <a:off x="985723" y="4343400"/>
            <a:ext cx="161849" cy="209398"/>
          </a:xfrm>
          <a:prstGeom prst="rect">
            <a:avLst/>
          </a:prstGeom>
        </p:spPr>
      </p:pic>
      <p:sp>
        <p:nvSpPr>
          <p:cNvPr id="28" name="Text 17"/>
          <p:cNvSpPr txBox="1"/>
          <p:nvPr/>
        </p:nvSpPr>
        <p:spPr>
          <a:xfrm>
            <a:off x="1505102" y="4228186"/>
            <a:ext cx="26947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Sandeep Bhagavan Peesa</a:t>
            </a:r>
            <a:endParaRPr lang="en-US" sz="1500" dirty="0"/>
          </a:p>
        </p:txBody>
      </p:sp>
      <p:sp>
        <p:nvSpPr>
          <p:cNvPr id="29" name="Text 18"/>
          <p:cNvSpPr txBox="1"/>
          <p:nvPr/>
        </p:nvSpPr>
        <p:spPr>
          <a:xfrm>
            <a:off x="1505102" y="4495190"/>
            <a:ext cx="23911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Descriptive Analysis and Power BI</a:t>
            </a:r>
            <a:endParaRPr lang="en-US" sz="1000" dirty="0"/>
          </a:p>
        </p:txBody>
      </p:sp>
      <p:sp>
        <p:nvSpPr>
          <p:cNvPr id="30" name="Shape 19"/>
          <p:cNvSpPr/>
          <p:nvPr/>
        </p:nvSpPr>
        <p:spPr>
          <a:xfrm>
            <a:off x="4421124" y="3972154"/>
            <a:ext cx="3457346" cy="952805"/>
          </a:xfrm>
          <a:prstGeom prst="roundRect">
            <a:avLst>
              <a:gd name="adj" fmla="val 2303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  <a:effectLst>
            <a:outerShdw blurRad="139700" dist="38100" dir="162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1" name="Shape 20"/>
          <p:cNvSpPr/>
          <p:nvPr/>
        </p:nvSpPr>
        <p:spPr>
          <a:xfrm>
            <a:off x="4668926" y="4200754"/>
            <a:ext cx="495605" cy="495605"/>
          </a:xfrm>
          <a:prstGeom prst="roundRect">
            <a:avLst>
              <a:gd name="adj" fmla="val 70962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pic>
        <p:nvPicPr>
          <p:cNvPr id="32" name="Image 9" descr="preencoded.png"/>
          <p:cNvPicPr>
            <a:picLocks noChangeAspect="1"/>
          </p:cNvPicPr>
          <p:nvPr/>
        </p:nvPicPr>
        <p:blipFill>
          <a:blip r:embed="rId6"/>
          <a:srcRect t="-6603" b="-6603"/>
          <a:stretch/>
        </p:blipFill>
        <p:spPr>
          <a:xfrm>
            <a:off x="4835347" y="4343400"/>
            <a:ext cx="161849" cy="209398"/>
          </a:xfrm>
          <a:prstGeom prst="rect">
            <a:avLst/>
          </a:prstGeom>
        </p:spPr>
      </p:pic>
      <p:sp>
        <p:nvSpPr>
          <p:cNvPr id="33" name="Text 21"/>
          <p:cNvSpPr txBox="1"/>
          <p:nvPr/>
        </p:nvSpPr>
        <p:spPr>
          <a:xfrm>
            <a:off x="5354726" y="4228186"/>
            <a:ext cx="26901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Divya Lahari Kollipara</a:t>
            </a:r>
            <a:endParaRPr lang="en-US" sz="1500" dirty="0"/>
          </a:p>
        </p:txBody>
      </p:sp>
      <p:sp>
        <p:nvSpPr>
          <p:cNvPr id="34" name="Text 22"/>
          <p:cNvSpPr txBox="1"/>
          <p:nvPr/>
        </p:nvSpPr>
        <p:spPr>
          <a:xfrm>
            <a:off x="5354726" y="4495190"/>
            <a:ext cx="241218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Descriptive Analysis and Report</a:t>
            </a:r>
            <a:endParaRPr lang="en-US" sz="1000" dirty="0"/>
          </a:p>
        </p:txBody>
      </p:sp>
      <p:sp>
        <p:nvSpPr>
          <p:cNvPr id="35" name="Shape 23"/>
          <p:cNvSpPr/>
          <p:nvPr/>
        </p:nvSpPr>
        <p:spPr>
          <a:xfrm>
            <a:off x="571500" y="5896051"/>
            <a:ext cx="110486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6" name="Image 10" descr="preencoded.png"/>
          <p:cNvPicPr>
            <a:picLocks noChangeAspect="1"/>
          </p:cNvPicPr>
          <p:nvPr/>
        </p:nvPicPr>
        <p:blipFill>
          <a:blip r:embed="rId7"/>
          <a:srcRect t="-33500" b="-33500"/>
          <a:stretch/>
        </p:blipFill>
        <p:spPr>
          <a:xfrm>
            <a:off x="571500" y="6115507"/>
            <a:ext cx="114300" cy="152705"/>
          </a:xfrm>
          <a:prstGeom prst="rect">
            <a:avLst/>
          </a:prstGeom>
        </p:spPr>
      </p:pic>
      <p:sp>
        <p:nvSpPr>
          <p:cNvPr id="37" name="Text 24"/>
          <p:cNvSpPr txBox="1"/>
          <p:nvPr/>
        </p:nvSpPr>
        <p:spPr>
          <a:xfrm>
            <a:off x="800100" y="6096305"/>
            <a:ext cx="18480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Prepared by: Group 6</a:t>
            </a:r>
            <a:endParaRPr lang="en-US" sz="1200" dirty="0"/>
          </a:p>
        </p:txBody>
      </p:sp>
      <p:sp>
        <p:nvSpPr>
          <p:cNvPr id="38" name="Text 25"/>
          <p:cNvSpPr txBox="1"/>
          <p:nvPr/>
        </p:nvSpPr>
        <p:spPr>
          <a:xfrm>
            <a:off x="10502798" y="6096305"/>
            <a:ext cx="133136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March 31, 2026 </a:t>
            </a:r>
            <a:endParaRPr lang="en-US" sz="1200" dirty="0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 r:embed="rId8"/>
          <a:srcRect l="-5319" r="-5319"/>
          <a:stretch/>
        </p:blipFill>
        <p:spPr>
          <a:xfrm>
            <a:off x="571500" y="583387"/>
            <a:ext cx="142646" cy="171907"/>
          </a:xfrm>
          <a:prstGeom prst="rect">
            <a:avLst/>
          </a:prstGeom>
        </p:spPr>
      </p:pic>
      <p:pic>
        <p:nvPicPr>
          <p:cNvPr id="40" name="Image 12" descr="preencoded.png"/>
          <p:cNvPicPr>
            <a:picLocks noChangeAspect="1"/>
          </p:cNvPicPr>
          <p:nvPr/>
        </p:nvPicPr>
        <p:blipFill>
          <a:blip r:embed="rId9"/>
          <a:srcRect t="-8450" b="-8450"/>
          <a:stretch/>
        </p:blipFill>
        <p:spPr>
          <a:xfrm>
            <a:off x="10345522" y="6115507"/>
            <a:ext cx="114300" cy="152705"/>
          </a:xfrm>
          <a:prstGeom prst="rect">
            <a:avLst/>
          </a:prstGeom>
        </p:spPr>
      </p:pic>
      <p:sp>
        <p:nvSpPr>
          <p:cNvPr id="41" name="Text 26"/>
          <p:cNvSpPr txBox="1"/>
          <p:nvPr/>
        </p:nvSpPr>
        <p:spPr>
          <a:xfrm>
            <a:off x="4132174" y="1561795"/>
            <a:ext cx="3934663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900" b="1" kern="0" spc="-37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Team Members</a:t>
            </a:r>
            <a:endParaRPr lang="en-US" sz="3900" dirty="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43045FC1-9159-A67E-E1A4-93D16C0A506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851265" y="42977"/>
            <a:ext cx="1275338" cy="676656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4107AFF3-5377-E12A-F697-EE429FC6C3E8}"/>
              </a:ext>
            </a:extLst>
          </p:cNvPr>
          <p:cNvSpPr txBox="1"/>
          <p:nvPr/>
        </p:nvSpPr>
        <p:spPr>
          <a:xfrm>
            <a:off x="11766897" y="6158526"/>
            <a:ext cx="381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2</a:t>
            </a: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61695" y="761695"/>
            <a:ext cx="1181405" cy="1181405"/>
          </a:xfrm>
          <a:prstGeom prst="ellipse">
            <a:avLst/>
          </a:prstGeom>
          <a:noFill/>
          <a:ln w="25400">
            <a:solidFill>
              <a:srgbClr val="3B82F6">
                <a:alpha val="15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0763402" y="1429207"/>
            <a:ext cx="875995" cy="875995"/>
          </a:xfrm>
          <a:prstGeom prst="roundRect">
            <a:avLst>
              <a:gd name="adj" fmla="val 27231"/>
            </a:avLst>
          </a:prstGeom>
          <a:noFill/>
          <a:ln w="1270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43000" y="5429707"/>
            <a:ext cx="685800" cy="685800"/>
          </a:xfrm>
          <a:prstGeom prst="roundRect">
            <a:avLst>
              <a:gd name="adj" fmla="val 29630"/>
            </a:avLst>
          </a:prstGeom>
          <a:noFill/>
          <a:ln w="12700">
            <a:solidFill>
              <a:srgbClr val="3B82F6">
                <a:alpha val="15000"/>
              </a:srgbClr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333195" y="2286000"/>
            <a:ext cx="9525305" cy="9144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333195" y="5143500"/>
            <a:ext cx="9525305" cy="9144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571500" y="323926"/>
            <a:ext cx="3181198" cy="352044"/>
          </a:xfrm>
          <a:prstGeom prst="roundRect">
            <a:avLst>
              <a:gd name="adj" fmla="val 259740"/>
            </a:avLst>
          </a:prstGeom>
          <a:noFill/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12" name="Text 6"/>
          <p:cNvSpPr txBox="1"/>
          <p:nvPr/>
        </p:nvSpPr>
        <p:spPr>
          <a:xfrm>
            <a:off x="1343254" y="2990088"/>
            <a:ext cx="2029054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0" b="1" kern="0" spc="-225" dirty="0">
                <a:solidFill>
                  <a:schemeClr val="accent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8M+</a:t>
            </a:r>
            <a:endParaRPr lang="en-US" sz="7500" dirty="0">
              <a:solidFill>
                <a:schemeClr val="accent4"/>
              </a:solidFill>
            </a:endParaRPr>
          </a:p>
        </p:txBody>
      </p:sp>
      <p:sp>
        <p:nvSpPr>
          <p:cNvPr id="13" name="Text 7"/>
          <p:cNvSpPr txBox="1"/>
          <p:nvPr/>
        </p:nvSpPr>
        <p:spPr>
          <a:xfrm>
            <a:off x="1495044" y="4133088"/>
            <a:ext cx="172364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Toll Violations</a:t>
            </a:r>
            <a:endParaRPr lang="en-US" sz="1600" dirty="0"/>
          </a:p>
        </p:txBody>
      </p:sp>
      <p:sp>
        <p:nvSpPr>
          <p:cNvPr id="14" name="Text 8"/>
          <p:cNvSpPr txBox="1"/>
          <p:nvPr/>
        </p:nvSpPr>
        <p:spPr>
          <a:xfrm>
            <a:off x="1292047" y="4437583"/>
            <a:ext cx="213055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2013-2024 cumulative</a:t>
            </a:r>
            <a:endParaRPr lang="en-US" sz="1300" dirty="0"/>
          </a:p>
        </p:txBody>
      </p:sp>
      <p:sp>
        <p:nvSpPr>
          <p:cNvPr id="15" name="Text 9"/>
          <p:cNvSpPr txBox="1"/>
          <p:nvPr/>
        </p:nvSpPr>
        <p:spPr>
          <a:xfrm>
            <a:off x="4478731" y="2990088"/>
            <a:ext cx="2505456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0" b="1" kern="0" spc="-225" dirty="0">
                <a:solidFill>
                  <a:schemeClr val="accent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~50%</a:t>
            </a:r>
            <a:endParaRPr lang="en-US" sz="7500" dirty="0">
              <a:solidFill>
                <a:schemeClr val="accent4"/>
              </a:solidFill>
            </a:endParaRPr>
          </a:p>
        </p:txBody>
      </p:sp>
      <p:sp>
        <p:nvSpPr>
          <p:cNvPr id="16" name="Text 10"/>
          <p:cNvSpPr txBox="1"/>
          <p:nvPr/>
        </p:nvSpPr>
        <p:spPr>
          <a:xfrm>
            <a:off x="4446727" y="4133088"/>
            <a:ext cx="257312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Just 2 Facilities</a:t>
            </a:r>
            <a:endParaRPr lang="en-US" sz="1600" dirty="0"/>
          </a:p>
        </p:txBody>
      </p:sp>
      <p:sp>
        <p:nvSpPr>
          <p:cNvPr id="17" name="Text 11"/>
          <p:cNvSpPr txBox="1"/>
          <p:nvPr/>
        </p:nvSpPr>
        <p:spPr>
          <a:xfrm>
            <a:off x="4584801" y="4261903"/>
            <a:ext cx="2293315" cy="1112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Facilities 7 &amp; 9</a:t>
            </a:r>
          </a:p>
          <a:p>
            <a:pPr algn="ctr"/>
            <a:r>
              <a:rPr lang="en-US" sz="1400" b="1" dirty="0">
                <a:solidFill>
                  <a:schemeClr val="bg1"/>
                </a:solidFill>
              </a:rPr>
              <a:t>George Washington Bridge Upper </a:t>
            </a:r>
            <a:r>
              <a:rPr lang="en-US" sz="14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</a:t>
            </a:r>
            <a:r>
              <a:rPr lang="en-US" sz="1400" b="1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b="1" dirty="0">
                <a:solidFill>
                  <a:schemeClr val="bg1"/>
                </a:solidFill>
              </a:rPr>
              <a:t>George Washington Bridge Lower</a:t>
            </a:r>
            <a:endParaRPr lang="en-US" sz="1300" dirty="0"/>
          </a:p>
        </p:txBody>
      </p:sp>
      <p:sp>
        <p:nvSpPr>
          <p:cNvPr id="18" name="Text 12"/>
          <p:cNvSpPr txBox="1"/>
          <p:nvPr/>
        </p:nvSpPr>
        <p:spPr>
          <a:xfrm>
            <a:off x="7400239" y="2990088"/>
            <a:ext cx="4153205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0" b="1" kern="0" spc="-225" dirty="0">
                <a:solidFill>
                  <a:schemeClr val="accent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95,000+</a:t>
            </a:r>
            <a:endParaRPr lang="en-US" sz="7500" dirty="0">
              <a:solidFill>
                <a:schemeClr val="accent4"/>
              </a:solidFill>
            </a:endParaRPr>
          </a:p>
        </p:txBody>
      </p:sp>
      <p:sp>
        <p:nvSpPr>
          <p:cNvPr id="19" name="Text 13"/>
          <p:cNvSpPr txBox="1"/>
          <p:nvPr/>
        </p:nvSpPr>
        <p:spPr>
          <a:xfrm>
            <a:off x="8032090" y="4133088"/>
            <a:ext cx="289041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Vehicles in a Single Day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8664854" y="4437583"/>
            <a:ext cx="162123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Peak daily traffic</a:t>
            </a:r>
            <a:endParaRPr lang="en-US" sz="13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5"/>
          <a:srcRect t="-498" b="-498"/>
          <a:stretch/>
        </p:blipFill>
        <p:spPr>
          <a:xfrm>
            <a:off x="2458822" y="5550408"/>
            <a:ext cx="7276795" cy="743407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2458822" y="5550408"/>
            <a:ext cx="7276795" cy="743407"/>
          </a:xfrm>
          <a:prstGeom prst="roundRect">
            <a:avLst>
              <a:gd name="adj" fmla="val 123001"/>
            </a:avLst>
          </a:prstGeom>
          <a:noFill/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2824223" y="5550408"/>
            <a:ext cx="6912309" cy="7434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71500" tIns="228600" rIns="571500" bIns="22860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Traffic patterns repeat consistently across time and location </a:t>
            </a:r>
            <a:endParaRPr lang="en-US" sz="1600" dirty="0"/>
          </a:p>
        </p:txBody>
      </p:sp>
      <p:sp>
        <p:nvSpPr>
          <p:cNvPr id="24" name="Text 17"/>
          <p:cNvSpPr txBox="1"/>
          <p:nvPr/>
        </p:nvSpPr>
        <p:spPr>
          <a:xfrm>
            <a:off x="2127809" y="1143000"/>
            <a:ext cx="7936992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kern="0" spc="-75" dirty="0">
                <a:solidFill>
                  <a:schemeClr val="accent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</a:t>
            </a:r>
            <a:r>
              <a:rPr lang="en-US" sz="4800" b="1" kern="0" spc="-75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Traffic is Not Random</a:t>
            </a:r>
            <a:r>
              <a:rPr lang="en-US" sz="4800" b="1" kern="0" spc="-75" dirty="0">
                <a:solidFill>
                  <a:schemeClr val="accent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”</a:t>
            </a:r>
            <a:endParaRPr lang="en-US" sz="4800" dirty="0">
              <a:solidFill>
                <a:schemeClr val="accent4"/>
              </a:solidFill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6C7DAD2F-4339-38CF-D3AC-D2A009268D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51265" y="42977"/>
            <a:ext cx="1275338" cy="67665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5EB548C-8BEE-6186-4E2E-7C259CF03369}"/>
              </a:ext>
            </a:extLst>
          </p:cNvPr>
          <p:cNvSpPr txBox="1"/>
          <p:nvPr/>
        </p:nvSpPr>
        <p:spPr>
          <a:xfrm>
            <a:off x="11766897" y="6158526"/>
            <a:ext cx="381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3</a:t>
            </a: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761695" y="652882"/>
            <a:ext cx="495605" cy="495605"/>
          </a:xfrm>
          <a:prstGeom prst="roundRect">
            <a:avLst>
              <a:gd name="adj" fmla="val 85155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4"/>
          <a:srcRect t="-13131" b="-13131"/>
          <a:stretch/>
        </p:blipFill>
        <p:spPr>
          <a:xfrm>
            <a:off x="918972" y="785470"/>
            <a:ext cx="181051" cy="22860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1447495" y="571500"/>
            <a:ext cx="5599786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37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Questions We Addressed</a:t>
            </a:r>
            <a:endParaRPr lang="en-US" sz="2700" dirty="0"/>
          </a:p>
        </p:txBody>
      </p:sp>
      <p:sp>
        <p:nvSpPr>
          <p:cNvPr id="8" name="Text 3"/>
          <p:cNvSpPr txBox="1"/>
          <p:nvPr/>
        </p:nvSpPr>
        <p:spPr>
          <a:xfrm>
            <a:off x="1447495" y="1028700"/>
            <a:ext cx="58585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Five critical business questions with facility-level answers</a:t>
            </a:r>
            <a:endParaRPr lang="en-US" sz="1300" dirty="0"/>
          </a:p>
        </p:txBody>
      </p:sp>
      <p:sp>
        <p:nvSpPr>
          <p:cNvPr id="9" name="Shape 4"/>
          <p:cNvSpPr/>
          <p:nvPr/>
        </p:nvSpPr>
        <p:spPr>
          <a:xfrm>
            <a:off x="9699955" y="733349"/>
            <a:ext cx="1733702" cy="333756"/>
          </a:xfrm>
          <a:prstGeom prst="roundRect">
            <a:avLst>
              <a:gd name="adj" fmla="val 273973"/>
            </a:avLst>
          </a:prstGeom>
          <a:solidFill>
            <a:srgbClr val="3B82F6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10004450" y="809244"/>
            <a:ext cx="150876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Analysis Complete</a:t>
            </a:r>
            <a:endParaRPr lang="en-US" sz="1100" dirty="0"/>
          </a:p>
        </p:txBody>
      </p:sp>
      <p:sp>
        <p:nvSpPr>
          <p:cNvPr id="11" name="Shape 6"/>
          <p:cNvSpPr/>
          <p:nvPr/>
        </p:nvSpPr>
        <p:spPr>
          <a:xfrm>
            <a:off x="761695" y="5705856"/>
            <a:ext cx="106683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/>
          <a:srcRect t="-16800" b="-16800"/>
          <a:stretch/>
        </p:blipFill>
        <p:spPr>
          <a:xfrm>
            <a:off x="761695" y="6019495"/>
            <a:ext cx="114300" cy="152705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990295" y="6001207"/>
            <a:ext cx="47530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question directly connects to operational decisions</a:t>
            </a:r>
            <a:endParaRPr lang="en-US" sz="14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6"/>
          <a:srcRect t="-33500" b="-33500"/>
          <a:stretch/>
        </p:blipFill>
        <p:spPr>
          <a:xfrm>
            <a:off x="9346997" y="6019495"/>
            <a:ext cx="114300" cy="152705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9852660" y="862279"/>
            <a:ext cx="75895" cy="75895"/>
          </a:xfrm>
          <a:prstGeom prst="ellipse">
            <a:avLst/>
          </a:prstGeom>
          <a:solidFill>
            <a:srgbClr val="3B82F6">
              <a:alpha val="8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0"/>
          <p:cNvSpPr/>
          <p:nvPr/>
        </p:nvSpPr>
        <p:spPr>
          <a:xfrm>
            <a:off x="761695" y="1895551"/>
            <a:ext cx="1952244" cy="3810305"/>
          </a:xfrm>
          <a:prstGeom prst="roundRect">
            <a:avLst>
              <a:gd name="adj" fmla="val 731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8" name="Shape 11"/>
          <p:cNvSpPr/>
          <p:nvPr/>
        </p:nvSpPr>
        <p:spPr>
          <a:xfrm>
            <a:off x="2245766" y="2057400"/>
            <a:ext cx="304495" cy="304495"/>
          </a:xfrm>
          <a:prstGeom prst="ellipse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2"/>
          <p:cNvSpPr/>
          <p:nvPr/>
        </p:nvSpPr>
        <p:spPr>
          <a:xfrm>
            <a:off x="2245766" y="2057400"/>
            <a:ext cx="305410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1442009" y="2361895"/>
            <a:ext cx="590702" cy="590702"/>
          </a:xfrm>
          <a:prstGeom prst="roundRect">
            <a:avLst>
              <a:gd name="adj" fmla="val 59922"/>
            </a:avLst>
          </a:prstGeom>
          <a:solidFill>
            <a:srgbClr val="3B82F6">
              <a:alpha val="15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7"/>
          <a:srcRect t="-13755" b="-13755"/>
          <a:stretch/>
        </p:blipFill>
        <p:spPr>
          <a:xfrm>
            <a:off x="1632204" y="2523744"/>
            <a:ext cx="209398" cy="267005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1000354" y="3258007"/>
            <a:ext cx="1476756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</a:t>
            </a: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Drives</a:t>
            </a: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Traffic</a:t>
            </a:r>
            <a:endParaRPr lang="en-US" sz="1500" dirty="0"/>
          </a:p>
        </p:txBody>
      </p:sp>
      <p:sp>
        <p:nvSpPr>
          <p:cNvPr id="23" name="Text 15"/>
          <p:cNvSpPr txBox="1"/>
          <p:nvPr/>
        </p:nvSpPr>
        <p:spPr>
          <a:xfrm>
            <a:off x="1000354" y="3905402"/>
            <a:ext cx="1476756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factors affecting bridge and tunnel usage</a:t>
            </a:r>
            <a:endParaRPr lang="en-US" sz="1400" dirty="0"/>
          </a:p>
        </p:txBody>
      </p:sp>
      <p:sp>
        <p:nvSpPr>
          <p:cNvPr id="24" name="Shape 16"/>
          <p:cNvSpPr/>
          <p:nvPr/>
        </p:nvSpPr>
        <p:spPr>
          <a:xfrm>
            <a:off x="2941625" y="1895551"/>
            <a:ext cx="1952244" cy="3810305"/>
          </a:xfrm>
          <a:prstGeom prst="roundRect">
            <a:avLst>
              <a:gd name="adj" fmla="val 731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5" name="Shape 17"/>
          <p:cNvSpPr/>
          <p:nvPr/>
        </p:nvSpPr>
        <p:spPr>
          <a:xfrm>
            <a:off x="4425696" y="2057400"/>
            <a:ext cx="304495" cy="304495"/>
          </a:xfrm>
          <a:prstGeom prst="ellipse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18"/>
          <p:cNvSpPr/>
          <p:nvPr/>
        </p:nvSpPr>
        <p:spPr>
          <a:xfrm>
            <a:off x="4425696" y="2057400"/>
            <a:ext cx="305410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Shape 19"/>
          <p:cNvSpPr/>
          <p:nvPr/>
        </p:nvSpPr>
        <p:spPr>
          <a:xfrm>
            <a:off x="3621024" y="2361895"/>
            <a:ext cx="590702" cy="590702"/>
          </a:xfrm>
          <a:prstGeom prst="roundRect">
            <a:avLst>
              <a:gd name="adj" fmla="val 59922"/>
            </a:avLst>
          </a:prstGeom>
          <a:solidFill>
            <a:srgbClr val="3B82F6">
              <a:alpha val="15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8"/>
          <a:srcRect t="-13755" b="-13755"/>
          <a:stretch/>
        </p:blipFill>
        <p:spPr>
          <a:xfrm>
            <a:off x="3812134" y="2523744"/>
            <a:ext cx="209398" cy="267005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3147365" y="3258007"/>
            <a:ext cx="154167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Toll Violations</a:t>
            </a:r>
            <a:endParaRPr lang="en-US" sz="1600" dirty="0"/>
          </a:p>
        </p:txBody>
      </p:sp>
      <p:sp>
        <p:nvSpPr>
          <p:cNvPr id="30" name="Text 21"/>
          <p:cNvSpPr txBox="1"/>
          <p:nvPr/>
        </p:nvSpPr>
        <p:spPr>
          <a:xfrm>
            <a:off x="3179369" y="3905401"/>
            <a:ext cx="1476756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Analysis of violations by time and facility</a:t>
            </a:r>
            <a:endParaRPr lang="en-US" sz="1400" dirty="0"/>
          </a:p>
        </p:txBody>
      </p:sp>
      <p:sp>
        <p:nvSpPr>
          <p:cNvPr id="31" name="Shape 22"/>
          <p:cNvSpPr/>
          <p:nvPr/>
        </p:nvSpPr>
        <p:spPr>
          <a:xfrm>
            <a:off x="5120640" y="1895551"/>
            <a:ext cx="1952244" cy="3810305"/>
          </a:xfrm>
          <a:prstGeom prst="roundRect">
            <a:avLst>
              <a:gd name="adj" fmla="val 731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2" name="Shape 23"/>
          <p:cNvSpPr/>
          <p:nvPr/>
        </p:nvSpPr>
        <p:spPr>
          <a:xfrm>
            <a:off x="6604711" y="2057400"/>
            <a:ext cx="304495" cy="304495"/>
          </a:xfrm>
          <a:prstGeom prst="ellipse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24"/>
          <p:cNvSpPr/>
          <p:nvPr/>
        </p:nvSpPr>
        <p:spPr>
          <a:xfrm>
            <a:off x="6604711" y="2057400"/>
            <a:ext cx="305410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34" name="Shape 25"/>
          <p:cNvSpPr/>
          <p:nvPr/>
        </p:nvSpPr>
        <p:spPr>
          <a:xfrm>
            <a:off x="5800954" y="2361895"/>
            <a:ext cx="590702" cy="590702"/>
          </a:xfrm>
          <a:prstGeom prst="roundRect">
            <a:avLst>
              <a:gd name="adj" fmla="val 59922"/>
            </a:avLst>
          </a:prstGeom>
          <a:solidFill>
            <a:srgbClr val="3B82F6">
              <a:alpha val="15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9"/>
          <a:srcRect t="-13755" b="-13755"/>
          <a:stretch/>
        </p:blipFill>
        <p:spPr>
          <a:xfrm>
            <a:off x="5991149" y="2523744"/>
            <a:ext cx="209398" cy="267005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5358384" y="3258007"/>
            <a:ext cx="1476756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Busiest Time Periods</a:t>
            </a:r>
            <a:endParaRPr lang="en-US" sz="1600" dirty="0"/>
          </a:p>
        </p:txBody>
      </p:sp>
      <p:sp>
        <p:nvSpPr>
          <p:cNvPr id="37" name="Text 27"/>
          <p:cNvSpPr txBox="1"/>
          <p:nvPr/>
        </p:nvSpPr>
        <p:spPr>
          <a:xfrm>
            <a:off x="5358384" y="3905402"/>
            <a:ext cx="1476756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Peak demand patterns and seasonal trends</a:t>
            </a:r>
            <a:endParaRPr lang="en-US" sz="1400" dirty="0"/>
          </a:p>
        </p:txBody>
      </p:sp>
      <p:sp>
        <p:nvSpPr>
          <p:cNvPr id="38" name="Shape 28"/>
          <p:cNvSpPr/>
          <p:nvPr/>
        </p:nvSpPr>
        <p:spPr>
          <a:xfrm>
            <a:off x="7299655" y="1895551"/>
            <a:ext cx="1952244" cy="3810305"/>
          </a:xfrm>
          <a:prstGeom prst="roundRect">
            <a:avLst>
              <a:gd name="adj" fmla="val 731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9" name="Shape 29"/>
          <p:cNvSpPr/>
          <p:nvPr/>
        </p:nvSpPr>
        <p:spPr>
          <a:xfrm>
            <a:off x="8783726" y="2057400"/>
            <a:ext cx="304495" cy="304495"/>
          </a:xfrm>
          <a:prstGeom prst="ellipse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30"/>
          <p:cNvSpPr/>
          <p:nvPr/>
        </p:nvSpPr>
        <p:spPr>
          <a:xfrm>
            <a:off x="8783726" y="2057400"/>
            <a:ext cx="305410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41" name="Shape 31"/>
          <p:cNvSpPr/>
          <p:nvPr/>
        </p:nvSpPr>
        <p:spPr>
          <a:xfrm>
            <a:off x="7979969" y="2361895"/>
            <a:ext cx="590702" cy="590702"/>
          </a:xfrm>
          <a:prstGeom prst="roundRect">
            <a:avLst>
              <a:gd name="adj" fmla="val 59922"/>
            </a:avLst>
          </a:prstGeom>
          <a:solidFill>
            <a:srgbClr val="3B82F6">
              <a:alpha val="15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pic>
        <p:nvPicPr>
          <p:cNvPr id="42" name="Image 8" descr="preencoded.png"/>
          <p:cNvPicPr>
            <a:picLocks noChangeAspect="1"/>
          </p:cNvPicPr>
          <p:nvPr/>
        </p:nvPicPr>
        <p:blipFill>
          <a:blip r:embed="rId10"/>
          <a:srcRect t="-21725" b="-21725"/>
          <a:stretch/>
        </p:blipFill>
        <p:spPr>
          <a:xfrm>
            <a:off x="8170164" y="2523744"/>
            <a:ext cx="209398" cy="267005"/>
          </a:xfrm>
          <a:prstGeom prst="rect">
            <a:avLst/>
          </a:prstGeom>
        </p:spPr>
      </p:pic>
      <p:sp>
        <p:nvSpPr>
          <p:cNvPr id="43" name="Text 32"/>
          <p:cNvSpPr txBox="1"/>
          <p:nvPr/>
        </p:nvSpPr>
        <p:spPr>
          <a:xfrm>
            <a:off x="7538314" y="3258007"/>
            <a:ext cx="1476756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Congestion Pricing Impact</a:t>
            </a:r>
            <a:endParaRPr lang="en-US" sz="1600" dirty="0"/>
          </a:p>
        </p:txBody>
      </p:sp>
      <p:sp>
        <p:nvSpPr>
          <p:cNvPr id="44" name="Text 33"/>
          <p:cNvSpPr txBox="1"/>
          <p:nvPr/>
        </p:nvSpPr>
        <p:spPr>
          <a:xfrm>
            <a:off x="7538314" y="4088757"/>
            <a:ext cx="1476756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 pricing effects on traffic patterns</a:t>
            </a:r>
            <a:endParaRPr lang="en-US" sz="1400" dirty="0"/>
          </a:p>
        </p:txBody>
      </p:sp>
      <p:sp>
        <p:nvSpPr>
          <p:cNvPr id="45" name="Shape 34"/>
          <p:cNvSpPr/>
          <p:nvPr/>
        </p:nvSpPr>
        <p:spPr>
          <a:xfrm>
            <a:off x="9479585" y="1895551"/>
            <a:ext cx="1952244" cy="3810305"/>
          </a:xfrm>
          <a:prstGeom prst="roundRect">
            <a:avLst>
              <a:gd name="adj" fmla="val 731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6" name="Shape 35"/>
          <p:cNvSpPr/>
          <p:nvPr/>
        </p:nvSpPr>
        <p:spPr>
          <a:xfrm>
            <a:off x="10963656" y="2057400"/>
            <a:ext cx="304495" cy="304495"/>
          </a:xfrm>
          <a:prstGeom prst="ellipse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10963656" y="2057400"/>
            <a:ext cx="305410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200" dirty="0"/>
          </a:p>
        </p:txBody>
      </p:sp>
      <p:sp>
        <p:nvSpPr>
          <p:cNvPr id="48" name="Shape 37"/>
          <p:cNvSpPr/>
          <p:nvPr/>
        </p:nvSpPr>
        <p:spPr>
          <a:xfrm>
            <a:off x="10158984" y="2361895"/>
            <a:ext cx="590702" cy="590702"/>
          </a:xfrm>
          <a:prstGeom prst="roundRect">
            <a:avLst>
              <a:gd name="adj" fmla="val 59922"/>
            </a:avLst>
          </a:prstGeom>
          <a:solidFill>
            <a:srgbClr val="3B82F6">
              <a:alpha val="15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pic>
        <p:nvPicPr>
          <p:cNvPr id="49" name="Image 9" descr="preencoded.png"/>
          <p:cNvPicPr>
            <a:picLocks noChangeAspect="1"/>
          </p:cNvPicPr>
          <p:nvPr/>
        </p:nvPicPr>
        <p:blipFill>
          <a:blip r:embed="rId11"/>
          <a:srcRect t="-5786" b="-5786"/>
          <a:stretch/>
        </p:blipFill>
        <p:spPr>
          <a:xfrm>
            <a:off x="10350094" y="2523744"/>
            <a:ext cx="209398" cy="267005"/>
          </a:xfrm>
          <a:prstGeom prst="rect">
            <a:avLst/>
          </a:prstGeom>
        </p:spPr>
      </p:pic>
      <p:sp>
        <p:nvSpPr>
          <p:cNvPr id="50" name="Text 38"/>
          <p:cNvSpPr txBox="1"/>
          <p:nvPr/>
        </p:nvSpPr>
        <p:spPr>
          <a:xfrm>
            <a:off x="9717329" y="3258007"/>
            <a:ext cx="1476756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Traffic Demand</a:t>
            </a:r>
            <a:endParaRPr lang="en-US" sz="1600" dirty="0"/>
          </a:p>
        </p:txBody>
      </p:sp>
      <p:sp>
        <p:nvSpPr>
          <p:cNvPr id="51" name="Text 39"/>
          <p:cNvSpPr txBox="1"/>
          <p:nvPr/>
        </p:nvSpPr>
        <p:spPr>
          <a:xfrm>
            <a:off x="9791395" y="4110227"/>
            <a:ext cx="1476756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Forecasting beyond 2025</a:t>
            </a:r>
            <a:endParaRPr lang="en-US" sz="1400" dirty="0"/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5F6647E8-04B1-9A2B-886F-DDBDB56F6E4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851265" y="42977"/>
            <a:ext cx="1275338" cy="67665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C46AEE3-A1B1-804D-6BD1-955A15107F71}"/>
              </a:ext>
            </a:extLst>
          </p:cNvPr>
          <p:cNvSpPr txBox="1"/>
          <p:nvPr/>
        </p:nvSpPr>
        <p:spPr>
          <a:xfrm>
            <a:off x="11766897" y="6158526"/>
            <a:ext cx="381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4</a:t>
            </a:r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71500" y="653796"/>
            <a:ext cx="533095" cy="533095"/>
          </a:xfrm>
          <a:prstGeom prst="roundRect">
            <a:avLst>
              <a:gd name="adj" fmla="val 73511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4"/>
          <a:srcRect t="-7001" b="-7001"/>
          <a:stretch/>
        </p:blipFill>
        <p:spPr>
          <a:xfrm>
            <a:off x="743407" y="796442"/>
            <a:ext cx="190195" cy="247802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1295705" y="571500"/>
            <a:ext cx="919703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37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Building a Consistent Data Foundation</a:t>
            </a:r>
            <a:endParaRPr lang="en-US" sz="3100" dirty="0"/>
          </a:p>
        </p:txBody>
      </p:sp>
      <p:sp>
        <p:nvSpPr>
          <p:cNvPr id="8" name="Text 3"/>
          <p:cNvSpPr txBox="1"/>
          <p:nvPr/>
        </p:nvSpPr>
        <p:spPr>
          <a:xfrm>
            <a:off x="1295705" y="1068934"/>
            <a:ext cx="79534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preparation pipeline for reliable and actionable insights</a:t>
            </a:r>
            <a:endParaRPr lang="en-US" sz="1400" dirty="0"/>
          </a:p>
        </p:txBody>
      </p:sp>
      <p:sp>
        <p:nvSpPr>
          <p:cNvPr id="9" name="Shape 4"/>
          <p:cNvSpPr/>
          <p:nvPr/>
        </p:nvSpPr>
        <p:spPr>
          <a:xfrm>
            <a:off x="9738360" y="719633"/>
            <a:ext cx="1886407" cy="400507"/>
          </a:xfrm>
          <a:prstGeom prst="roundRect">
            <a:avLst>
              <a:gd name="adj" fmla="val 217439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10091318" y="824789"/>
            <a:ext cx="151699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 Complete</a:t>
            </a:r>
            <a:endParaRPr lang="en-US" sz="1200" dirty="0"/>
          </a:p>
        </p:txBody>
      </p:sp>
      <p:sp>
        <p:nvSpPr>
          <p:cNvPr id="11" name="Shape 6"/>
          <p:cNvSpPr/>
          <p:nvPr/>
        </p:nvSpPr>
        <p:spPr>
          <a:xfrm>
            <a:off x="571500" y="4078224"/>
            <a:ext cx="11048695" cy="933602"/>
          </a:xfrm>
          <a:prstGeom prst="roundRect">
            <a:avLst>
              <a:gd name="adj" fmla="val 23986"/>
            </a:avLst>
          </a:prstGeom>
          <a:solidFill>
            <a:srgbClr val="14B8A6">
              <a:alpha val="10000"/>
            </a:srgbClr>
          </a:solidFill>
          <a:ln w="12700">
            <a:solidFill>
              <a:srgbClr val="14B8A6">
                <a:alpha val="50000"/>
              </a:srgbClr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914400" y="4316882"/>
            <a:ext cx="457200" cy="457200"/>
          </a:xfrm>
          <a:prstGeom prst="roundRect">
            <a:avLst>
              <a:gd name="adj" fmla="val 83333"/>
            </a:avLst>
          </a:prstGeom>
          <a:solidFill>
            <a:srgbClr val="14B8A6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/>
          <a:srcRect l="-2800" r="-2800"/>
          <a:stretch/>
        </p:blipFill>
        <p:spPr>
          <a:xfrm>
            <a:off x="1052474" y="4431182"/>
            <a:ext cx="181051" cy="22860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561795" y="4316882"/>
            <a:ext cx="67537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consistent data structure enabled reliable and accurate analysis</a:t>
            </a:r>
            <a:endParaRPr lang="en-US" sz="1600" dirty="0"/>
          </a:p>
        </p:txBody>
      </p:sp>
      <p:sp>
        <p:nvSpPr>
          <p:cNvPr id="15" name="Text 9"/>
          <p:cNvSpPr txBox="1"/>
          <p:nvPr/>
        </p:nvSpPr>
        <p:spPr>
          <a:xfrm>
            <a:off x="1561795" y="4583887"/>
            <a:ext cx="633222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Standardized data format across all facilities for accurate analysis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571500" y="6038698"/>
            <a:ext cx="110486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6"/>
          <a:srcRect t="-16800" b="-16800"/>
          <a:stretch/>
        </p:blipFill>
        <p:spPr>
          <a:xfrm>
            <a:off x="571500" y="6305702"/>
            <a:ext cx="114300" cy="152705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780898" y="6286500"/>
            <a:ext cx="47055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data sources integrated into a unified master dataset</a:t>
            </a:r>
            <a:endParaRPr lang="en-US" sz="14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7"/>
          <a:srcRect t="-33500" b="-33500"/>
          <a:stretch/>
        </p:blipFill>
        <p:spPr>
          <a:xfrm>
            <a:off x="9556394" y="6305702"/>
            <a:ext cx="114300" cy="152705"/>
          </a:xfrm>
          <a:prstGeom prst="rect">
            <a:avLst/>
          </a:prstGeom>
        </p:spPr>
      </p:pic>
      <p:sp>
        <p:nvSpPr>
          <p:cNvPr id="21" name="Shape 13"/>
          <p:cNvSpPr/>
          <p:nvPr/>
        </p:nvSpPr>
        <p:spPr>
          <a:xfrm>
            <a:off x="9932213" y="875995"/>
            <a:ext cx="95098" cy="95098"/>
          </a:xfrm>
          <a:prstGeom prst="ellipse">
            <a:avLst/>
          </a:prstGeom>
          <a:solidFill>
            <a:srgbClr val="3B82F6">
              <a:alpha val="5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14"/>
          <p:cNvSpPr/>
          <p:nvPr/>
        </p:nvSpPr>
        <p:spPr>
          <a:xfrm>
            <a:off x="571500" y="1697126"/>
            <a:ext cx="1904695" cy="1904695"/>
          </a:xfrm>
          <a:prstGeom prst="roundRect">
            <a:avLst>
              <a:gd name="adj" fmla="val 672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3" name="Shape 15"/>
          <p:cNvSpPr/>
          <p:nvPr/>
        </p:nvSpPr>
        <p:spPr>
          <a:xfrm>
            <a:off x="1314907" y="2013509"/>
            <a:ext cx="418795" cy="418795"/>
          </a:xfrm>
          <a:prstGeom prst="roundRect">
            <a:avLst>
              <a:gd name="adj" fmla="val 99246"/>
            </a:avLst>
          </a:prstGeom>
          <a:solidFill>
            <a:srgbClr val="3B82F6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8"/>
          <a:srcRect l="-1528" r="-1528"/>
          <a:stretch/>
        </p:blipFill>
        <p:spPr>
          <a:xfrm>
            <a:off x="1442923" y="2118665"/>
            <a:ext cx="161849" cy="209398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692201" y="2585009"/>
            <a:ext cx="166329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Raw Data Sources</a:t>
            </a:r>
            <a:endParaRPr lang="en-US" sz="1400" dirty="0"/>
          </a:p>
        </p:txBody>
      </p:sp>
      <p:sp>
        <p:nvSpPr>
          <p:cNvPr id="26" name="Text 17"/>
          <p:cNvSpPr txBox="1"/>
          <p:nvPr/>
        </p:nvSpPr>
        <p:spPr>
          <a:xfrm>
            <a:off x="771754" y="2913278"/>
            <a:ext cx="15051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Traffic, Bus, Passenger, Speeds</a:t>
            </a:r>
            <a:endParaRPr lang="en-US" sz="1200" dirty="0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9">
            <a:alphaModFix amt="80000"/>
          </a:blip>
          <a:srcRect l="-14231" r="-14231"/>
          <a:stretch/>
        </p:blipFill>
        <p:spPr>
          <a:xfrm>
            <a:off x="2590495" y="2554834"/>
            <a:ext cx="152705" cy="190195"/>
          </a:xfrm>
          <a:prstGeom prst="rect">
            <a:avLst/>
          </a:prstGeom>
        </p:spPr>
      </p:pic>
      <p:sp>
        <p:nvSpPr>
          <p:cNvPr id="28" name="Shape 18"/>
          <p:cNvSpPr/>
          <p:nvPr/>
        </p:nvSpPr>
        <p:spPr>
          <a:xfrm>
            <a:off x="2857500" y="1697126"/>
            <a:ext cx="1904695" cy="1904695"/>
          </a:xfrm>
          <a:prstGeom prst="roundRect">
            <a:avLst>
              <a:gd name="adj" fmla="val 672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9" name="Shape 19"/>
          <p:cNvSpPr/>
          <p:nvPr/>
        </p:nvSpPr>
        <p:spPr>
          <a:xfrm>
            <a:off x="3600907" y="1927555"/>
            <a:ext cx="418795" cy="209398"/>
          </a:xfrm>
          <a:prstGeom prst="roundRect">
            <a:avLst>
              <a:gd name="adj" fmla="val 396982"/>
            </a:avLst>
          </a:prstGeom>
          <a:solidFill>
            <a:srgbClr val="3B82F6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10"/>
          <a:srcRect t="-22775" b="-22775"/>
          <a:stretch/>
        </p:blipFill>
        <p:spPr>
          <a:xfrm>
            <a:off x="3728923" y="1927555"/>
            <a:ext cx="161849" cy="209398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3057754" y="2289658"/>
            <a:ext cx="1505102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Granularity Mismatch</a:t>
            </a:r>
            <a:endParaRPr lang="en-US" sz="1400" dirty="0"/>
          </a:p>
        </p:txBody>
      </p:sp>
      <p:sp>
        <p:nvSpPr>
          <p:cNvPr id="32" name="Text 21"/>
          <p:cNvSpPr txBox="1"/>
          <p:nvPr/>
        </p:nvSpPr>
        <p:spPr>
          <a:xfrm>
            <a:off x="3057754" y="2811780"/>
            <a:ext cx="1505102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existed at multiple levels (lane, weekly, monthly)</a:t>
            </a:r>
            <a:endParaRPr lang="en-US" sz="1200" dirty="0"/>
          </a:p>
        </p:txBody>
      </p:sp>
      <p:pic>
        <p:nvPicPr>
          <p:cNvPr id="33" name="Image 9" descr="preencoded.png"/>
          <p:cNvPicPr>
            <a:picLocks noChangeAspect="1"/>
          </p:cNvPicPr>
          <p:nvPr/>
        </p:nvPicPr>
        <p:blipFill>
          <a:blip r:embed="rId9">
            <a:alphaModFix amt="80000"/>
          </a:blip>
          <a:srcRect l="-14231" r="-14231"/>
          <a:stretch/>
        </p:blipFill>
        <p:spPr>
          <a:xfrm>
            <a:off x="4876495" y="2554834"/>
            <a:ext cx="152705" cy="190195"/>
          </a:xfrm>
          <a:prstGeom prst="rect">
            <a:avLst/>
          </a:prstGeom>
        </p:spPr>
      </p:pic>
      <p:sp>
        <p:nvSpPr>
          <p:cNvPr id="34" name="Shape 22"/>
          <p:cNvSpPr/>
          <p:nvPr/>
        </p:nvSpPr>
        <p:spPr>
          <a:xfrm>
            <a:off x="5143500" y="1697126"/>
            <a:ext cx="1904695" cy="1904695"/>
          </a:xfrm>
          <a:prstGeom prst="roundRect">
            <a:avLst>
              <a:gd name="adj" fmla="val 6721"/>
            </a:avLst>
          </a:prstGeom>
          <a:solidFill>
            <a:srgbClr val="14B8A6">
              <a:alpha val="15000"/>
            </a:srgbClr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35" name="Shape 23"/>
          <p:cNvSpPr/>
          <p:nvPr/>
        </p:nvSpPr>
        <p:spPr>
          <a:xfrm>
            <a:off x="5886907" y="1944929"/>
            <a:ext cx="418795" cy="362102"/>
          </a:xfrm>
          <a:prstGeom prst="roundRect">
            <a:avLst>
              <a:gd name="adj" fmla="val 132908"/>
            </a:avLst>
          </a:prstGeom>
          <a:solidFill>
            <a:srgbClr val="14B8A6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6" name="Image 10" descr="preencoded.png"/>
          <p:cNvPicPr>
            <a:picLocks noChangeAspect="1"/>
          </p:cNvPicPr>
          <p:nvPr/>
        </p:nvPicPr>
        <p:blipFill>
          <a:blip r:embed="rId11"/>
          <a:srcRect t="-22775" b="-22775"/>
          <a:stretch/>
        </p:blipFill>
        <p:spPr>
          <a:xfrm>
            <a:off x="6014923" y="2020824"/>
            <a:ext cx="161849" cy="209398"/>
          </a:xfrm>
          <a:prstGeom prst="rect">
            <a:avLst/>
          </a:prstGeom>
        </p:spPr>
      </p:pic>
      <p:sp>
        <p:nvSpPr>
          <p:cNvPr id="37" name="Text 24"/>
          <p:cNvSpPr txBox="1"/>
          <p:nvPr/>
        </p:nvSpPr>
        <p:spPr>
          <a:xfrm>
            <a:off x="5352898" y="2459736"/>
            <a:ext cx="148590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Defined Analytical Grain</a:t>
            </a:r>
            <a:endParaRPr lang="en-US" sz="1400" dirty="0"/>
          </a:p>
        </p:txBody>
      </p:sp>
      <p:sp>
        <p:nvSpPr>
          <p:cNvPr id="38" name="Text 25"/>
          <p:cNvSpPr txBox="1"/>
          <p:nvPr/>
        </p:nvSpPr>
        <p:spPr>
          <a:xfrm>
            <a:off x="5352898" y="2981858"/>
            <a:ext cx="14859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Facility × Date — Daily Level</a:t>
            </a:r>
            <a:endParaRPr lang="en-US" sz="1200" dirty="0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 r:embed="rId9">
            <a:alphaModFix amt="80000"/>
          </a:blip>
          <a:srcRect l="-14231" r="-14231"/>
          <a:stretch/>
        </p:blipFill>
        <p:spPr>
          <a:xfrm>
            <a:off x="7162495" y="2554834"/>
            <a:ext cx="152705" cy="190195"/>
          </a:xfrm>
          <a:prstGeom prst="rect">
            <a:avLst/>
          </a:prstGeom>
        </p:spPr>
      </p:pic>
      <p:sp>
        <p:nvSpPr>
          <p:cNvPr id="40" name="Shape 26"/>
          <p:cNvSpPr/>
          <p:nvPr/>
        </p:nvSpPr>
        <p:spPr>
          <a:xfrm>
            <a:off x="7429500" y="1697126"/>
            <a:ext cx="1904695" cy="1904695"/>
          </a:xfrm>
          <a:prstGeom prst="roundRect">
            <a:avLst>
              <a:gd name="adj" fmla="val 672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1" name="Shape 27"/>
          <p:cNvSpPr/>
          <p:nvPr/>
        </p:nvSpPr>
        <p:spPr>
          <a:xfrm>
            <a:off x="8172907" y="1935785"/>
            <a:ext cx="418795" cy="381305"/>
          </a:xfrm>
          <a:prstGeom prst="roundRect">
            <a:avLst>
              <a:gd name="adj" fmla="val 119904"/>
            </a:avLst>
          </a:prstGeom>
          <a:solidFill>
            <a:srgbClr val="3B82F6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2" name="Image 12" descr="preencoded.png"/>
          <p:cNvPicPr>
            <a:picLocks noChangeAspect="1"/>
          </p:cNvPicPr>
          <p:nvPr/>
        </p:nvPicPr>
        <p:blipFill>
          <a:blip r:embed="rId12"/>
          <a:srcRect t="-14689" b="-14689"/>
          <a:stretch/>
        </p:blipFill>
        <p:spPr>
          <a:xfrm>
            <a:off x="8300923" y="2020824"/>
            <a:ext cx="161849" cy="209398"/>
          </a:xfrm>
          <a:prstGeom prst="rect">
            <a:avLst/>
          </a:prstGeom>
        </p:spPr>
      </p:pic>
      <p:sp>
        <p:nvSpPr>
          <p:cNvPr id="43" name="Text 28"/>
          <p:cNvSpPr txBox="1"/>
          <p:nvPr/>
        </p:nvSpPr>
        <p:spPr>
          <a:xfrm>
            <a:off x="7629754" y="2468880"/>
            <a:ext cx="1505102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Aggregation &amp; Integration</a:t>
            </a:r>
            <a:endParaRPr lang="en-US" sz="1400" dirty="0"/>
          </a:p>
        </p:txBody>
      </p:sp>
      <p:sp>
        <p:nvSpPr>
          <p:cNvPr id="44" name="Text 29"/>
          <p:cNvSpPr txBox="1"/>
          <p:nvPr/>
        </p:nvSpPr>
        <p:spPr>
          <a:xfrm>
            <a:off x="7629754" y="2991002"/>
            <a:ext cx="15051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data aligned to daily facility level</a:t>
            </a:r>
            <a:endParaRPr lang="en-US" sz="1200" dirty="0"/>
          </a:p>
        </p:txBody>
      </p:sp>
      <p:pic>
        <p:nvPicPr>
          <p:cNvPr id="45" name="Image 13" descr="preencoded.png"/>
          <p:cNvPicPr>
            <a:picLocks noChangeAspect="1"/>
          </p:cNvPicPr>
          <p:nvPr/>
        </p:nvPicPr>
        <p:blipFill>
          <a:blip r:embed="rId9">
            <a:alphaModFix amt="80000"/>
          </a:blip>
          <a:srcRect l="-14231" r="-14231"/>
          <a:stretch/>
        </p:blipFill>
        <p:spPr>
          <a:xfrm>
            <a:off x="9448495" y="2554834"/>
            <a:ext cx="152705" cy="190195"/>
          </a:xfrm>
          <a:prstGeom prst="rect">
            <a:avLst/>
          </a:prstGeom>
        </p:spPr>
      </p:pic>
      <p:sp>
        <p:nvSpPr>
          <p:cNvPr id="46" name="Shape 30"/>
          <p:cNvSpPr/>
          <p:nvPr/>
        </p:nvSpPr>
        <p:spPr>
          <a:xfrm>
            <a:off x="9715500" y="1697126"/>
            <a:ext cx="1904695" cy="1904695"/>
          </a:xfrm>
          <a:prstGeom prst="roundRect">
            <a:avLst>
              <a:gd name="adj" fmla="val 672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7" name="Shape 31"/>
          <p:cNvSpPr/>
          <p:nvPr/>
        </p:nvSpPr>
        <p:spPr>
          <a:xfrm>
            <a:off x="10458907" y="2009851"/>
            <a:ext cx="418795" cy="418795"/>
          </a:xfrm>
          <a:prstGeom prst="roundRect">
            <a:avLst>
              <a:gd name="adj" fmla="val 99246"/>
            </a:avLst>
          </a:prstGeom>
          <a:solidFill>
            <a:srgbClr val="3B82F6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8" name="Image 14" descr="preencoded.png"/>
          <p:cNvPicPr>
            <a:picLocks noChangeAspect="1"/>
          </p:cNvPicPr>
          <p:nvPr/>
        </p:nvPicPr>
        <p:blipFill>
          <a:blip r:embed="rId13"/>
          <a:srcRect t="-14689" b="-14689"/>
          <a:stretch/>
        </p:blipFill>
        <p:spPr>
          <a:xfrm>
            <a:off x="10586923" y="2115007"/>
            <a:ext cx="161849" cy="209398"/>
          </a:xfrm>
          <a:prstGeom prst="rect">
            <a:avLst/>
          </a:prstGeom>
        </p:spPr>
      </p:pic>
      <p:sp>
        <p:nvSpPr>
          <p:cNvPr id="49" name="Text 32"/>
          <p:cNvSpPr txBox="1"/>
          <p:nvPr/>
        </p:nvSpPr>
        <p:spPr>
          <a:xfrm>
            <a:off x="9915754" y="2581351"/>
            <a:ext cx="1505102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Unified Master Dataset</a:t>
            </a:r>
            <a:endParaRPr lang="en-US" sz="1400" dirty="0"/>
          </a:p>
        </p:txBody>
      </p:sp>
      <p:sp>
        <p:nvSpPr>
          <p:cNvPr id="50" name="Text 33"/>
          <p:cNvSpPr txBox="1"/>
          <p:nvPr/>
        </p:nvSpPr>
        <p:spPr>
          <a:xfrm>
            <a:off x="9816084" y="3103474"/>
            <a:ext cx="171084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Analysis-ready data</a:t>
            </a:r>
            <a:endParaRPr lang="en-US" sz="1200" dirty="0"/>
          </a:p>
        </p:txBody>
      </p:sp>
      <p:sp>
        <p:nvSpPr>
          <p:cNvPr id="51" name="Shape 34"/>
          <p:cNvSpPr/>
          <p:nvPr/>
        </p:nvSpPr>
        <p:spPr>
          <a:xfrm>
            <a:off x="2295144" y="1592885"/>
            <a:ext cx="286207" cy="286207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Text 35"/>
          <p:cNvSpPr/>
          <p:nvPr/>
        </p:nvSpPr>
        <p:spPr>
          <a:xfrm>
            <a:off x="2295144" y="1592885"/>
            <a:ext cx="28620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100" dirty="0"/>
          </a:p>
        </p:txBody>
      </p:sp>
      <p:sp>
        <p:nvSpPr>
          <p:cNvPr id="53" name="Shape 36"/>
          <p:cNvSpPr/>
          <p:nvPr/>
        </p:nvSpPr>
        <p:spPr>
          <a:xfrm>
            <a:off x="4581144" y="1592885"/>
            <a:ext cx="286207" cy="286207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Text 37"/>
          <p:cNvSpPr/>
          <p:nvPr/>
        </p:nvSpPr>
        <p:spPr>
          <a:xfrm>
            <a:off x="4581144" y="1592885"/>
            <a:ext cx="28620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100" dirty="0"/>
          </a:p>
        </p:txBody>
      </p:sp>
      <p:sp>
        <p:nvSpPr>
          <p:cNvPr id="55" name="Shape 38"/>
          <p:cNvSpPr/>
          <p:nvPr/>
        </p:nvSpPr>
        <p:spPr>
          <a:xfrm>
            <a:off x="6858000" y="1602029"/>
            <a:ext cx="286207" cy="286207"/>
          </a:xfrm>
          <a:prstGeom prst="ellipse">
            <a:avLst/>
          </a:prstGeom>
          <a:solidFill>
            <a:srgbClr val="14B8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Text 39"/>
          <p:cNvSpPr/>
          <p:nvPr/>
        </p:nvSpPr>
        <p:spPr>
          <a:xfrm>
            <a:off x="6858000" y="1602029"/>
            <a:ext cx="28620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100" dirty="0"/>
          </a:p>
        </p:txBody>
      </p:sp>
      <p:sp>
        <p:nvSpPr>
          <p:cNvPr id="57" name="Shape 40"/>
          <p:cNvSpPr/>
          <p:nvPr/>
        </p:nvSpPr>
        <p:spPr>
          <a:xfrm>
            <a:off x="9153144" y="1592885"/>
            <a:ext cx="286207" cy="286207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Text 41"/>
          <p:cNvSpPr/>
          <p:nvPr/>
        </p:nvSpPr>
        <p:spPr>
          <a:xfrm>
            <a:off x="9153144" y="1592885"/>
            <a:ext cx="28620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100" dirty="0"/>
          </a:p>
        </p:txBody>
      </p:sp>
      <p:sp>
        <p:nvSpPr>
          <p:cNvPr id="59" name="Shape 42"/>
          <p:cNvSpPr/>
          <p:nvPr/>
        </p:nvSpPr>
        <p:spPr>
          <a:xfrm>
            <a:off x="11439144" y="1592885"/>
            <a:ext cx="286207" cy="286207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Text 43"/>
          <p:cNvSpPr/>
          <p:nvPr/>
        </p:nvSpPr>
        <p:spPr>
          <a:xfrm>
            <a:off x="11439144" y="1592885"/>
            <a:ext cx="28620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100" dirty="0"/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839C3C1F-AB65-E22A-E6B0-5BB716A7AF8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851265" y="42977"/>
            <a:ext cx="1275338" cy="67665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8EEE7B2-ADDA-F225-2238-C0D7BE72E0AD}"/>
              </a:ext>
            </a:extLst>
          </p:cNvPr>
          <p:cNvSpPr txBox="1"/>
          <p:nvPr/>
        </p:nvSpPr>
        <p:spPr>
          <a:xfrm>
            <a:off x="11766897" y="6158526"/>
            <a:ext cx="381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5</a:t>
            </a:r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761695" y="571500"/>
            <a:ext cx="23820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14B8A6">
                    <a:alpha val="8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Question 1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1076446" y="2572207"/>
            <a:ext cx="9762852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kern="0" spc="-75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What actually </a:t>
            </a:r>
            <a:r>
              <a:rPr lang="en-US" sz="5400" b="1" u="sng" kern="0" spc="-75" dirty="0">
                <a:solidFill>
                  <a:schemeClr val="accent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drives traffic</a:t>
            </a:r>
            <a:endParaRPr lang="en-US" sz="5400" u="sng" dirty="0">
              <a:solidFill>
                <a:schemeClr val="accent4"/>
              </a:solidFill>
            </a:endParaRPr>
          </a:p>
          <a:p>
            <a:pPr marL="0" indent="0" algn="ctr">
              <a:buNone/>
            </a:pPr>
            <a:r>
              <a:rPr lang="en-US" sz="5400" b="1" kern="0" spc="-75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across these facilities? </a:t>
            </a:r>
            <a:endParaRPr lang="en-US" sz="5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614DF7C-34A1-1231-EF3A-5688FEEAFE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51265" y="42977"/>
            <a:ext cx="1275338" cy="67665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1AB8153-5857-8D2C-8733-5734BC933BC6}"/>
              </a:ext>
            </a:extLst>
          </p:cNvPr>
          <p:cNvSpPr txBox="1"/>
          <p:nvPr/>
        </p:nvSpPr>
        <p:spPr>
          <a:xfrm>
            <a:off x="11766897" y="6158526"/>
            <a:ext cx="381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6</a:t>
            </a:r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33195" y="5810098"/>
            <a:ext cx="9562795" cy="666598"/>
          </a:xfrm>
          <a:prstGeom prst="roundRect">
            <a:avLst>
              <a:gd name="adj" fmla="val 15677"/>
            </a:avLst>
          </a:prstGeom>
          <a:solidFill>
            <a:srgbClr val="14B8A6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333195" y="5810098"/>
            <a:ext cx="38405" cy="666598"/>
          </a:xfrm>
          <a:prstGeom prst="roundRect">
            <a:avLst>
              <a:gd name="adj" fmla="val 272107"/>
            </a:avLst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735404"/>
            <a:ext cx="1187257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kern="0" spc="-37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Traffic is Driven by Location, Time, and Weather</a:t>
            </a:r>
            <a:endParaRPr lang="en-US" sz="3100" dirty="0"/>
          </a:p>
        </p:txBody>
      </p:sp>
      <p:sp>
        <p:nvSpPr>
          <p:cNvPr id="7" name="Text 5"/>
          <p:cNvSpPr txBox="1"/>
          <p:nvPr/>
        </p:nvSpPr>
        <p:spPr>
          <a:xfrm>
            <a:off x="1333195" y="1238098"/>
            <a:ext cx="952530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Traffic patterns are primarily determined by location, predictable time behavior, and environmental conditions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2286000" y="1904695"/>
            <a:ext cx="76206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Relative Influence on Traffic (based on model results)</a:t>
            </a:r>
            <a:endParaRPr lang="en-US" sz="10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 t="-7" b="-7"/>
          <a:stretch/>
        </p:blipFill>
        <p:spPr>
          <a:xfrm>
            <a:off x="2286000" y="2190902"/>
            <a:ext cx="7619695" cy="323880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2433218" y="6019495"/>
            <a:ext cx="73344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kern="0" spc="38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Traffic is predictable and driven by measurable external factors</a:t>
            </a:r>
            <a:endParaRPr lang="en-US" sz="16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DE4CA05-29B4-528E-2997-733B1C5087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51265" y="42977"/>
            <a:ext cx="1275338" cy="67665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9B21E01-5C60-B9E3-E167-03F4E4CA254E}"/>
              </a:ext>
            </a:extLst>
          </p:cNvPr>
          <p:cNvSpPr txBox="1"/>
          <p:nvPr/>
        </p:nvSpPr>
        <p:spPr>
          <a:xfrm>
            <a:off x="11766897" y="6158526"/>
            <a:ext cx="381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7</a:t>
            </a:r>
          </a:p>
        </p:txBody>
      </p: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4"/>
          <a:srcRect l="-1" r="-1"/>
          <a:stretch/>
        </p:blipFill>
        <p:spPr>
          <a:xfrm>
            <a:off x="7239305" y="1524305"/>
            <a:ext cx="4229100" cy="4048049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1333195" y="5905195"/>
            <a:ext cx="9562795" cy="761695"/>
          </a:xfrm>
          <a:prstGeom prst="roundRect">
            <a:avLst>
              <a:gd name="adj" fmla="val 12005"/>
            </a:avLst>
          </a:prstGeom>
          <a:solidFill>
            <a:srgbClr val="14B8A6">
              <a:alpha val="15000"/>
            </a:srgbClr>
          </a:solidFill>
          <a:ln/>
        </p:spPr>
      </p:sp>
      <p:sp>
        <p:nvSpPr>
          <p:cNvPr id="7" name="Shape 2"/>
          <p:cNvSpPr/>
          <p:nvPr/>
        </p:nvSpPr>
        <p:spPr>
          <a:xfrm>
            <a:off x="1333195" y="5905195"/>
            <a:ext cx="38405" cy="761695"/>
          </a:xfrm>
          <a:prstGeom prst="roundRect">
            <a:avLst>
              <a:gd name="adj" fmla="val 238094"/>
            </a:avLst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476403" y="502004"/>
            <a:ext cx="10668305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-37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Traffic Is Dominated by Location — Supported by Clear Behavioral Patterns</a:t>
            </a:r>
            <a:endParaRPr lang="en-US" sz="2800" dirty="0"/>
          </a:p>
        </p:txBody>
      </p:sp>
      <p:sp>
        <p:nvSpPr>
          <p:cNvPr id="9" name="Text 4"/>
          <p:cNvSpPr txBox="1"/>
          <p:nvPr/>
        </p:nvSpPr>
        <p:spPr>
          <a:xfrm>
            <a:off x="761695" y="1524305"/>
            <a:ext cx="6096305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Facility (FAC) drives the majority of traffic variation</a:t>
            </a:r>
            <a:endParaRPr lang="en-US" sz="2100" dirty="0"/>
          </a:p>
        </p:txBody>
      </p:sp>
      <p:sp>
        <p:nvSpPr>
          <p:cNvPr id="10" name="Shape 5"/>
          <p:cNvSpPr/>
          <p:nvPr/>
        </p:nvSpPr>
        <p:spPr>
          <a:xfrm>
            <a:off x="761695" y="2476195"/>
            <a:ext cx="5201107" cy="400507"/>
          </a:xfrm>
          <a:prstGeom prst="roundRect">
            <a:avLst>
              <a:gd name="adj" fmla="val 65232"/>
            </a:avLst>
          </a:prstGeom>
          <a:solidFill>
            <a:srgbClr val="14B8A6">
              <a:alpha val="80000"/>
            </a:srgbClr>
          </a:solidFill>
          <a:ln w="12700">
            <a:solidFill>
              <a:srgbClr val="14B8A6"/>
            </a:solidFill>
            <a:prstDash val="solid"/>
          </a:ln>
          <a:effectLst>
            <a:outerShdw blurRad="139700" dist="12700" dir="16200000" algn="bl" rotWithShape="0">
              <a:srgbClr val="14B8A6">
                <a:alpha val="40000"/>
              </a:srgbClr>
            </a:outerShdw>
          </a:effectLst>
        </p:spPr>
      </p:sp>
      <p:sp>
        <p:nvSpPr>
          <p:cNvPr id="11" name="Shape 6"/>
          <p:cNvSpPr/>
          <p:nvPr/>
        </p:nvSpPr>
        <p:spPr>
          <a:xfrm>
            <a:off x="761695" y="3238805"/>
            <a:ext cx="1524305" cy="286207"/>
          </a:xfrm>
          <a:prstGeom prst="roundRect">
            <a:avLst>
              <a:gd name="adj" fmla="val 85197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761695" y="3905402"/>
            <a:ext cx="857707" cy="286207"/>
          </a:xfrm>
          <a:prstGeom prst="roundRect">
            <a:avLst>
              <a:gd name="adj" fmla="val 8519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761695" y="4572000"/>
            <a:ext cx="571500" cy="286207"/>
          </a:xfrm>
          <a:prstGeom prst="roundRect">
            <a:avLst>
              <a:gd name="adj" fmla="val 85197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7524598" y="1857146"/>
            <a:ext cx="36201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Location Dominates Traffic Behavior</a:t>
            </a:r>
            <a:endParaRPr lang="en-US" sz="18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5"/>
          <a:srcRect t="-6336" b="-6336"/>
          <a:stretch/>
        </p:blipFill>
        <p:spPr>
          <a:xfrm>
            <a:off x="7524598" y="2704795"/>
            <a:ext cx="133502" cy="171907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7810805" y="2667305"/>
            <a:ext cx="3333902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Traffic volume varies significantly across facilities</a:t>
            </a:r>
            <a:endParaRPr lang="en-US" sz="13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rcRect t="-6336" b="-6336"/>
          <a:stretch/>
        </p:blipFill>
        <p:spPr>
          <a:xfrm>
            <a:off x="7524598" y="3358591"/>
            <a:ext cx="133502" cy="171907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7810805" y="3320186"/>
            <a:ext cx="3333902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facility serves different connectivity and demand patterns</a:t>
            </a:r>
            <a:endParaRPr lang="en-US" sz="13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5"/>
          <a:srcRect t="-6336" b="-6336"/>
          <a:stretch/>
        </p:blipFill>
        <p:spPr>
          <a:xfrm>
            <a:off x="7524598" y="4011473"/>
            <a:ext cx="133502" cy="171907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7810805" y="3973982"/>
            <a:ext cx="3333902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Time-based behavior creates predictable cycles</a:t>
            </a:r>
            <a:endParaRPr lang="en-US" sz="130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5"/>
          <a:srcRect t="-6336" b="-6336"/>
          <a:stretch/>
        </p:blipFill>
        <p:spPr>
          <a:xfrm>
            <a:off x="7524598" y="4665269"/>
            <a:ext cx="133502" cy="171907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7810805" y="4626864"/>
            <a:ext cx="3333902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Weather influences traffic but does not drive it</a:t>
            </a:r>
            <a:endParaRPr lang="en-US" sz="1300" dirty="0"/>
          </a:p>
        </p:txBody>
      </p:sp>
      <p:sp>
        <p:nvSpPr>
          <p:cNvPr id="23" name="Text 14"/>
          <p:cNvSpPr txBox="1"/>
          <p:nvPr/>
        </p:nvSpPr>
        <p:spPr>
          <a:xfrm>
            <a:off x="1714500" y="6014009"/>
            <a:ext cx="87636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kern="0" spc="38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Traffic is primarily driven by where people travel, not just when or under what conditions</a:t>
            </a:r>
            <a:endParaRPr lang="en-US" sz="1600" dirty="0"/>
          </a:p>
        </p:txBody>
      </p:sp>
      <p:sp>
        <p:nvSpPr>
          <p:cNvPr id="24" name="Text 15"/>
          <p:cNvSpPr txBox="1"/>
          <p:nvPr/>
        </p:nvSpPr>
        <p:spPr>
          <a:xfrm>
            <a:off x="952805" y="2553005"/>
            <a:ext cx="4763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Facility (Primary Driver)</a:t>
            </a:r>
            <a:endParaRPr lang="en-US" sz="1500" dirty="0"/>
          </a:p>
        </p:txBody>
      </p:sp>
      <p:sp>
        <p:nvSpPr>
          <p:cNvPr id="25" name="Text 16"/>
          <p:cNvSpPr txBox="1"/>
          <p:nvPr/>
        </p:nvSpPr>
        <p:spPr>
          <a:xfrm>
            <a:off x="2476195" y="3276295"/>
            <a:ext cx="38103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of Week (Secondary Pattern)</a:t>
            </a:r>
            <a:endParaRPr lang="en-US" sz="1300" dirty="0"/>
          </a:p>
        </p:txBody>
      </p:sp>
      <p:sp>
        <p:nvSpPr>
          <p:cNvPr id="26" name="Text 17"/>
          <p:cNvSpPr txBox="1"/>
          <p:nvPr/>
        </p:nvSpPr>
        <p:spPr>
          <a:xfrm>
            <a:off x="1809598" y="3943807"/>
            <a:ext cx="38103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Temperature (Supporting Factor)</a:t>
            </a:r>
            <a:endParaRPr lang="en-US" sz="1300" dirty="0"/>
          </a:p>
        </p:txBody>
      </p:sp>
      <p:sp>
        <p:nvSpPr>
          <p:cNvPr id="27" name="Text 18"/>
          <p:cNvSpPr txBox="1"/>
          <p:nvPr/>
        </p:nvSpPr>
        <p:spPr>
          <a:xfrm>
            <a:off x="1524305" y="4610405"/>
            <a:ext cx="38103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Wind (Minor Influence)</a:t>
            </a:r>
            <a:endParaRPr lang="en-US" sz="13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A3B0AAEC-59AB-546F-9193-713FCCDE09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51265" y="42977"/>
            <a:ext cx="1275338" cy="67665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A88DF16-FD3B-B100-1272-B98FD380B32D}"/>
              </a:ext>
            </a:extLst>
          </p:cNvPr>
          <p:cNvSpPr txBox="1"/>
          <p:nvPr/>
        </p:nvSpPr>
        <p:spPr>
          <a:xfrm>
            <a:off x="11766897" y="6158526"/>
            <a:ext cx="381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8</a:t>
            </a:r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rcRect t="-1" b="-1"/>
          <a:stretch/>
        </p:blipFill>
        <p:spPr>
          <a:xfrm>
            <a:off x="761695" y="1666951"/>
            <a:ext cx="3238805" cy="3943807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rcRect t="-1" b="-1"/>
          <a:stretch/>
        </p:blipFill>
        <p:spPr>
          <a:xfrm>
            <a:off x="4476902" y="1666951"/>
            <a:ext cx="3238805" cy="3943807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6"/>
          <a:srcRect t="-1" b="-1"/>
          <a:stretch/>
        </p:blipFill>
        <p:spPr>
          <a:xfrm>
            <a:off x="8191195" y="1666951"/>
            <a:ext cx="3238805" cy="3943807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>
            <a:off x="952805" y="6001207"/>
            <a:ext cx="10325405" cy="571500"/>
          </a:xfrm>
          <a:prstGeom prst="roundRect">
            <a:avLst>
              <a:gd name="adj" fmla="val 42667"/>
            </a:avLst>
          </a:prstGeom>
          <a:solidFill>
            <a:srgbClr val="14B8A6">
              <a:alpha val="10000"/>
            </a:srgbClr>
          </a:solidFill>
          <a:ln/>
        </p:spPr>
      </p:sp>
      <p:sp>
        <p:nvSpPr>
          <p:cNvPr id="8" name="Shape 2"/>
          <p:cNvSpPr/>
          <p:nvPr/>
        </p:nvSpPr>
        <p:spPr>
          <a:xfrm>
            <a:off x="952805" y="6001207"/>
            <a:ext cx="38405" cy="571500"/>
          </a:xfrm>
          <a:prstGeom prst="roundRect">
            <a:avLst>
              <a:gd name="adj" fmla="val 634917"/>
            </a:avLst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9" name="Text 3"/>
          <p:cNvSpPr txBox="1"/>
          <p:nvPr/>
        </p:nvSpPr>
        <p:spPr>
          <a:xfrm>
            <a:off x="761695" y="381305"/>
            <a:ext cx="10668305" cy="924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0" b="1" kern="0" spc="-37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Insight to Action: Managing Traffic Proactively</a:t>
            </a:r>
            <a:endParaRPr lang="en-US" sz="3300" dirty="0"/>
          </a:p>
        </p:txBody>
      </p:sp>
      <p:sp>
        <p:nvSpPr>
          <p:cNvPr id="10" name="Text 4"/>
          <p:cNvSpPr txBox="1"/>
          <p:nvPr/>
        </p:nvSpPr>
        <p:spPr>
          <a:xfrm>
            <a:off x="952805" y="2510942"/>
            <a:ext cx="2857500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Targeted Traffic Management</a:t>
            </a:r>
            <a:endParaRPr lang="en-US" sz="1600" dirty="0"/>
          </a:p>
        </p:txBody>
      </p:sp>
      <p:sp>
        <p:nvSpPr>
          <p:cNvPr id="11" name="Text 5"/>
          <p:cNvSpPr txBox="1"/>
          <p:nvPr/>
        </p:nvSpPr>
        <p:spPr>
          <a:xfrm>
            <a:off x="1067105" y="3191256"/>
            <a:ext cx="274320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chemeClr val="bg1"/>
                </a:solidFill>
              </a:rPr>
              <a:t>Prioritize facility-level monitoring because traffic usage is mainly driven by location.</a:t>
            </a:r>
          </a:p>
        </p:txBody>
      </p:sp>
      <p:sp>
        <p:nvSpPr>
          <p:cNvPr id="12" name="Text 6"/>
          <p:cNvSpPr txBox="1"/>
          <p:nvPr/>
        </p:nvSpPr>
        <p:spPr>
          <a:xfrm>
            <a:off x="1067105" y="3869741"/>
            <a:ext cx="274320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chemeClr val="bg1"/>
                </a:solidFill>
              </a:rPr>
              <a:t>Track each bridge and tunnel separately instead of relying on system-wide averages.</a:t>
            </a:r>
            <a:br>
              <a:rPr lang="en-US" sz="1200" dirty="0">
                <a:solidFill>
                  <a:schemeClr val="bg1"/>
                </a:solidFill>
              </a:rPr>
            </a:b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3" name="Text 7"/>
          <p:cNvSpPr txBox="1"/>
          <p:nvPr/>
        </p:nvSpPr>
        <p:spPr>
          <a:xfrm>
            <a:off x="1067105" y="4549140"/>
            <a:ext cx="274320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chemeClr val="bg1"/>
                </a:solidFill>
              </a:rPr>
              <a:t>Focus operational attention on high-demand facilities before congestion builds.</a:t>
            </a:r>
          </a:p>
        </p:txBody>
      </p:sp>
      <p:sp>
        <p:nvSpPr>
          <p:cNvPr id="14" name="Text 8"/>
          <p:cNvSpPr txBox="1"/>
          <p:nvPr/>
        </p:nvSpPr>
        <p:spPr>
          <a:xfrm>
            <a:off x="5157216" y="2636215"/>
            <a:ext cx="188732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to Execute</a:t>
            </a:r>
            <a:endParaRPr lang="en-US" sz="1600" dirty="0"/>
          </a:p>
        </p:txBody>
      </p:sp>
      <p:sp>
        <p:nvSpPr>
          <p:cNvPr id="15" name="Text 9"/>
          <p:cNvSpPr txBox="1"/>
          <p:nvPr/>
        </p:nvSpPr>
        <p:spPr>
          <a:xfrm>
            <a:off x="4781398" y="3191256"/>
            <a:ext cx="293613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chemeClr val="bg1"/>
                </a:solidFill>
              </a:rPr>
              <a:t>Review daily traffic patterns by facility, day of week, and weather conditions.</a:t>
            </a:r>
            <a:br>
              <a:rPr lang="en-US" sz="1200" dirty="0">
                <a:solidFill>
                  <a:schemeClr val="bg1"/>
                </a:solidFill>
              </a:rPr>
            </a:b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6" name="Text 10"/>
          <p:cNvSpPr txBox="1"/>
          <p:nvPr/>
        </p:nvSpPr>
        <p:spPr>
          <a:xfrm>
            <a:off x="4781398" y="3634740"/>
            <a:ext cx="274320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chemeClr val="bg1"/>
                </a:solidFill>
              </a:rPr>
              <a:t>Use facility dashboards to flag crossings with rising traffic or repeated peak periods.</a:t>
            </a:r>
            <a:br>
              <a:rPr lang="en-US" sz="1200" dirty="0">
                <a:solidFill>
                  <a:schemeClr val="bg1"/>
                </a:solidFill>
              </a:rPr>
            </a:b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7" name="Text 11"/>
          <p:cNvSpPr txBox="1"/>
          <p:nvPr/>
        </p:nvSpPr>
        <p:spPr>
          <a:xfrm>
            <a:off x="4781398" y="4314139"/>
            <a:ext cx="274320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chemeClr val="bg1"/>
                </a:solidFill>
              </a:rPr>
              <a:t>Align staffing, lane availability, and incident-response readiness with expected demand</a:t>
            </a:r>
          </a:p>
        </p:txBody>
      </p:sp>
      <p:sp>
        <p:nvSpPr>
          <p:cNvPr id="18" name="Text 12"/>
          <p:cNvSpPr txBox="1"/>
          <p:nvPr/>
        </p:nvSpPr>
        <p:spPr>
          <a:xfrm>
            <a:off x="8802014" y="2636215"/>
            <a:ext cx="202356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Expected Impact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8496605" y="3191256"/>
            <a:ext cx="274320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chemeClr val="bg1"/>
                </a:solidFill>
              </a:rPr>
              <a:t>Earlier identification of congestion risk at the facilities that matter most.</a:t>
            </a:r>
          </a:p>
        </p:txBody>
      </p:sp>
      <p:sp>
        <p:nvSpPr>
          <p:cNvPr id="20" name="Text 14"/>
          <p:cNvSpPr txBox="1"/>
          <p:nvPr/>
        </p:nvSpPr>
        <p:spPr>
          <a:xfrm>
            <a:off x="8496605" y="3869741"/>
            <a:ext cx="276606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chemeClr val="bg1"/>
                </a:solidFill>
              </a:rPr>
              <a:t>Better staffing and lane planning during predictable high-demand periods.</a:t>
            </a:r>
          </a:p>
        </p:txBody>
      </p:sp>
      <p:sp>
        <p:nvSpPr>
          <p:cNvPr id="21" name="Text 15"/>
          <p:cNvSpPr txBox="1"/>
          <p:nvPr/>
        </p:nvSpPr>
        <p:spPr>
          <a:xfrm>
            <a:off x="8496605" y="4441820"/>
            <a:ext cx="2856586" cy="37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chemeClr val="bg1"/>
                </a:solidFill>
              </a:rPr>
              <a:t>More reliable traffic flow through proactive, facility-specific decision-making.</a:t>
            </a:r>
          </a:p>
        </p:txBody>
      </p:sp>
      <p:sp>
        <p:nvSpPr>
          <p:cNvPr id="22" name="Text 16"/>
          <p:cNvSpPr txBox="1"/>
          <p:nvPr/>
        </p:nvSpPr>
        <p:spPr>
          <a:xfrm>
            <a:off x="1906524" y="6163056"/>
            <a:ext cx="8763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kern="0" spc="1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Traffic can be actively managed by focusing on location, timing, and conditions</a:t>
            </a:r>
            <a:endParaRPr lang="en-US" sz="16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1530D62-5D60-8DA0-6F6D-7B2364CF4B4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51265" y="42977"/>
            <a:ext cx="1275338" cy="676656"/>
          </a:xfrm>
          <a:prstGeom prst="rect">
            <a:avLst/>
          </a:prstGeom>
        </p:spPr>
      </p:pic>
      <p:pic>
        <p:nvPicPr>
          <p:cNvPr id="24" name="Image 5" descr="preencoded.png">
            <a:extLst>
              <a:ext uri="{FF2B5EF4-FFF2-40B4-BE49-F238E27FC236}">
                <a16:creationId xmlns:a16="http://schemas.microsoft.com/office/drawing/2014/main" id="{D57AD55C-E311-62A6-2457-17AA61B64DD5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90000"/>
          </a:blip>
          <a:srcRect/>
          <a:stretch/>
        </p:blipFill>
        <p:spPr>
          <a:xfrm>
            <a:off x="2229307" y="1943100"/>
            <a:ext cx="304495" cy="304495"/>
          </a:xfrm>
          <a:prstGeom prst="rect">
            <a:avLst/>
          </a:prstGeom>
        </p:spPr>
      </p:pic>
      <p:pic>
        <p:nvPicPr>
          <p:cNvPr id="25" name="Image 10" descr="preencoded.png">
            <a:extLst>
              <a:ext uri="{FF2B5EF4-FFF2-40B4-BE49-F238E27FC236}">
                <a16:creationId xmlns:a16="http://schemas.microsoft.com/office/drawing/2014/main" id="{E19D7928-3C5C-73B3-58E6-CCAA7863F1E7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 amt="90000"/>
          </a:blip>
          <a:srcRect l="-90" r="-90"/>
          <a:stretch/>
        </p:blipFill>
        <p:spPr>
          <a:xfrm>
            <a:off x="5905194" y="1984248"/>
            <a:ext cx="381305" cy="304495"/>
          </a:xfrm>
          <a:prstGeom prst="rect">
            <a:avLst/>
          </a:prstGeom>
        </p:spPr>
      </p:pic>
      <p:pic>
        <p:nvPicPr>
          <p:cNvPr id="26" name="Image 15" descr="preencoded.png">
            <a:extLst>
              <a:ext uri="{FF2B5EF4-FFF2-40B4-BE49-F238E27FC236}">
                <a16:creationId xmlns:a16="http://schemas.microsoft.com/office/drawing/2014/main" id="{2796DB1E-3281-C478-AD13-EC3CDED4274C}"/>
              </a:ext>
            </a:extLst>
          </p:cNvPr>
          <p:cNvPicPr>
            <a:picLocks noChangeAspect="1"/>
          </p:cNvPicPr>
          <p:nvPr/>
        </p:nvPicPr>
        <p:blipFill>
          <a:blip r:embed="rId10">
            <a:alphaModFix amt="90000"/>
          </a:blip>
          <a:srcRect/>
          <a:stretch/>
        </p:blipFill>
        <p:spPr>
          <a:xfrm>
            <a:off x="9658807" y="1943100"/>
            <a:ext cx="304495" cy="304495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ED4BC9B5-72AD-DF5E-14B6-ECF4CBD7663F}"/>
              </a:ext>
            </a:extLst>
          </p:cNvPr>
          <p:cNvSpPr txBox="1"/>
          <p:nvPr/>
        </p:nvSpPr>
        <p:spPr>
          <a:xfrm>
            <a:off x="11585448" y="6158526"/>
            <a:ext cx="5634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9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761695" y="571500"/>
            <a:ext cx="19056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14B8A6">
                    <a:alpha val="8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Question 2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2658161" y="2338121"/>
            <a:ext cx="68772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kern="0" spc="75" dirty="0">
                <a:solidFill>
                  <a:srgbClr val="FFFFFF">
                    <a:alpha val="7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Understanding Traffic Is Only Part of the Problem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1333195" y="2952598"/>
            <a:ext cx="9525305" cy="1334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kern="0" spc="-75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Where and how do </a:t>
            </a:r>
            <a:r>
              <a:rPr lang="en-US" sz="4200" b="1" u="sng" kern="0" spc="-75" dirty="0">
                <a:solidFill>
                  <a:schemeClr val="accent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violations</a:t>
            </a:r>
            <a:r>
              <a:rPr lang="en-US" sz="4200" b="1" kern="0" spc="-75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occur across facilities and time?</a:t>
            </a:r>
            <a:endParaRPr lang="en-US" sz="4200" dirty="0"/>
          </a:p>
        </p:txBody>
      </p:sp>
      <p:sp>
        <p:nvSpPr>
          <p:cNvPr id="9" name="Text 5"/>
          <p:cNvSpPr txBox="1"/>
          <p:nvPr/>
        </p:nvSpPr>
        <p:spPr>
          <a:xfrm>
            <a:off x="2790749" y="5043830"/>
            <a:ext cx="66202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kern="0" spc="38" dirty="0">
                <a:solidFill>
                  <a:srgbClr val="FFFFFF">
                    <a:alpha val="4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Traffic volume explains demand — violations reveal risk and behavior</a:t>
            </a:r>
            <a:endParaRPr lang="en-US" sz="13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64DD16D-B1F2-19F7-0BC3-A8841D054A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51265" y="42977"/>
            <a:ext cx="1275338" cy="67665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A1E1DB9-E33F-0341-0A7C-43A80CF812DB}"/>
              </a:ext>
            </a:extLst>
          </p:cNvPr>
          <p:cNvSpPr txBox="1"/>
          <p:nvPr/>
        </p:nvSpPr>
        <p:spPr>
          <a:xfrm>
            <a:off x="11620982" y="6158526"/>
            <a:ext cx="527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10</a:t>
            </a:r>
          </a:p>
        </p:txBody>
      </p:sp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48195" y="1524305"/>
            <a:ext cx="4401007" cy="4019702"/>
          </a:xfrm>
          <a:prstGeom prst="roundRect">
            <a:avLst>
              <a:gd name="adj" fmla="val 1294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1695" y="5905195"/>
            <a:ext cx="10705795" cy="571500"/>
          </a:xfrm>
          <a:prstGeom prst="roundRect">
            <a:avLst>
              <a:gd name="adj" fmla="val 21333"/>
            </a:avLst>
          </a:prstGeom>
          <a:solidFill>
            <a:srgbClr val="14B8A6">
              <a:alpha val="1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61695" y="5905195"/>
            <a:ext cx="38405" cy="571500"/>
          </a:xfrm>
          <a:prstGeom prst="roundRect">
            <a:avLst>
              <a:gd name="adj" fmla="val 317459"/>
            </a:avLst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61695" y="571500"/>
            <a:ext cx="122758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-37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Toll Violations Are Large-Scale and Highly Concentrated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761695" y="1238098"/>
            <a:ext cx="59061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Violation Distribution by Facility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7429500" y="1962302"/>
            <a:ext cx="362011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75" dirty="0">
                <a:solidFill>
                  <a:srgbClr val="14B8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8M+</a:t>
            </a:r>
            <a:endParaRPr lang="en-US" sz="4800" dirty="0"/>
          </a:p>
        </p:txBody>
      </p:sp>
      <p:sp>
        <p:nvSpPr>
          <p:cNvPr id="12" name="Text 8"/>
          <p:cNvSpPr txBox="1"/>
          <p:nvPr/>
        </p:nvSpPr>
        <p:spPr>
          <a:xfrm>
            <a:off x="7429500" y="2609698"/>
            <a:ext cx="36201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13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Violations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7429500" y="3333902"/>
            <a:ext cx="362011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~47% of violations come from just 2 facilities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7429500" y="4286707"/>
            <a:ext cx="362011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Violations are heavily concentrated rather than evenly distributed across the network.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1636776" y="6067044"/>
            <a:ext cx="89254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kern="0" spc="38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Violation risk is concentrated in specific facilities, not across the entire system</a:t>
            </a:r>
            <a:endParaRPr lang="en-US" sz="16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3E06B3E-283B-8D1F-5980-395F34E98F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1265" y="42977"/>
            <a:ext cx="1275338" cy="67665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D0D63AF-B5A4-A6D5-597C-F59010B0A266}"/>
              </a:ext>
            </a:extLst>
          </p:cNvPr>
          <p:cNvSpPr txBox="1"/>
          <p:nvPr/>
        </p:nvSpPr>
        <p:spPr>
          <a:xfrm>
            <a:off x="11620982" y="6158526"/>
            <a:ext cx="527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11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F89C2ED-2B9E-3E7C-A95A-E5B369A61E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740" y="1656894"/>
            <a:ext cx="5524019" cy="3770015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rcRect l="-3" r="-3"/>
          <a:stretch/>
        </p:blipFill>
        <p:spPr>
          <a:xfrm>
            <a:off x="571500" y="1333195"/>
            <a:ext cx="7258507" cy="411480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rcRect l="-2" r="-2"/>
          <a:stretch/>
        </p:blipFill>
        <p:spPr>
          <a:xfrm>
            <a:off x="8191195" y="1333195"/>
            <a:ext cx="3448202" cy="4114800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571500" y="5810098"/>
            <a:ext cx="11087100" cy="809244"/>
          </a:xfrm>
          <a:prstGeom prst="roundRect">
            <a:avLst>
              <a:gd name="adj" fmla="val 10635"/>
            </a:avLst>
          </a:prstGeom>
          <a:solidFill>
            <a:srgbClr val="14B8A6">
              <a:alpha val="8000"/>
            </a:srgbClr>
          </a:solidFill>
          <a:ln/>
        </p:spPr>
      </p:sp>
      <p:sp>
        <p:nvSpPr>
          <p:cNvPr id="7" name="Shape 2"/>
          <p:cNvSpPr/>
          <p:nvPr/>
        </p:nvSpPr>
        <p:spPr>
          <a:xfrm>
            <a:off x="571500" y="5810098"/>
            <a:ext cx="38405" cy="809244"/>
          </a:xfrm>
          <a:prstGeom prst="roundRect">
            <a:avLst>
              <a:gd name="adj" fmla="val 224088"/>
            </a:avLst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9" name="Text 3"/>
          <p:cNvSpPr txBox="1"/>
          <p:nvPr/>
        </p:nvSpPr>
        <p:spPr>
          <a:xfrm>
            <a:off x="571500" y="476402"/>
            <a:ext cx="7116777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Violations Follow Demand and Seasonal Patterns</a:t>
            </a:r>
            <a:endParaRPr lang="en-US" sz="2500" dirty="0"/>
          </a:p>
        </p:txBody>
      </p:sp>
      <p:sp>
        <p:nvSpPr>
          <p:cNvPr id="10" name="Shape 4"/>
          <p:cNvSpPr/>
          <p:nvPr/>
        </p:nvSpPr>
        <p:spPr>
          <a:xfrm>
            <a:off x="8219541" y="719633"/>
            <a:ext cx="28346" cy="571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8363102" y="856793"/>
            <a:ext cx="34482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Peak violations align with high traffic demand periods</a:t>
            </a:r>
            <a:endParaRPr lang="en-US" sz="14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6"/>
          <a:srcRect l="-4" r="-4"/>
          <a:stretch/>
        </p:blipFill>
        <p:spPr>
          <a:xfrm>
            <a:off x="761695" y="1619402"/>
            <a:ext cx="6858000" cy="3619195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8382305" y="1524305"/>
            <a:ext cx="30486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Monthly Violation Pattern</a:t>
            </a:r>
            <a:endParaRPr lang="en-US" sz="1200" dirty="0"/>
          </a:p>
        </p:txBody>
      </p:sp>
      <p:sp>
        <p:nvSpPr>
          <p:cNvPr id="14" name="Text 7"/>
          <p:cNvSpPr txBox="1"/>
          <p:nvPr/>
        </p:nvSpPr>
        <p:spPr>
          <a:xfrm>
            <a:off x="8382305" y="1762049"/>
            <a:ext cx="30486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Highs in May–Aug / Lows in Jan–Feb</a:t>
            </a:r>
            <a:endParaRPr lang="en-US" sz="9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382305" y="2190902"/>
            <a:ext cx="3047695" cy="3047695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952805" y="6100877"/>
            <a:ext cx="95353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22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Violations increase during high-demand periods and follow predictable seasonal trends</a:t>
            </a:r>
            <a:endParaRPr lang="en-US" sz="1500" dirty="0"/>
          </a:p>
        </p:txBody>
      </p:sp>
      <p:sp>
        <p:nvSpPr>
          <p:cNvPr id="17" name="Shape 9"/>
          <p:cNvSpPr/>
          <p:nvPr/>
        </p:nvSpPr>
        <p:spPr>
          <a:xfrm>
            <a:off x="4286707" y="1476756"/>
            <a:ext cx="1352398" cy="571500"/>
          </a:xfrm>
          <a:prstGeom prst="roundRect">
            <a:avLst>
              <a:gd name="adj" fmla="val 32000"/>
            </a:avLst>
          </a:prstGeom>
          <a:solidFill>
            <a:srgbClr val="0F172A">
              <a:alpha val="90000"/>
            </a:srgbClr>
          </a:solidFill>
          <a:ln w="12700">
            <a:solidFill>
              <a:srgbClr val="14B8A6">
                <a:alpha val="40000"/>
              </a:srgbClr>
            </a:solidFill>
            <a:prstDash val="solid"/>
          </a:ln>
        </p:spPr>
      </p:sp>
      <p:sp>
        <p:nvSpPr>
          <p:cNvPr id="18" name="Text 10"/>
          <p:cNvSpPr txBox="1"/>
          <p:nvPr/>
        </p:nvSpPr>
        <p:spPr>
          <a:xfrm>
            <a:off x="4357116" y="1609344"/>
            <a:ext cx="121706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Peak (~1.25M)</a:t>
            </a:r>
            <a:endParaRPr lang="en-US" sz="1000" dirty="0"/>
          </a:p>
        </p:txBody>
      </p:sp>
      <p:sp>
        <p:nvSpPr>
          <p:cNvPr id="19" name="Text 11"/>
          <p:cNvSpPr txBox="1"/>
          <p:nvPr/>
        </p:nvSpPr>
        <p:spPr>
          <a:xfrm>
            <a:off x="4820717" y="1772107"/>
            <a:ext cx="2862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2020</a:t>
            </a:r>
            <a:endParaRPr lang="en-US" sz="9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AF00199-3EEA-92B1-842E-8EDEF0B23D0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51265" y="42977"/>
            <a:ext cx="1275338" cy="67665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C481EE9-8565-A142-9962-9AC19CD1B1BE}"/>
              </a:ext>
            </a:extLst>
          </p:cNvPr>
          <p:cNvSpPr txBox="1"/>
          <p:nvPr/>
        </p:nvSpPr>
        <p:spPr>
          <a:xfrm>
            <a:off x="11697005" y="6158526"/>
            <a:ext cx="451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12</a:t>
            </a:r>
          </a:p>
        </p:txBody>
      </p:sp>
    </p:spTree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61695" y="1524305"/>
            <a:ext cx="5162702" cy="3905402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286500" y="1524305"/>
            <a:ext cx="5162702" cy="3905402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761695" y="5715000"/>
            <a:ext cx="10705795" cy="666598"/>
          </a:xfrm>
          <a:prstGeom prst="roundRect">
            <a:avLst>
              <a:gd name="adj" fmla="val 15677"/>
            </a:avLst>
          </a:prstGeom>
          <a:solidFill>
            <a:srgbClr val="14B8A6">
              <a:alpha val="10000"/>
            </a:srgbClr>
          </a:solidFill>
          <a:ln/>
        </p:spPr>
      </p:sp>
      <p:sp>
        <p:nvSpPr>
          <p:cNvPr id="7" name="Shape 2"/>
          <p:cNvSpPr/>
          <p:nvPr/>
        </p:nvSpPr>
        <p:spPr>
          <a:xfrm>
            <a:off x="761695" y="5715000"/>
            <a:ext cx="38405" cy="666598"/>
          </a:xfrm>
          <a:prstGeom prst="roundRect">
            <a:avLst>
              <a:gd name="adj" fmla="val 272107"/>
            </a:avLst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9" name="Text 3"/>
          <p:cNvSpPr txBox="1"/>
          <p:nvPr/>
        </p:nvSpPr>
        <p:spPr>
          <a:xfrm>
            <a:off x="761695" y="571500"/>
            <a:ext cx="1095817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-37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Violation Behavior Is Driven by Location AND Time</a:t>
            </a:r>
            <a:endParaRPr lang="en-US" sz="2800" dirty="0"/>
          </a:p>
        </p:txBody>
      </p:sp>
      <p:sp>
        <p:nvSpPr>
          <p:cNvPr id="10" name="Text 4"/>
          <p:cNvSpPr txBox="1"/>
          <p:nvPr/>
        </p:nvSpPr>
        <p:spPr>
          <a:xfrm>
            <a:off x="1143000" y="1990649"/>
            <a:ext cx="349300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Where violations occur</a:t>
            </a:r>
            <a:endParaRPr lang="en-US" sz="19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6"/>
          <a:srcRect l="-50" r="-50"/>
          <a:stretch/>
        </p:blipFill>
        <p:spPr>
          <a:xfrm>
            <a:off x="1218895" y="2752344"/>
            <a:ext cx="228600" cy="304495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1714500" y="2619755"/>
            <a:ext cx="3810305" cy="76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chemeClr val="bg1"/>
                </a:solidFill>
              </a:rPr>
              <a:t>George Washington Bridge Upper </a:t>
            </a:r>
            <a:r>
              <a:rPr lang="en-US" sz="15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</a:t>
            </a:r>
            <a:r>
              <a:rPr lang="en-US" sz="1500" b="1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00" b="1" dirty="0">
                <a:solidFill>
                  <a:schemeClr val="bg1"/>
                </a:solidFill>
              </a:rPr>
              <a:t>George Washington Bridge Lower</a:t>
            </a:r>
            <a:r>
              <a:rPr lang="en-US" sz="1500" b="1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500" dirty="0">
                <a:solidFill>
                  <a:srgbClr val="FFFFFF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contribute ~47% of total violations</a:t>
            </a:r>
            <a:endParaRPr lang="en-US" sz="150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181405" y="3610051"/>
            <a:ext cx="304495" cy="304495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1714500" y="3476549"/>
            <a:ext cx="381030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Violations are concentrated in a few facilities</a:t>
            </a:r>
            <a:endParaRPr lang="en-US" sz="1500" dirty="0"/>
          </a:p>
        </p:txBody>
      </p:sp>
      <p:sp>
        <p:nvSpPr>
          <p:cNvPr id="15" name="Text 7"/>
          <p:cNvSpPr txBox="1"/>
          <p:nvPr/>
        </p:nvSpPr>
        <p:spPr>
          <a:xfrm>
            <a:off x="6667805" y="1990649"/>
            <a:ext cx="3339389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When violations occur</a:t>
            </a:r>
            <a:endParaRPr lang="en-US" sz="1900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8"/>
          <a:srcRect l="-107" r="-107"/>
          <a:stretch/>
        </p:blipFill>
        <p:spPr>
          <a:xfrm>
            <a:off x="6724498" y="2752344"/>
            <a:ext cx="267005" cy="304495"/>
          </a:xfrm>
          <a:prstGeom prst="rect">
            <a:avLst/>
          </a:prstGeom>
        </p:spPr>
      </p:pic>
      <p:sp>
        <p:nvSpPr>
          <p:cNvPr id="17" name="Text 8"/>
          <p:cNvSpPr txBox="1"/>
          <p:nvPr/>
        </p:nvSpPr>
        <p:spPr>
          <a:xfrm>
            <a:off x="7239305" y="2714854"/>
            <a:ext cx="3810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Peak violations during May–August</a:t>
            </a:r>
            <a:endParaRPr lang="en-US" sz="1500" dirty="0"/>
          </a:p>
        </p:txBody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9"/>
          <a:srcRect l="-107" r="-107"/>
          <a:stretch/>
        </p:blipFill>
        <p:spPr>
          <a:xfrm>
            <a:off x="6724498" y="3323844"/>
            <a:ext cx="267005" cy="304495"/>
          </a:xfrm>
          <a:prstGeom prst="rect">
            <a:avLst/>
          </a:prstGeom>
        </p:spPr>
      </p:pic>
      <p:sp>
        <p:nvSpPr>
          <p:cNvPr id="19" name="Text 9"/>
          <p:cNvSpPr txBox="1"/>
          <p:nvPr/>
        </p:nvSpPr>
        <p:spPr>
          <a:xfrm>
            <a:off x="7239305" y="3286354"/>
            <a:ext cx="3810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Lower violations in Jan–Feb</a:t>
            </a:r>
            <a:endParaRPr lang="en-US" sz="1500" dirty="0"/>
          </a:p>
        </p:txBody>
      </p:sp>
      <p:pic>
        <p:nvPicPr>
          <p:cNvPr id="20" name="Image 8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705295" y="3895344"/>
            <a:ext cx="304495" cy="304495"/>
          </a:xfrm>
          <a:prstGeom prst="rect">
            <a:avLst/>
          </a:prstGeom>
        </p:spPr>
      </p:pic>
      <p:sp>
        <p:nvSpPr>
          <p:cNvPr id="21" name="Text 10"/>
          <p:cNvSpPr txBox="1"/>
          <p:nvPr/>
        </p:nvSpPr>
        <p:spPr>
          <a:xfrm>
            <a:off x="7239305" y="3857854"/>
            <a:ext cx="3810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Patterns follow traffic demand</a:t>
            </a:r>
            <a:endParaRPr lang="en-US" sz="1500" dirty="0"/>
          </a:p>
        </p:txBody>
      </p:sp>
      <p:sp>
        <p:nvSpPr>
          <p:cNvPr id="22" name="Text 11"/>
          <p:cNvSpPr txBox="1"/>
          <p:nvPr/>
        </p:nvSpPr>
        <p:spPr>
          <a:xfrm>
            <a:off x="1440180" y="5924398"/>
            <a:ext cx="93159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kern="0" spc="38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Violations are not random — they are driven by both location and demand patterns</a:t>
            </a:r>
            <a:endParaRPr lang="en-US" sz="16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68548CF-9979-E403-9687-FE97A82AD2B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851265" y="42977"/>
            <a:ext cx="1275338" cy="67665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F85461A-AF65-8A2E-7678-11D7DF263225}"/>
              </a:ext>
            </a:extLst>
          </p:cNvPr>
          <p:cNvSpPr txBox="1"/>
          <p:nvPr/>
        </p:nvSpPr>
        <p:spPr>
          <a:xfrm>
            <a:off x="11719865" y="6158526"/>
            <a:ext cx="428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13</a:t>
            </a:r>
          </a:p>
        </p:txBody>
      </p:sp>
    </p:spTree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rcRect l="-3" r="-3"/>
          <a:stretch/>
        </p:blipFill>
        <p:spPr>
          <a:xfrm>
            <a:off x="761695" y="1571854"/>
            <a:ext cx="3238805" cy="4134002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rcRect l="-3" r="-3"/>
          <a:stretch/>
        </p:blipFill>
        <p:spPr>
          <a:xfrm>
            <a:off x="4476902" y="1571854"/>
            <a:ext cx="3238805" cy="4134002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6"/>
          <a:srcRect l="-3" r="-3"/>
          <a:stretch/>
        </p:blipFill>
        <p:spPr>
          <a:xfrm>
            <a:off x="8191195" y="1571854"/>
            <a:ext cx="3238805" cy="4134002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>
            <a:off x="1333195" y="6001207"/>
            <a:ext cx="9562795" cy="571500"/>
          </a:xfrm>
          <a:prstGeom prst="roundRect">
            <a:avLst>
              <a:gd name="adj" fmla="val 42667"/>
            </a:avLst>
          </a:prstGeom>
          <a:solidFill>
            <a:srgbClr val="14B8A6">
              <a:alpha val="10000"/>
            </a:srgbClr>
          </a:solidFill>
          <a:ln/>
        </p:spPr>
      </p:sp>
      <p:sp>
        <p:nvSpPr>
          <p:cNvPr id="8" name="Shape 2"/>
          <p:cNvSpPr/>
          <p:nvPr/>
        </p:nvSpPr>
        <p:spPr>
          <a:xfrm>
            <a:off x="1333195" y="6001207"/>
            <a:ext cx="38405" cy="571500"/>
          </a:xfrm>
          <a:prstGeom prst="roundRect">
            <a:avLst>
              <a:gd name="adj" fmla="val 634917"/>
            </a:avLst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0" name="Text 3"/>
          <p:cNvSpPr txBox="1"/>
          <p:nvPr/>
        </p:nvSpPr>
        <p:spPr>
          <a:xfrm>
            <a:off x="761695" y="381305"/>
            <a:ext cx="10668305" cy="924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0" b="1" kern="0" spc="-37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Reducing Violations Through Targeted Enforcement</a:t>
            </a:r>
            <a:endParaRPr lang="en-US" sz="3300" dirty="0"/>
          </a:p>
        </p:txBody>
      </p:sp>
      <p:pic>
        <p:nvPicPr>
          <p:cNvPr id="11" name="Image 5" descr="preencoded.png"/>
          <p:cNvPicPr>
            <a:picLocks noChangeAspect="1"/>
          </p:cNvPicPr>
          <p:nvPr/>
        </p:nvPicPr>
        <p:blipFill>
          <a:blip r:embed="rId7">
            <a:alphaModFix amt="90000"/>
          </a:blip>
          <a:srcRect/>
          <a:stretch/>
        </p:blipFill>
        <p:spPr>
          <a:xfrm>
            <a:off x="2229307" y="1943100"/>
            <a:ext cx="304495" cy="304495"/>
          </a:xfrm>
          <a:prstGeom prst="rect">
            <a:avLst/>
          </a:prstGeom>
        </p:spPr>
      </p:pic>
      <p:sp>
        <p:nvSpPr>
          <p:cNvPr id="12" name="Text 4"/>
          <p:cNvSpPr txBox="1"/>
          <p:nvPr/>
        </p:nvSpPr>
        <p:spPr>
          <a:xfrm>
            <a:off x="986638" y="2530145"/>
            <a:ext cx="279806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Focused Enforcement</a:t>
            </a:r>
            <a:endParaRPr lang="en-US" sz="1800" dirty="0"/>
          </a:p>
        </p:txBody>
      </p:sp>
      <p:pic>
        <p:nvPicPr>
          <p:cNvPr id="13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52805" y="3133649"/>
            <a:ext cx="152705" cy="152705"/>
          </a:xfrm>
          <a:prstGeom prst="rect">
            <a:avLst/>
          </a:prstGeom>
        </p:spPr>
      </p:pic>
      <p:sp>
        <p:nvSpPr>
          <p:cNvPr id="14" name="Text 5"/>
          <p:cNvSpPr txBox="1"/>
          <p:nvPr/>
        </p:nvSpPr>
        <p:spPr>
          <a:xfrm>
            <a:off x="1218895" y="3095244"/>
            <a:ext cx="2591410" cy="8101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Prioritize </a:t>
            </a:r>
            <a:r>
              <a:rPr lang="en-US" sz="1400" b="1" dirty="0">
                <a:solidFill>
                  <a:schemeClr val="bg1"/>
                </a:solidFill>
              </a:rPr>
              <a:t>George Washington Bridge Upper </a:t>
            </a:r>
            <a:r>
              <a:rPr lang="en-US" sz="14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</a:t>
            </a:r>
            <a:r>
              <a:rPr lang="en-US" sz="1400" b="1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b="1" dirty="0">
                <a:solidFill>
                  <a:schemeClr val="bg1"/>
                </a:solidFill>
              </a:rPr>
              <a:t>George Washington Bridge Lower</a:t>
            </a:r>
            <a:r>
              <a:rPr lang="en-US" sz="1400" b="1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(highest impact)</a:t>
            </a:r>
            <a:endParaRPr lang="en-US" sz="1400" dirty="0"/>
          </a:p>
        </p:txBody>
      </p:sp>
      <p:pic>
        <p:nvPicPr>
          <p:cNvPr id="15" name="Image 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52805" y="4062222"/>
            <a:ext cx="152705" cy="152705"/>
          </a:xfrm>
          <a:prstGeom prst="rect">
            <a:avLst/>
          </a:prstGeom>
        </p:spPr>
      </p:pic>
      <p:sp>
        <p:nvSpPr>
          <p:cNvPr id="16" name="Text 6"/>
          <p:cNvSpPr txBox="1"/>
          <p:nvPr/>
        </p:nvSpPr>
        <p:spPr>
          <a:xfrm>
            <a:off x="1193292" y="3971233"/>
            <a:ext cx="259141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 on peak violation months (May–August)</a:t>
            </a:r>
            <a:endParaRPr lang="en-US" sz="1400" dirty="0"/>
          </a:p>
        </p:txBody>
      </p:sp>
      <p:pic>
        <p:nvPicPr>
          <p:cNvPr id="17" name="Image 8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52805" y="4677156"/>
            <a:ext cx="152705" cy="152705"/>
          </a:xfrm>
          <a:prstGeom prst="rect">
            <a:avLst/>
          </a:prstGeom>
        </p:spPr>
      </p:pic>
      <p:sp>
        <p:nvSpPr>
          <p:cNvPr id="18" name="Text 7"/>
          <p:cNvSpPr txBox="1"/>
          <p:nvPr/>
        </p:nvSpPr>
        <p:spPr>
          <a:xfrm>
            <a:off x="1218895" y="4638751"/>
            <a:ext cx="259141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Align enforcement with traffic demand</a:t>
            </a:r>
            <a:endParaRPr lang="en-US" sz="1400" dirty="0"/>
          </a:p>
        </p:txBody>
      </p:sp>
      <p:pic>
        <p:nvPicPr>
          <p:cNvPr id="19" name="Image 9" descr="preencoded.png"/>
          <p:cNvPicPr>
            <a:picLocks noChangeAspect="1"/>
          </p:cNvPicPr>
          <p:nvPr/>
        </p:nvPicPr>
        <p:blipFill>
          <a:blip r:embed="rId9"/>
          <a:srcRect t="-80" b="-80"/>
          <a:stretch/>
        </p:blipFill>
        <p:spPr>
          <a:xfrm>
            <a:off x="4166921" y="3504895"/>
            <a:ext cx="142646" cy="228600"/>
          </a:xfrm>
          <a:prstGeom prst="rect">
            <a:avLst/>
          </a:prstGeom>
        </p:spPr>
      </p:pic>
      <p:pic>
        <p:nvPicPr>
          <p:cNvPr id="20" name="Image 10" descr="preencoded.png"/>
          <p:cNvPicPr>
            <a:picLocks noChangeAspect="1"/>
          </p:cNvPicPr>
          <p:nvPr/>
        </p:nvPicPr>
        <p:blipFill>
          <a:blip r:embed="rId10">
            <a:alphaModFix amt="90000"/>
          </a:blip>
          <a:srcRect l="-90" r="-90"/>
          <a:stretch/>
        </p:blipFill>
        <p:spPr>
          <a:xfrm>
            <a:off x="5905195" y="1943100"/>
            <a:ext cx="381305" cy="304495"/>
          </a:xfrm>
          <a:prstGeom prst="rect">
            <a:avLst/>
          </a:prstGeom>
        </p:spPr>
      </p:pic>
      <p:sp>
        <p:nvSpPr>
          <p:cNvPr id="21" name="Text 8"/>
          <p:cNvSpPr txBox="1"/>
          <p:nvPr/>
        </p:nvSpPr>
        <p:spPr>
          <a:xfrm>
            <a:off x="4921301" y="2530145"/>
            <a:ext cx="235732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to Implement</a:t>
            </a:r>
            <a:endParaRPr lang="en-US" sz="1800" dirty="0"/>
          </a:p>
        </p:txBody>
      </p:sp>
      <p:pic>
        <p:nvPicPr>
          <p:cNvPr id="22" name="Image 11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4667098" y="3133649"/>
            <a:ext cx="152705" cy="152705"/>
          </a:xfrm>
          <a:prstGeom prst="rect">
            <a:avLst/>
          </a:prstGeom>
        </p:spPr>
      </p:pic>
      <p:sp>
        <p:nvSpPr>
          <p:cNvPr id="23" name="Text 9"/>
          <p:cNvSpPr txBox="1"/>
          <p:nvPr/>
        </p:nvSpPr>
        <p:spPr>
          <a:xfrm>
            <a:off x="4934102" y="3095244"/>
            <a:ext cx="259141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Increase monitoring at high-risk facilities</a:t>
            </a:r>
            <a:endParaRPr lang="en-US" sz="1400" dirty="0"/>
          </a:p>
        </p:txBody>
      </p:sp>
      <p:pic>
        <p:nvPicPr>
          <p:cNvPr id="24" name="Image 12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4667098" y="3905402"/>
            <a:ext cx="152705" cy="152705"/>
          </a:xfrm>
          <a:prstGeom prst="rect">
            <a:avLst/>
          </a:prstGeom>
        </p:spPr>
      </p:pic>
      <p:sp>
        <p:nvSpPr>
          <p:cNvPr id="25" name="Text 10"/>
          <p:cNvSpPr txBox="1"/>
          <p:nvPr/>
        </p:nvSpPr>
        <p:spPr>
          <a:xfrm>
            <a:off x="4934102" y="3866998"/>
            <a:ext cx="259141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 enforcement during peak periods</a:t>
            </a:r>
            <a:endParaRPr lang="en-US" sz="1400" dirty="0"/>
          </a:p>
        </p:txBody>
      </p:sp>
      <p:pic>
        <p:nvPicPr>
          <p:cNvPr id="26" name="Image 13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4667098" y="4677156"/>
            <a:ext cx="152705" cy="152705"/>
          </a:xfrm>
          <a:prstGeom prst="rect">
            <a:avLst/>
          </a:prstGeom>
        </p:spPr>
      </p:pic>
      <p:sp>
        <p:nvSpPr>
          <p:cNvPr id="27" name="Text 11"/>
          <p:cNvSpPr txBox="1"/>
          <p:nvPr/>
        </p:nvSpPr>
        <p:spPr>
          <a:xfrm>
            <a:off x="4934102" y="4638751"/>
            <a:ext cx="259141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violations using real-time dashboards</a:t>
            </a:r>
            <a:endParaRPr lang="en-US" sz="1400" dirty="0"/>
          </a:p>
        </p:txBody>
      </p:sp>
      <p:pic>
        <p:nvPicPr>
          <p:cNvPr id="28" name="Image 14" descr="preencoded.png"/>
          <p:cNvPicPr>
            <a:picLocks noChangeAspect="1"/>
          </p:cNvPicPr>
          <p:nvPr/>
        </p:nvPicPr>
        <p:blipFill>
          <a:blip r:embed="rId9"/>
          <a:srcRect t="-80" b="-80"/>
          <a:stretch/>
        </p:blipFill>
        <p:spPr>
          <a:xfrm>
            <a:off x="7882128" y="3504895"/>
            <a:ext cx="142646" cy="228600"/>
          </a:xfrm>
          <a:prstGeom prst="rect">
            <a:avLst/>
          </a:prstGeom>
        </p:spPr>
      </p:pic>
      <p:pic>
        <p:nvPicPr>
          <p:cNvPr id="29" name="Image 15" descr="preencoded.png"/>
          <p:cNvPicPr>
            <a:picLocks noChangeAspect="1"/>
          </p:cNvPicPr>
          <p:nvPr/>
        </p:nvPicPr>
        <p:blipFill>
          <a:blip r:embed="rId12">
            <a:alphaModFix amt="90000"/>
          </a:blip>
          <a:srcRect/>
          <a:stretch/>
        </p:blipFill>
        <p:spPr>
          <a:xfrm>
            <a:off x="9658807" y="1943100"/>
            <a:ext cx="304495" cy="304495"/>
          </a:xfrm>
          <a:prstGeom prst="rect">
            <a:avLst/>
          </a:prstGeom>
        </p:spPr>
      </p:pic>
      <p:sp>
        <p:nvSpPr>
          <p:cNvPr id="30" name="Text 12"/>
          <p:cNvSpPr txBox="1"/>
          <p:nvPr/>
        </p:nvSpPr>
        <p:spPr>
          <a:xfrm>
            <a:off x="8673998" y="2530145"/>
            <a:ext cx="22768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Expected Outcome</a:t>
            </a:r>
            <a:endParaRPr lang="en-US" sz="1800" dirty="0"/>
          </a:p>
        </p:txBody>
      </p:sp>
      <p:pic>
        <p:nvPicPr>
          <p:cNvPr id="31" name="Image 16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8382305" y="3133649"/>
            <a:ext cx="152705" cy="152705"/>
          </a:xfrm>
          <a:prstGeom prst="rect">
            <a:avLst/>
          </a:prstGeom>
        </p:spPr>
      </p:pic>
      <p:sp>
        <p:nvSpPr>
          <p:cNvPr id="32" name="Text 13"/>
          <p:cNvSpPr txBox="1"/>
          <p:nvPr/>
        </p:nvSpPr>
        <p:spPr>
          <a:xfrm>
            <a:off x="8648395" y="3095244"/>
            <a:ext cx="258683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Reduced revenue leakage</a:t>
            </a:r>
            <a:endParaRPr lang="en-US" sz="1400" dirty="0"/>
          </a:p>
        </p:txBody>
      </p:sp>
      <p:pic>
        <p:nvPicPr>
          <p:cNvPr id="33" name="Image 17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8382305" y="3633826"/>
            <a:ext cx="152705" cy="152705"/>
          </a:xfrm>
          <a:prstGeom prst="rect">
            <a:avLst/>
          </a:prstGeom>
        </p:spPr>
      </p:pic>
      <p:sp>
        <p:nvSpPr>
          <p:cNvPr id="34" name="Text 14"/>
          <p:cNvSpPr txBox="1"/>
          <p:nvPr/>
        </p:nvSpPr>
        <p:spPr>
          <a:xfrm>
            <a:off x="8648395" y="3595421"/>
            <a:ext cx="259141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More efficient enforcement deployment</a:t>
            </a:r>
            <a:endParaRPr lang="en-US" sz="1400" dirty="0"/>
          </a:p>
        </p:txBody>
      </p:sp>
      <p:pic>
        <p:nvPicPr>
          <p:cNvPr id="35" name="Image 18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8382305" y="4405579"/>
            <a:ext cx="152705" cy="152705"/>
          </a:xfrm>
          <a:prstGeom prst="rect">
            <a:avLst/>
          </a:prstGeom>
        </p:spPr>
      </p:pic>
      <p:sp>
        <p:nvSpPr>
          <p:cNvPr id="36" name="Text 15"/>
          <p:cNvSpPr txBox="1"/>
          <p:nvPr/>
        </p:nvSpPr>
        <p:spPr>
          <a:xfrm>
            <a:off x="8648395" y="4367174"/>
            <a:ext cx="259141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Improved compliance at high-risk facilities</a:t>
            </a:r>
            <a:endParaRPr lang="en-US" sz="1400" dirty="0"/>
          </a:p>
        </p:txBody>
      </p:sp>
      <p:sp>
        <p:nvSpPr>
          <p:cNvPr id="37" name="Text 16"/>
          <p:cNvSpPr txBox="1"/>
          <p:nvPr/>
        </p:nvSpPr>
        <p:spPr>
          <a:xfrm>
            <a:off x="1709928" y="6167628"/>
            <a:ext cx="878281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kern="0" spc="38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Targeting high-risk facilities and peak periods can significantly reduce violations</a:t>
            </a:r>
            <a:endParaRPr lang="en-US" sz="1500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D754559B-4B3D-26FA-3F8F-FB4A756FD45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851265" y="42977"/>
            <a:ext cx="1275338" cy="67665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4430C2C-70A6-D91C-3C7E-C3C0EC65DD08}"/>
              </a:ext>
            </a:extLst>
          </p:cNvPr>
          <p:cNvSpPr txBox="1"/>
          <p:nvPr/>
        </p:nvSpPr>
        <p:spPr>
          <a:xfrm>
            <a:off x="11632557" y="6158526"/>
            <a:ext cx="516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14</a:t>
            </a:r>
          </a:p>
        </p:txBody>
      </p:sp>
    </p:spTree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761695" y="571500"/>
            <a:ext cx="23820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14B8A6">
                    <a:alpha val="8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Question 3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1691640" y="2606040"/>
            <a:ext cx="8811158" cy="1648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kern="0" spc="-75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When Does </a:t>
            </a:r>
            <a:r>
              <a:rPr lang="en-US" sz="4800" b="1" u="sng" kern="0" spc="-75" dirty="0">
                <a:solidFill>
                  <a:schemeClr val="accent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Traffic Peak </a:t>
            </a:r>
            <a:r>
              <a:rPr lang="en-US" sz="4800" b="1" kern="0" spc="-75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and</a:t>
            </a:r>
            <a:endParaRPr lang="en-US" sz="4800" dirty="0"/>
          </a:p>
          <a:p>
            <a:pPr marL="0" indent="0" algn="ctr">
              <a:buNone/>
            </a:pPr>
            <a:r>
              <a:rPr lang="en-US" sz="4800" b="1" kern="0" spc="-75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Drives It? </a:t>
            </a:r>
            <a:endParaRPr lang="en-US" sz="4800" dirty="0"/>
          </a:p>
        </p:txBody>
      </p:sp>
      <p:sp>
        <p:nvSpPr>
          <p:cNvPr id="8" name="Text 4"/>
          <p:cNvSpPr txBox="1"/>
          <p:nvPr/>
        </p:nvSpPr>
        <p:spPr>
          <a:xfrm>
            <a:off x="857707" y="5143500"/>
            <a:ext cx="104781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Understanding peak demand patterns across time, behavior, and conditions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761695" y="6191402"/>
            <a:ext cx="10668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B8A6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Traffic is predictable</a:t>
            </a: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not random — and can be managed proactively </a:t>
            </a:r>
            <a:endParaRPr lang="en-US" sz="12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AED3921-D5BD-E75B-7F64-7D423418F0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51265" y="42977"/>
            <a:ext cx="1275338" cy="67665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DE76C84-DB65-59F8-7D92-AB451F0C77F0}"/>
              </a:ext>
            </a:extLst>
          </p:cNvPr>
          <p:cNvSpPr txBox="1"/>
          <p:nvPr/>
        </p:nvSpPr>
        <p:spPr>
          <a:xfrm>
            <a:off x="11632557" y="6158526"/>
            <a:ext cx="516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15</a:t>
            </a:r>
          </a:p>
        </p:txBody>
      </p:sp>
    </p:spTree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48195" y="1333195"/>
            <a:ext cx="4401007" cy="4209898"/>
          </a:xfrm>
          <a:prstGeom prst="roundRect">
            <a:avLst>
              <a:gd name="adj" fmla="val 1179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1695" y="5905195"/>
            <a:ext cx="10705795" cy="571500"/>
          </a:xfrm>
          <a:prstGeom prst="roundRect">
            <a:avLst>
              <a:gd name="adj" fmla="val 21333"/>
            </a:avLst>
          </a:prstGeom>
          <a:solidFill>
            <a:srgbClr val="14B8A6">
              <a:alpha val="1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61695" y="5905195"/>
            <a:ext cx="38405" cy="571500"/>
          </a:xfrm>
          <a:prstGeom prst="roundRect">
            <a:avLst>
              <a:gd name="adj" fmla="val 317459"/>
            </a:avLst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61695" y="571500"/>
            <a:ext cx="1139799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-37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Traffic Peaks Follow Clear Seasonal Demand Patterns</a:t>
            </a:r>
            <a:endParaRPr lang="en-US" sz="28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761695" y="1333195"/>
            <a:ext cx="5905195" cy="419069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429500" y="1619402"/>
            <a:ext cx="36201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B8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Summer months drive peak traffic demand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7429500" y="2438705"/>
            <a:ext cx="75895" cy="75895"/>
          </a:xfrm>
          <a:prstGeom prst="ellipse">
            <a:avLst/>
          </a:prstGeom>
          <a:solidFill>
            <a:srgbClr val="14B8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619695" y="2381098"/>
            <a:ext cx="371886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Traffic rises steadily from winter to summer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429500" y="2766060"/>
            <a:ext cx="75895" cy="75895"/>
          </a:xfrm>
          <a:prstGeom prst="ellipse">
            <a:avLst/>
          </a:prstGeom>
          <a:solidFill>
            <a:srgbClr val="14B8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619695" y="2708453"/>
            <a:ext cx="34290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Peak occurs between June and August (~44K+)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429500" y="3306470"/>
            <a:ext cx="75895" cy="75895"/>
          </a:xfrm>
          <a:prstGeom prst="ellipse">
            <a:avLst/>
          </a:prstGeom>
          <a:solidFill>
            <a:srgbClr val="14B8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619695" y="3249778"/>
            <a:ext cx="277703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Declines gradually after summer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7429500" y="3810305"/>
            <a:ext cx="3620110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44,000+</a:t>
            </a:r>
            <a:endParaRPr lang="en-US" sz="3600" dirty="0"/>
          </a:p>
        </p:txBody>
      </p:sp>
      <p:sp>
        <p:nvSpPr>
          <p:cNvPr id="17" name="Text 14"/>
          <p:cNvSpPr txBox="1"/>
          <p:nvPr/>
        </p:nvSpPr>
        <p:spPr>
          <a:xfrm>
            <a:off x="7429500" y="4350715"/>
            <a:ext cx="36201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Average daily traffic in peak months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3203143" y="6067044"/>
            <a:ext cx="6477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kern="0" spc="38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Traffic demand is structured, seasonal, and predictable</a:t>
            </a:r>
            <a:endParaRPr lang="en-US" sz="16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CB64138-941F-C421-5DD1-FDCDFE9491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51265" y="42977"/>
            <a:ext cx="1275338" cy="67665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EDBCB71-C2E4-49AD-CE5F-E268B9181560}"/>
              </a:ext>
            </a:extLst>
          </p:cNvPr>
          <p:cNvSpPr txBox="1"/>
          <p:nvPr/>
        </p:nvSpPr>
        <p:spPr>
          <a:xfrm>
            <a:off x="11632557" y="6158526"/>
            <a:ext cx="516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16</a:t>
            </a:r>
          </a:p>
        </p:txBody>
      </p:sp>
    </p:spTree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rcRect l="-6" r="-6"/>
          <a:stretch/>
        </p:blipFill>
        <p:spPr>
          <a:xfrm>
            <a:off x="571500" y="1476756"/>
            <a:ext cx="5544007" cy="4209898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286500" y="1476756"/>
            <a:ext cx="5352898" cy="4209898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571500" y="5952744"/>
            <a:ext cx="11087100" cy="714146"/>
          </a:xfrm>
          <a:prstGeom prst="roundRect">
            <a:avLst>
              <a:gd name="adj" fmla="val 13658"/>
            </a:avLst>
          </a:prstGeom>
          <a:solidFill>
            <a:srgbClr val="14B8A6">
              <a:alpha val="8000"/>
            </a:srgbClr>
          </a:solidFill>
          <a:ln/>
        </p:spPr>
      </p:sp>
      <p:sp>
        <p:nvSpPr>
          <p:cNvPr id="7" name="Shape 2"/>
          <p:cNvSpPr/>
          <p:nvPr/>
        </p:nvSpPr>
        <p:spPr>
          <a:xfrm>
            <a:off x="571500" y="5952744"/>
            <a:ext cx="38405" cy="714146"/>
          </a:xfrm>
          <a:prstGeom prst="roundRect">
            <a:avLst>
              <a:gd name="adj" fmla="val 253967"/>
            </a:avLst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571500" y="476402"/>
            <a:ext cx="762061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Behavior and Seasonality Drive Traffic Patterns</a:t>
            </a:r>
            <a:endParaRPr lang="en-US" sz="2500" dirty="0"/>
          </a:p>
        </p:txBody>
      </p:sp>
      <p:sp>
        <p:nvSpPr>
          <p:cNvPr id="9" name="Shape 4"/>
          <p:cNvSpPr/>
          <p:nvPr/>
        </p:nvSpPr>
        <p:spPr>
          <a:xfrm>
            <a:off x="8191195" y="619049"/>
            <a:ext cx="28346" cy="47640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8363102" y="757123"/>
            <a:ext cx="301569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Traffic increases toward end of week</a:t>
            </a:r>
            <a:endParaRPr lang="en-US" sz="1200" dirty="0"/>
          </a:p>
        </p:txBody>
      </p:sp>
      <p:sp>
        <p:nvSpPr>
          <p:cNvPr id="11" name="Text 6"/>
          <p:cNvSpPr txBox="1"/>
          <p:nvPr/>
        </p:nvSpPr>
        <p:spPr>
          <a:xfrm>
            <a:off x="761695" y="1666951"/>
            <a:ext cx="5143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Traffic by Day of Week</a:t>
            </a:r>
            <a:endParaRPr lang="en-US" sz="1400" dirty="0"/>
          </a:p>
        </p:txBody>
      </p:sp>
      <p:sp>
        <p:nvSpPr>
          <p:cNvPr id="12" name="Text 7"/>
          <p:cNvSpPr txBox="1"/>
          <p:nvPr/>
        </p:nvSpPr>
        <p:spPr>
          <a:xfrm>
            <a:off x="761695" y="1952244"/>
            <a:ext cx="51435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Friday &amp; Saturday show highest traffic volumes</a:t>
            </a:r>
            <a:endParaRPr lang="en-US" sz="12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rcRect t="-5" b="-5"/>
          <a:stretch/>
        </p:blipFill>
        <p:spPr>
          <a:xfrm>
            <a:off x="761695" y="2238451"/>
            <a:ext cx="5143500" cy="3238805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6476695" y="1666951"/>
            <a:ext cx="4953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Traffic vs Temperature Alignment</a:t>
            </a:r>
            <a:endParaRPr lang="en-US" sz="1400" dirty="0"/>
          </a:p>
        </p:txBody>
      </p:sp>
      <p:sp>
        <p:nvSpPr>
          <p:cNvPr id="15" name="Text 9"/>
          <p:cNvSpPr txBox="1"/>
          <p:nvPr/>
        </p:nvSpPr>
        <p:spPr>
          <a:xfrm>
            <a:off x="6476695" y="1952244"/>
            <a:ext cx="49533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Warmer months align with higher traffic volumes</a:t>
            </a:r>
            <a:endParaRPr lang="en-US" sz="12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rcRect t="-2" b="-2"/>
          <a:stretch/>
        </p:blipFill>
        <p:spPr>
          <a:xfrm>
            <a:off x="6476695" y="2238451"/>
            <a:ext cx="4953305" cy="3238805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952805" y="6195974"/>
            <a:ext cx="67345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22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Traffic is driven by human behavior and seasonal conditions</a:t>
            </a:r>
            <a:endParaRPr lang="en-US" sz="15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1A054DF-5956-9D2C-042D-BD9412C3CA2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51265" y="42977"/>
            <a:ext cx="1275338" cy="67665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2EEF44A-AE6B-D886-2497-980E4EDE8835}"/>
              </a:ext>
            </a:extLst>
          </p:cNvPr>
          <p:cNvSpPr txBox="1"/>
          <p:nvPr/>
        </p:nvSpPr>
        <p:spPr>
          <a:xfrm>
            <a:off x="11658600" y="6158526"/>
            <a:ext cx="490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17</a:t>
            </a:r>
          </a:p>
        </p:txBody>
      </p:sp>
    </p:spTree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1143000"/>
            <a:ext cx="7048195" cy="3066898"/>
          </a:xfrm>
          <a:prstGeom prst="roundRect">
            <a:avLst>
              <a:gd name="adj" fmla="val 296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l="-11966" r="-11966"/>
          <a:stretch/>
        </p:blipFill>
        <p:spPr>
          <a:xfrm>
            <a:off x="3948379" y="1664208"/>
            <a:ext cx="295351" cy="381305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3249778" y="2231136"/>
            <a:ext cx="1696212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kern="0" spc="-1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95K+</a:t>
            </a:r>
            <a:endParaRPr lang="en-US" sz="5400" dirty="0"/>
          </a:p>
        </p:txBody>
      </p:sp>
      <p:sp>
        <p:nvSpPr>
          <p:cNvPr id="7" name="Text 3"/>
          <p:cNvSpPr txBox="1"/>
          <p:nvPr/>
        </p:nvSpPr>
        <p:spPr>
          <a:xfrm>
            <a:off x="2832811" y="3023006"/>
            <a:ext cx="252831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Highest observed daily traffic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2488997" y="3265323"/>
            <a:ext cx="3288182" cy="150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George Washington Bridge Upper </a:t>
            </a:r>
            <a:r>
              <a:rPr lang="en-US" sz="12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Saturday peak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9" name="Shape 5"/>
          <p:cNvSpPr/>
          <p:nvPr/>
        </p:nvSpPr>
        <p:spPr>
          <a:xfrm>
            <a:off x="3655771" y="3509467"/>
            <a:ext cx="886054" cy="267005"/>
          </a:xfrm>
          <a:prstGeom prst="roundRect">
            <a:avLst>
              <a:gd name="adj" fmla="val 146771"/>
            </a:avLst>
          </a:prstGeom>
          <a:solidFill>
            <a:srgbClr val="14B8A6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3633061" y="3499794"/>
            <a:ext cx="886054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63500" rIns="114300" bIns="635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FACILITY 7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571500" y="4396435"/>
            <a:ext cx="2247595" cy="1419149"/>
          </a:xfrm>
          <a:prstGeom prst="roundRect">
            <a:avLst>
              <a:gd name="adj" fmla="val 10378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71754" y="4596689"/>
            <a:ext cx="304495" cy="304495"/>
          </a:xfrm>
          <a:prstGeom prst="roundRect">
            <a:avLst>
              <a:gd name="adj" fmla="val 150150"/>
            </a:avLst>
          </a:prstGeom>
          <a:solidFill>
            <a:srgbClr val="14B8A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 t="-5544" b="-5544"/>
          <a:stretch/>
        </p:blipFill>
        <p:spPr>
          <a:xfrm>
            <a:off x="871423" y="4682642"/>
            <a:ext cx="105156" cy="13350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71346" y="4668012"/>
            <a:ext cx="84582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Peak Days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771754" y="5016398"/>
            <a:ext cx="1848002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Traffic peaks on Friday and Saturday, with ~42K+ vehicles per day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2971800" y="4396435"/>
            <a:ext cx="2247595" cy="1419149"/>
          </a:xfrm>
          <a:prstGeom prst="roundRect">
            <a:avLst>
              <a:gd name="adj" fmla="val 10378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3172054" y="4596689"/>
            <a:ext cx="304495" cy="304495"/>
          </a:xfrm>
          <a:prstGeom prst="roundRect">
            <a:avLst>
              <a:gd name="adj" fmla="val 150150"/>
            </a:avLst>
          </a:prstGeom>
          <a:solidFill>
            <a:srgbClr val="14B8A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rcRect l="-2512" r="-2512"/>
          <a:stretch/>
        </p:blipFill>
        <p:spPr>
          <a:xfrm>
            <a:off x="3271723" y="4682642"/>
            <a:ext cx="105156" cy="13350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3571646" y="4668012"/>
            <a:ext cx="74615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Location</a:t>
            </a:r>
            <a:endParaRPr lang="en-US" sz="1400" dirty="0"/>
          </a:p>
        </p:txBody>
      </p:sp>
      <p:sp>
        <p:nvSpPr>
          <p:cNvPr id="20" name="Text 14"/>
          <p:cNvSpPr txBox="1"/>
          <p:nvPr/>
        </p:nvSpPr>
        <p:spPr>
          <a:xfrm>
            <a:off x="3172054" y="5016398"/>
            <a:ext cx="1848002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Concentrated at </a:t>
            </a:r>
            <a:r>
              <a:rPr lang="en-US" sz="1200" dirty="0">
                <a:solidFill>
                  <a:schemeClr val="bg1"/>
                </a:solidFill>
              </a:rPr>
              <a:t>George Washington Bridge Upper</a:t>
            </a:r>
            <a:r>
              <a:rPr lang="en-US" sz="12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accounting for 47% of total volume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1" name="Shape 15"/>
          <p:cNvSpPr/>
          <p:nvPr/>
        </p:nvSpPr>
        <p:spPr>
          <a:xfrm>
            <a:off x="5372100" y="4396435"/>
            <a:ext cx="2247595" cy="1419149"/>
          </a:xfrm>
          <a:prstGeom prst="roundRect">
            <a:avLst>
              <a:gd name="adj" fmla="val 10378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5572354" y="4596689"/>
            <a:ext cx="304495" cy="304495"/>
          </a:xfrm>
          <a:prstGeom prst="roundRect">
            <a:avLst>
              <a:gd name="adj" fmla="val 150150"/>
            </a:avLst>
          </a:prstGeom>
          <a:solidFill>
            <a:srgbClr val="14B8A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rcRect t="-13478" b="-13478"/>
          <a:stretch/>
        </p:blipFill>
        <p:spPr>
          <a:xfrm>
            <a:off x="5672023" y="4682642"/>
            <a:ext cx="105156" cy="133502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5971946" y="4668012"/>
            <a:ext cx="65105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Pattern</a:t>
            </a:r>
            <a:endParaRPr lang="en-US" sz="1400" dirty="0"/>
          </a:p>
        </p:txBody>
      </p:sp>
      <p:sp>
        <p:nvSpPr>
          <p:cNvPr id="25" name="Text 18"/>
          <p:cNvSpPr txBox="1"/>
          <p:nvPr/>
        </p:nvSpPr>
        <p:spPr>
          <a:xfrm>
            <a:off x="5572354" y="5016398"/>
            <a:ext cx="18480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random - follows predictable seasonal cycles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8001000" y="1143000"/>
            <a:ext cx="3619195" cy="4667098"/>
          </a:xfrm>
          <a:prstGeom prst="roundRect">
            <a:avLst>
              <a:gd name="adj" fmla="val 2128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7" name="Text 20"/>
          <p:cNvSpPr txBox="1"/>
          <p:nvPr/>
        </p:nvSpPr>
        <p:spPr>
          <a:xfrm>
            <a:off x="8296351" y="1533449"/>
            <a:ext cx="30294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Traffic Distribution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8358945" y="1862291"/>
            <a:ext cx="2219249" cy="1344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chemeClr val="bg1"/>
                </a:solidFill>
              </a:rPr>
              <a:t>George Washington Bridge Upper</a:t>
            </a:r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rcRect l="-198" r="-198"/>
          <a:stretch/>
        </p:blipFill>
        <p:spPr>
          <a:xfrm>
            <a:off x="9363456" y="2048256"/>
            <a:ext cx="1419149" cy="75895"/>
          </a:xfrm>
          <a:prstGeom prst="rect">
            <a:avLst/>
          </a:prstGeom>
        </p:spPr>
      </p:pic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9"/>
          <a:srcRect l="-179" r="-179"/>
          <a:stretch/>
        </p:blipFill>
        <p:spPr>
          <a:xfrm>
            <a:off x="9363456" y="2048256"/>
            <a:ext cx="666598" cy="75895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10896905" y="2009851"/>
            <a:ext cx="4288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47%</a:t>
            </a:r>
            <a:endParaRPr lang="en-US" sz="1200" dirty="0"/>
          </a:p>
        </p:txBody>
      </p:sp>
      <p:sp>
        <p:nvSpPr>
          <p:cNvPr id="32" name="Text 23"/>
          <p:cNvSpPr txBox="1"/>
          <p:nvPr/>
        </p:nvSpPr>
        <p:spPr>
          <a:xfrm>
            <a:off x="8358944" y="2230451"/>
            <a:ext cx="2219249" cy="207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chemeClr val="bg1"/>
                </a:solidFill>
              </a:rPr>
              <a:t>George Washington Bridge lower</a:t>
            </a:r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8"/>
          <a:srcRect l="-198" r="-198"/>
          <a:stretch/>
        </p:blipFill>
        <p:spPr>
          <a:xfrm>
            <a:off x="9363456" y="2428646"/>
            <a:ext cx="1419149" cy="75895"/>
          </a:xfrm>
          <a:prstGeom prst="rect">
            <a:avLst/>
          </a:prstGeom>
        </p:spPr>
      </p:pic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10"/>
          <a:srcRect l="-189" r="-189"/>
          <a:stretch/>
        </p:blipFill>
        <p:spPr>
          <a:xfrm>
            <a:off x="9363456" y="2428646"/>
            <a:ext cx="496519" cy="75895"/>
          </a:xfrm>
          <a:prstGeom prst="rect">
            <a:avLst/>
          </a:prstGeom>
        </p:spPr>
      </p:pic>
      <p:sp>
        <p:nvSpPr>
          <p:cNvPr id="35" name="Text 24"/>
          <p:cNvSpPr txBox="1"/>
          <p:nvPr/>
        </p:nvSpPr>
        <p:spPr>
          <a:xfrm>
            <a:off x="10896905" y="2391156"/>
            <a:ext cx="4288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35%</a:t>
            </a:r>
            <a:endParaRPr lang="en-US" sz="1200" dirty="0"/>
          </a:p>
        </p:txBody>
      </p:sp>
      <p:sp>
        <p:nvSpPr>
          <p:cNvPr id="36" name="Text 25"/>
          <p:cNvSpPr txBox="1"/>
          <p:nvPr/>
        </p:nvSpPr>
        <p:spPr>
          <a:xfrm>
            <a:off x="8410651" y="2630043"/>
            <a:ext cx="9528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Others</a:t>
            </a:r>
            <a:endParaRPr lang="en-US" sz="1200" dirty="0"/>
          </a:p>
        </p:txBody>
      </p:sp>
      <p:pic>
        <p:nvPicPr>
          <p:cNvPr id="37" name="Image 9" descr="preencoded.png"/>
          <p:cNvPicPr>
            <a:picLocks noChangeAspect="1"/>
          </p:cNvPicPr>
          <p:nvPr/>
        </p:nvPicPr>
        <p:blipFill>
          <a:blip r:embed="rId8"/>
          <a:srcRect l="-198" r="-198"/>
          <a:stretch/>
        </p:blipFill>
        <p:spPr>
          <a:xfrm>
            <a:off x="9363456" y="2809951"/>
            <a:ext cx="1419149" cy="75895"/>
          </a:xfrm>
          <a:prstGeom prst="rect">
            <a:avLst/>
          </a:prstGeom>
        </p:spPr>
      </p:pic>
      <p:sp>
        <p:nvSpPr>
          <p:cNvPr id="38" name="Shape 26"/>
          <p:cNvSpPr/>
          <p:nvPr/>
        </p:nvSpPr>
        <p:spPr>
          <a:xfrm>
            <a:off x="9363456" y="2809951"/>
            <a:ext cx="256946" cy="75895"/>
          </a:xfrm>
          <a:prstGeom prst="roundRect">
            <a:avLst>
              <a:gd name="adj" fmla="val 1204822"/>
            </a:avLst>
          </a:prstGeom>
          <a:solidFill>
            <a:srgbClr val="6474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27"/>
          <p:cNvSpPr txBox="1"/>
          <p:nvPr/>
        </p:nvSpPr>
        <p:spPr>
          <a:xfrm>
            <a:off x="10896905" y="2771546"/>
            <a:ext cx="4288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18%</a:t>
            </a:r>
            <a:endParaRPr lang="en-US" sz="1200" dirty="0"/>
          </a:p>
        </p:txBody>
      </p:sp>
      <p:sp>
        <p:nvSpPr>
          <p:cNvPr id="40" name="Shape 28"/>
          <p:cNvSpPr/>
          <p:nvPr/>
        </p:nvSpPr>
        <p:spPr>
          <a:xfrm>
            <a:off x="8296351" y="3305556"/>
            <a:ext cx="3029407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29"/>
          <p:cNvSpPr txBox="1"/>
          <p:nvPr/>
        </p:nvSpPr>
        <p:spPr>
          <a:xfrm>
            <a:off x="8449056" y="3924604"/>
            <a:ext cx="28767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14B8A6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Insight:</a:t>
            </a:r>
            <a:r>
              <a:rPr lang="en-US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Extreme congestion is location-specific and predictable </a:t>
            </a:r>
            <a:endParaRPr lang="en-US" dirty="0"/>
          </a:p>
        </p:txBody>
      </p:sp>
      <p:pic>
        <p:nvPicPr>
          <p:cNvPr id="42" name="Image 10" descr="preencoded.png"/>
          <p:cNvPicPr>
            <a:picLocks noChangeAspect="1"/>
          </p:cNvPicPr>
          <p:nvPr/>
        </p:nvPicPr>
        <p:blipFill>
          <a:blip r:embed="rId11"/>
          <a:srcRect t="-14904" b="-14904"/>
          <a:stretch/>
        </p:blipFill>
        <p:spPr>
          <a:xfrm>
            <a:off x="8225456" y="3404767"/>
            <a:ext cx="266978" cy="346557"/>
          </a:xfrm>
          <a:prstGeom prst="rect">
            <a:avLst/>
          </a:prstGeom>
        </p:spPr>
      </p:pic>
      <p:sp>
        <p:nvSpPr>
          <p:cNvPr id="43" name="Shape 30"/>
          <p:cNvSpPr/>
          <p:nvPr/>
        </p:nvSpPr>
        <p:spPr>
          <a:xfrm>
            <a:off x="571500" y="5962802"/>
            <a:ext cx="11048695" cy="514807"/>
          </a:xfrm>
          <a:prstGeom prst="roundRect">
            <a:avLst>
              <a:gd name="adj" fmla="val 52628"/>
            </a:avLst>
          </a:prstGeom>
          <a:solidFill>
            <a:srgbClr val="14B8A6">
              <a:alpha val="10000"/>
            </a:srgbClr>
          </a:solidFill>
          <a:ln/>
        </p:spPr>
      </p:sp>
      <p:sp>
        <p:nvSpPr>
          <p:cNvPr id="44" name="Shape 31"/>
          <p:cNvSpPr/>
          <p:nvPr/>
        </p:nvSpPr>
        <p:spPr>
          <a:xfrm>
            <a:off x="571500" y="5962802"/>
            <a:ext cx="38405" cy="514807"/>
          </a:xfrm>
          <a:prstGeom prst="roundRect">
            <a:avLst>
              <a:gd name="adj" fmla="val 705464"/>
            </a:avLst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45" name="Text 32"/>
          <p:cNvSpPr txBox="1"/>
          <p:nvPr/>
        </p:nvSpPr>
        <p:spPr>
          <a:xfrm>
            <a:off x="800100" y="6124651"/>
            <a:ext cx="89062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Traffic patterns are predictable</a:t>
            </a: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not random — and can be managed proactively through targeted interventions </a:t>
            </a:r>
            <a:endParaRPr lang="en-US" sz="1200" dirty="0"/>
          </a:p>
        </p:txBody>
      </p:sp>
      <p:sp>
        <p:nvSpPr>
          <p:cNvPr id="46" name="Text 33"/>
          <p:cNvSpPr txBox="1"/>
          <p:nvPr/>
        </p:nvSpPr>
        <p:spPr>
          <a:xfrm>
            <a:off x="571500" y="381305"/>
            <a:ext cx="902055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Peak Traffic Events Are Concentrated and Predictable</a:t>
            </a:r>
            <a:endParaRPr lang="en-US" sz="2400" dirty="0"/>
          </a:p>
        </p:txBody>
      </p:sp>
      <p:sp>
        <p:nvSpPr>
          <p:cNvPr id="47" name="Shape 34"/>
          <p:cNvSpPr/>
          <p:nvPr/>
        </p:nvSpPr>
        <p:spPr>
          <a:xfrm>
            <a:off x="10636301" y="400507"/>
            <a:ext cx="990295" cy="333756"/>
          </a:xfrm>
          <a:prstGeom prst="roundRect">
            <a:avLst>
              <a:gd name="adj" fmla="val 273973"/>
            </a:avLst>
          </a:prstGeom>
          <a:solidFill>
            <a:srgbClr val="14B8A6">
              <a:alpha val="20000"/>
            </a:srgbClr>
          </a:solidFill>
          <a:ln w="12700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48" name="Text 35"/>
          <p:cNvSpPr/>
          <p:nvPr/>
        </p:nvSpPr>
        <p:spPr>
          <a:xfrm>
            <a:off x="10615727" y="409512"/>
            <a:ext cx="991210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Q3 Insight</a:t>
            </a:r>
            <a:endParaRPr lang="en-US" sz="10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2272306-1FC2-3220-9447-58B17B75337D}"/>
              </a:ext>
            </a:extLst>
          </p:cNvPr>
          <p:cNvSpPr txBox="1"/>
          <p:nvPr/>
        </p:nvSpPr>
        <p:spPr>
          <a:xfrm>
            <a:off x="11626596" y="6158526"/>
            <a:ext cx="5222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18</a:t>
            </a:r>
          </a:p>
        </p:txBody>
      </p:sp>
    </p:spTree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rcRect l="-1" r="-1"/>
          <a:stretch/>
        </p:blipFill>
        <p:spPr>
          <a:xfrm>
            <a:off x="832561" y="1547870"/>
            <a:ext cx="3238805" cy="4038905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rcRect l="-1" r="-1"/>
          <a:stretch/>
        </p:blipFill>
        <p:spPr>
          <a:xfrm>
            <a:off x="4476902" y="1524305"/>
            <a:ext cx="3238805" cy="4038905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6"/>
          <a:srcRect l="-1" r="-1"/>
          <a:stretch/>
        </p:blipFill>
        <p:spPr>
          <a:xfrm>
            <a:off x="8191195" y="1524305"/>
            <a:ext cx="3238805" cy="4038905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>
            <a:off x="1333195" y="5905195"/>
            <a:ext cx="9562795" cy="571500"/>
          </a:xfrm>
          <a:prstGeom prst="roundRect">
            <a:avLst>
              <a:gd name="adj" fmla="val 42667"/>
            </a:avLst>
          </a:prstGeom>
          <a:solidFill>
            <a:srgbClr val="14B8A6">
              <a:alpha val="10000"/>
            </a:srgbClr>
          </a:solidFill>
          <a:ln/>
        </p:spPr>
      </p:sp>
      <p:sp>
        <p:nvSpPr>
          <p:cNvPr id="8" name="Shape 2"/>
          <p:cNvSpPr/>
          <p:nvPr/>
        </p:nvSpPr>
        <p:spPr>
          <a:xfrm>
            <a:off x="1333195" y="5905195"/>
            <a:ext cx="38405" cy="571500"/>
          </a:xfrm>
          <a:prstGeom prst="roundRect">
            <a:avLst>
              <a:gd name="adj" fmla="val 634917"/>
            </a:avLst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9" name="Text 3"/>
          <p:cNvSpPr txBox="1"/>
          <p:nvPr/>
        </p:nvSpPr>
        <p:spPr>
          <a:xfrm>
            <a:off x="3658" y="381305"/>
            <a:ext cx="12184380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0" b="1" kern="0" spc="-37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Optimizing Operations Based on Traffic Patterns</a:t>
            </a:r>
            <a:endParaRPr lang="en-US" sz="330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7">
            <a:alphaModFix amt="90000"/>
          </a:blip>
          <a:srcRect/>
          <a:stretch/>
        </p:blipFill>
        <p:spPr>
          <a:xfrm>
            <a:off x="2229307" y="1895551"/>
            <a:ext cx="304495" cy="304495"/>
          </a:xfrm>
          <a:prstGeom prst="rect">
            <a:avLst/>
          </a:prstGeom>
        </p:spPr>
      </p:pic>
      <p:sp>
        <p:nvSpPr>
          <p:cNvPr id="11" name="Text 4"/>
          <p:cNvSpPr txBox="1"/>
          <p:nvPr/>
        </p:nvSpPr>
        <p:spPr>
          <a:xfrm>
            <a:off x="1294790" y="2478729"/>
            <a:ext cx="1969618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</a:rPr>
              <a:t>Recommendation</a:t>
            </a:r>
            <a:endParaRPr lang="en-US" sz="160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52805" y="3086100"/>
            <a:ext cx="152705" cy="152705"/>
          </a:xfrm>
          <a:prstGeom prst="rect">
            <a:avLst/>
          </a:prstGeom>
        </p:spPr>
      </p:pic>
      <p:sp>
        <p:nvSpPr>
          <p:cNvPr id="13" name="Text 5"/>
          <p:cNvSpPr txBox="1"/>
          <p:nvPr/>
        </p:nvSpPr>
        <p:spPr>
          <a:xfrm>
            <a:off x="1218895" y="3047695"/>
            <a:ext cx="2820924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 on peak demand windows</a:t>
            </a:r>
            <a:endParaRPr lang="en-US" sz="1400" dirty="0"/>
          </a:p>
        </p:txBody>
      </p:sp>
      <p:pic>
        <p:nvPicPr>
          <p:cNvPr id="14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52805" y="3530498"/>
            <a:ext cx="152705" cy="152705"/>
          </a:xfrm>
          <a:prstGeom prst="rect">
            <a:avLst/>
          </a:prstGeom>
        </p:spPr>
      </p:pic>
      <p:sp>
        <p:nvSpPr>
          <p:cNvPr id="15" name="Text 6"/>
          <p:cNvSpPr txBox="1"/>
          <p:nvPr/>
        </p:nvSpPr>
        <p:spPr>
          <a:xfrm>
            <a:off x="1218895" y="3492094"/>
            <a:ext cx="2403043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Align with seasonal cycles</a:t>
            </a:r>
            <a:endParaRPr lang="en-US" sz="1400" dirty="0"/>
          </a:p>
        </p:txBody>
      </p:sp>
      <p:pic>
        <p:nvPicPr>
          <p:cNvPr id="16" name="Image 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52805" y="3974897"/>
            <a:ext cx="152705" cy="152705"/>
          </a:xfrm>
          <a:prstGeom prst="rect">
            <a:avLst/>
          </a:prstGeom>
        </p:spPr>
      </p:pic>
      <p:sp>
        <p:nvSpPr>
          <p:cNvPr id="17" name="Text 7"/>
          <p:cNvSpPr txBox="1"/>
          <p:nvPr/>
        </p:nvSpPr>
        <p:spPr>
          <a:xfrm>
            <a:off x="1218895" y="3936492"/>
            <a:ext cx="2686507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Prioritize high-traffic facilities</a:t>
            </a:r>
            <a:endParaRPr lang="en-US" sz="1400" dirty="0"/>
          </a:p>
        </p:txBody>
      </p:sp>
      <p:pic>
        <p:nvPicPr>
          <p:cNvPr id="18" name="Image 8" descr="preencoded.png"/>
          <p:cNvPicPr>
            <a:picLocks noChangeAspect="1"/>
          </p:cNvPicPr>
          <p:nvPr/>
        </p:nvPicPr>
        <p:blipFill>
          <a:blip r:embed="rId9"/>
          <a:srcRect t="-80" b="-80"/>
          <a:stretch/>
        </p:blipFill>
        <p:spPr>
          <a:xfrm>
            <a:off x="4166921" y="3409798"/>
            <a:ext cx="142646" cy="228600"/>
          </a:xfrm>
          <a:prstGeom prst="rect">
            <a:avLst/>
          </a:prstGeom>
        </p:spPr>
      </p:pic>
      <p:pic>
        <p:nvPicPr>
          <p:cNvPr id="19" name="Image 9" descr="preencoded.png"/>
          <p:cNvPicPr>
            <a:picLocks noChangeAspect="1"/>
          </p:cNvPicPr>
          <p:nvPr/>
        </p:nvPicPr>
        <p:blipFill>
          <a:blip r:embed="rId10">
            <a:alphaModFix amt="90000"/>
          </a:blip>
          <a:srcRect l="-90" r="-90"/>
          <a:stretch/>
        </p:blipFill>
        <p:spPr>
          <a:xfrm>
            <a:off x="5905195" y="1895551"/>
            <a:ext cx="381305" cy="304495"/>
          </a:xfrm>
          <a:prstGeom prst="rect">
            <a:avLst/>
          </a:prstGeom>
        </p:spPr>
      </p:pic>
      <p:sp>
        <p:nvSpPr>
          <p:cNvPr id="20" name="Text 8"/>
          <p:cNvSpPr txBox="1"/>
          <p:nvPr/>
        </p:nvSpPr>
        <p:spPr>
          <a:xfrm>
            <a:off x="5153558" y="2493569"/>
            <a:ext cx="189006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Implementation</a:t>
            </a:r>
            <a:endParaRPr lang="en-US" sz="1600" dirty="0"/>
          </a:p>
        </p:txBody>
      </p:sp>
      <p:pic>
        <p:nvPicPr>
          <p:cNvPr id="21" name="Image 10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4667098" y="3086100"/>
            <a:ext cx="152705" cy="152705"/>
          </a:xfrm>
          <a:prstGeom prst="rect">
            <a:avLst/>
          </a:prstGeom>
        </p:spPr>
      </p:pic>
      <p:sp>
        <p:nvSpPr>
          <p:cNvPr id="22" name="Text 9"/>
          <p:cNvSpPr txBox="1"/>
          <p:nvPr/>
        </p:nvSpPr>
        <p:spPr>
          <a:xfrm>
            <a:off x="4934102" y="3047695"/>
            <a:ext cx="25914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Increase staffing during June-August</a:t>
            </a:r>
            <a:endParaRPr lang="en-US" sz="1400" dirty="0"/>
          </a:p>
        </p:txBody>
      </p:sp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4667098" y="3765499"/>
            <a:ext cx="152705" cy="152705"/>
          </a:xfrm>
          <a:prstGeom prst="rect">
            <a:avLst/>
          </a:prstGeom>
        </p:spPr>
      </p:pic>
      <p:sp>
        <p:nvSpPr>
          <p:cNvPr id="24" name="Text 10"/>
          <p:cNvSpPr txBox="1"/>
          <p:nvPr/>
        </p:nvSpPr>
        <p:spPr>
          <a:xfrm>
            <a:off x="4934102" y="3727094"/>
            <a:ext cx="25914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Optimize lanes on weekends and peak days</a:t>
            </a:r>
            <a:endParaRPr lang="en-US" sz="1400" dirty="0"/>
          </a:p>
        </p:txBody>
      </p:sp>
      <p:pic>
        <p:nvPicPr>
          <p:cNvPr id="25" name="Image 12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4667098" y="4443984"/>
            <a:ext cx="152705" cy="152705"/>
          </a:xfrm>
          <a:prstGeom prst="rect">
            <a:avLst/>
          </a:prstGeom>
        </p:spPr>
      </p:pic>
      <p:sp>
        <p:nvSpPr>
          <p:cNvPr id="26" name="Text 11"/>
          <p:cNvSpPr txBox="1"/>
          <p:nvPr/>
        </p:nvSpPr>
        <p:spPr>
          <a:xfrm>
            <a:off x="4934102" y="4405579"/>
            <a:ext cx="25914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Strengthen enforcement during peaks</a:t>
            </a:r>
            <a:endParaRPr lang="en-US" sz="1400" dirty="0"/>
          </a:p>
        </p:txBody>
      </p:sp>
      <p:pic>
        <p:nvPicPr>
          <p:cNvPr id="27" name="Image 13" descr="preencoded.png"/>
          <p:cNvPicPr>
            <a:picLocks noChangeAspect="1"/>
          </p:cNvPicPr>
          <p:nvPr/>
        </p:nvPicPr>
        <p:blipFill>
          <a:blip r:embed="rId9"/>
          <a:srcRect t="-80" b="-80"/>
          <a:stretch/>
        </p:blipFill>
        <p:spPr>
          <a:xfrm>
            <a:off x="7882128" y="3409798"/>
            <a:ext cx="142646" cy="228600"/>
          </a:xfrm>
          <a:prstGeom prst="rect">
            <a:avLst/>
          </a:prstGeom>
        </p:spPr>
      </p:pic>
      <p:pic>
        <p:nvPicPr>
          <p:cNvPr id="28" name="Image 14" descr="preencoded.png"/>
          <p:cNvPicPr>
            <a:picLocks noChangeAspect="1"/>
          </p:cNvPicPr>
          <p:nvPr/>
        </p:nvPicPr>
        <p:blipFill>
          <a:blip r:embed="rId12">
            <a:alphaModFix amt="90000"/>
          </a:blip>
          <a:srcRect/>
          <a:stretch/>
        </p:blipFill>
        <p:spPr>
          <a:xfrm>
            <a:off x="9658807" y="1895551"/>
            <a:ext cx="304495" cy="304495"/>
          </a:xfrm>
          <a:prstGeom prst="rect">
            <a:avLst/>
          </a:prstGeom>
        </p:spPr>
      </p:pic>
      <p:sp>
        <p:nvSpPr>
          <p:cNvPr id="29" name="Text 12"/>
          <p:cNvSpPr txBox="1"/>
          <p:nvPr/>
        </p:nvSpPr>
        <p:spPr>
          <a:xfrm>
            <a:off x="9406433" y="2493569"/>
            <a:ext cx="81107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Impact</a:t>
            </a:r>
            <a:endParaRPr lang="en-US" sz="1600" dirty="0"/>
          </a:p>
        </p:txBody>
      </p:sp>
      <p:pic>
        <p:nvPicPr>
          <p:cNvPr id="30" name="Image 15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8382305" y="3086100"/>
            <a:ext cx="152705" cy="152705"/>
          </a:xfrm>
          <a:prstGeom prst="rect">
            <a:avLst/>
          </a:prstGeom>
        </p:spPr>
      </p:pic>
      <p:sp>
        <p:nvSpPr>
          <p:cNvPr id="31" name="Text 13"/>
          <p:cNvSpPr txBox="1"/>
          <p:nvPr/>
        </p:nvSpPr>
        <p:spPr>
          <a:xfrm>
            <a:off x="8648395" y="3047695"/>
            <a:ext cx="25914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Reduced congestion during peak periods</a:t>
            </a:r>
            <a:endParaRPr lang="en-US" sz="1400" dirty="0"/>
          </a:p>
        </p:txBody>
      </p:sp>
      <p:pic>
        <p:nvPicPr>
          <p:cNvPr id="32" name="Image 16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8382305" y="3765499"/>
            <a:ext cx="152705" cy="152705"/>
          </a:xfrm>
          <a:prstGeom prst="rect">
            <a:avLst/>
          </a:prstGeom>
        </p:spPr>
      </p:pic>
      <p:sp>
        <p:nvSpPr>
          <p:cNvPr id="33" name="Text 14"/>
          <p:cNvSpPr txBox="1"/>
          <p:nvPr/>
        </p:nvSpPr>
        <p:spPr>
          <a:xfrm>
            <a:off x="8648395" y="3727094"/>
            <a:ext cx="25914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Improved flow and travel time reliability</a:t>
            </a:r>
            <a:endParaRPr lang="en-US" sz="1400" dirty="0"/>
          </a:p>
        </p:txBody>
      </p:sp>
      <p:pic>
        <p:nvPicPr>
          <p:cNvPr id="34" name="Image 17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8382305" y="4443984"/>
            <a:ext cx="152705" cy="152705"/>
          </a:xfrm>
          <a:prstGeom prst="rect">
            <a:avLst/>
          </a:prstGeom>
        </p:spPr>
      </p:pic>
      <p:sp>
        <p:nvSpPr>
          <p:cNvPr id="35" name="Text 15"/>
          <p:cNvSpPr txBox="1"/>
          <p:nvPr/>
        </p:nvSpPr>
        <p:spPr>
          <a:xfrm>
            <a:off x="8648395" y="4405579"/>
            <a:ext cx="233537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Better resource utilization</a:t>
            </a:r>
            <a:endParaRPr lang="en-US" sz="1400" dirty="0"/>
          </a:p>
        </p:txBody>
      </p:sp>
      <p:sp>
        <p:nvSpPr>
          <p:cNvPr id="36" name="Text 16"/>
          <p:cNvSpPr txBox="1"/>
          <p:nvPr/>
        </p:nvSpPr>
        <p:spPr>
          <a:xfrm>
            <a:off x="1855318" y="6053328"/>
            <a:ext cx="88678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kern="0" spc="38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Proactive planning based on traffic patterns improves system efficiency</a:t>
            </a:r>
            <a:endParaRPr lang="en-US" sz="18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200C6D4-FF79-BD65-8F7B-1BBD52390B1E}"/>
              </a:ext>
            </a:extLst>
          </p:cNvPr>
          <p:cNvSpPr txBox="1"/>
          <p:nvPr/>
        </p:nvSpPr>
        <p:spPr>
          <a:xfrm>
            <a:off x="11620982" y="6158526"/>
            <a:ext cx="527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19</a:t>
            </a:r>
          </a:p>
        </p:txBody>
      </p:sp>
    </p:spTree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761695" y="571500"/>
            <a:ext cx="23820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14B8A6">
                    <a:alpha val="8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Question 4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1537106" y="2419502"/>
            <a:ext cx="9125712" cy="1638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100" b="1" kern="0" spc="-75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Did Traffic </a:t>
            </a:r>
            <a:r>
              <a:rPr lang="en-US" sz="5100" b="1" u="sng" kern="0" spc="-75" dirty="0">
                <a:solidFill>
                  <a:schemeClr val="accent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Patterns</a:t>
            </a:r>
            <a:r>
              <a:rPr lang="en-US" sz="5100" b="1" kern="0" spc="-75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Change</a:t>
            </a:r>
            <a:endParaRPr lang="en-US" sz="5100" dirty="0"/>
          </a:p>
          <a:p>
            <a:pPr marL="0" indent="0" algn="ctr">
              <a:buNone/>
            </a:pPr>
            <a:r>
              <a:rPr lang="en-US" sz="5100" b="1" kern="0" spc="-75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</a:t>
            </a:r>
            <a:r>
              <a:rPr lang="en-US" sz="5100" b="1" kern="0" spc="-75" dirty="0">
                <a:solidFill>
                  <a:srgbClr val="14B8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2025</a:t>
            </a:r>
            <a:r>
              <a:rPr lang="en-US" sz="5100" b="1" kern="0" spc="-75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? </a:t>
            </a:r>
            <a:endParaRPr lang="en-US" sz="5100" dirty="0"/>
          </a:p>
        </p:txBody>
      </p:sp>
      <p:sp>
        <p:nvSpPr>
          <p:cNvPr id="8" name="Text 4"/>
          <p:cNvSpPr txBox="1"/>
          <p:nvPr/>
        </p:nvSpPr>
        <p:spPr>
          <a:xfrm>
            <a:off x="1943100" y="4572000"/>
            <a:ext cx="83064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Understanding how congestion pricing influenced driver behavior</a:t>
            </a:r>
            <a:endParaRPr lang="en-US" sz="1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A917BF5-DD99-60A4-9055-BD519487CA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51265" y="42977"/>
            <a:ext cx="1275338" cy="67665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3574CD3-9710-6833-0F95-D5A6F4C80557}"/>
              </a:ext>
            </a:extLst>
          </p:cNvPr>
          <p:cNvSpPr txBox="1"/>
          <p:nvPr/>
        </p:nvSpPr>
        <p:spPr>
          <a:xfrm>
            <a:off x="11620982" y="6158526"/>
            <a:ext cx="527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20</a:t>
            </a:r>
          </a:p>
        </p:txBody>
      </p:sp>
    </p:spTree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1143000"/>
            <a:ext cx="11048695" cy="4762195"/>
          </a:xfrm>
          <a:prstGeom prst="roundRect">
            <a:avLst>
              <a:gd name="adj" fmla="val 922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86054" y="1457554"/>
            <a:ext cx="36868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Traffic Change by Facility (2025)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886053" y="1695298"/>
            <a:ext cx="4620463" cy="2340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Percentage change in traffic volume compared to baseline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9636862" y="1600200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14B8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827057" y="1580998"/>
            <a:ext cx="67025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Increase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0558577" y="1600200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6474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0748772" y="1580998"/>
            <a:ext cx="67939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Decrease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71500" y="6048299"/>
            <a:ext cx="11048695" cy="571500"/>
          </a:xfrm>
          <a:prstGeom prst="roundRect">
            <a:avLst>
              <a:gd name="adj" fmla="val 42667"/>
            </a:avLst>
          </a:prstGeom>
          <a:solidFill>
            <a:srgbClr val="14B8A6">
              <a:alpha val="1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571500" y="6210605"/>
            <a:ext cx="38405" cy="571500"/>
          </a:xfrm>
          <a:prstGeom prst="roundRect">
            <a:avLst>
              <a:gd name="adj" fmla="val 634917"/>
            </a:avLst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38505" y="6297785"/>
            <a:ext cx="46680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Drivers are redistributing routes</a:t>
            </a: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not reducing travel </a:t>
            </a:r>
            <a:endParaRPr lang="en-US" sz="16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363883" y="6232863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8688628" y="6297785"/>
            <a:ext cx="296997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Traffic is shifting toward select facilities</a:t>
            </a:r>
            <a:endParaRPr lang="en-US" sz="14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rcRect l="-402" r="-402"/>
          <a:stretch/>
        </p:blipFill>
        <p:spPr>
          <a:xfrm>
            <a:off x="6086246" y="2048256"/>
            <a:ext cx="19202" cy="363839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333195" y="2243023"/>
            <a:ext cx="7626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00" dirty="0">
                <a:solidFill>
                  <a:schemeClr val="bg1"/>
                </a:solidFill>
              </a:rPr>
              <a:t>George Washington Bridge Upper</a:t>
            </a:r>
          </a:p>
        </p:txBody>
      </p:sp>
      <p:sp>
        <p:nvSpPr>
          <p:cNvPr id="18" name="Text 13"/>
          <p:cNvSpPr txBox="1"/>
          <p:nvPr/>
        </p:nvSpPr>
        <p:spPr>
          <a:xfrm>
            <a:off x="1333195" y="2757830"/>
            <a:ext cx="7626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00" dirty="0">
                <a:solidFill>
                  <a:schemeClr val="bg1"/>
                </a:solidFill>
              </a:rPr>
              <a:t>Goethals Bridge</a:t>
            </a:r>
          </a:p>
        </p:txBody>
      </p:sp>
      <p:sp>
        <p:nvSpPr>
          <p:cNvPr id="19" name="Text 14"/>
          <p:cNvSpPr txBox="1"/>
          <p:nvPr/>
        </p:nvSpPr>
        <p:spPr>
          <a:xfrm>
            <a:off x="1333195" y="3271723"/>
            <a:ext cx="7626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00" dirty="0">
                <a:solidFill>
                  <a:schemeClr val="bg1"/>
                </a:solidFill>
              </a:rPr>
              <a:t>George Washington Bridge Lower</a:t>
            </a:r>
          </a:p>
        </p:txBody>
      </p:sp>
      <p:sp>
        <p:nvSpPr>
          <p:cNvPr id="20" name="Text 15"/>
          <p:cNvSpPr txBox="1"/>
          <p:nvPr/>
        </p:nvSpPr>
        <p:spPr>
          <a:xfrm>
            <a:off x="1333195" y="3786530"/>
            <a:ext cx="7626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00" dirty="0">
                <a:solidFill>
                  <a:schemeClr val="bg1"/>
                </a:solidFill>
              </a:rPr>
              <a:t>Bayonne Bridge</a:t>
            </a:r>
          </a:p>
        </p:txBody>
      </p:sp>
      <p:sp>
        <p:nvSpPr>
          <p:cNvPr id="21" name="Text 16"/>
          <p:cNvSpPr txBox="1"/>
          <p:nvPr/>
        </p:nvSpPr>
        <p:spPr>
          <a:xfrm>
            <a:off x="1333195" y="4300423"/>
            <a:ext cx="7626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00" dirty="0">
                <a:solidFill>
                  <a:schemeClr val="bg1"/>
                </a:solidFill>
              </a:rPr>
              <a:t>Outerbridge Crossing</a:t>
            </a:r>
          </a:p>
        </p:txBody>
      </p:sp>
      <p:sp>
        <p:nvSpPr>
          <p:cNvPr id="22" name="Text 17"/>
          <p:cNvSpPr txBox="1"/>
          <p:nvPr/>
        </p:nvSpPr>
        <p:spPr>
          <a:xfrm>
            <a:off x="1333195" y="4815230"/>
            <a:ext cx="7626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00" dirty="0">
                <a:solidFill>
                  <a:schemeClr val="bg1"/>
                </a:solidFill>
              </a:rPr>
              <a:t>Holland Tunnel</a:t>
            </a:r>
          </a:p>
        </p:txBody>
      </p:sp>
      <p:sp>
        <p:nvSpPr>
          <p:cNvPr id="23" name="Text 18"/>
          <p:cNvSpPr txBox="1"/>
          <p:nvPr/>
        </p:nvSpPr>
        <p:spPr>
          <a:xfrm>
            <a:off x="1333195" y="5329123"/>
            <a:ext cx="7626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00" dirty="0">
                <a:solidFill>
                  <a:schemeClr val="bg1"/>
                </a:solidFill>
              </a:rPr>
              <a:t>Lincoln Tunnel</a:t>
            </a:r>
          </a:p>
        </p:txBody>
      </p:sp>
      <p:sp>
        <p:nvSpPr>
          <p:cNvPr id="24" name="Shape 19"/>
          <p:cNvSpPr/>
          <p:nvPr/>
        </p:nvSpPr>
        <p:spPr>
          <a:xfrm>
            <a:off x="2286000" y="2143354"/>
            <a:ext cx="8572500" cy="362102"/>
          </a:xfrm>
          <a:prstGeom prst="roundRect">
            <a:avLst>
              <a:gd name="adj" fmla="val 10632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rcRect t="-15" b="-15"/>
          <a:stretch/>
        </p:blipFill>
        <p:spPr>
          <a:xfrm>
            <a:off x="6572707" y="2143354"/>
            <a:ext cx="3600907" cy="362102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0287000" y="2247595"/>
            <a:ext cx="4956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+2.94%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2286000" y="2657246"/>
            <a:ext cx="8572500" cy="362102"/>
          </a:xfrm>
          <a:prstGeom prst="roundRect">
            <a:avLst>
              <a:gd name="adj" fmla="val 10632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rcRect t="-21" b="-21"/>
          <a:stretch/>
        </p:blipFill>
        <p:spPr>
          <a:xfrm>
            <a:off x="6572707" y="2657246"/>
            <a:ext cx="1714500" cy="362102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8401507" y="2762402"/>
            <a:ext cx="4764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+1.43%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>
            <a:off x="2286000" y="3172054"/>
            <a:ext cx="8572500" cy="362102"/>
          </a:xfrm>
          <a:prstGeom prst="roundRect">
            <a:avLst>
              <a:gd name="adj" fmla="val 10632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rcRect t="-21" b="-21"/>
          <a:stretch/>
        </p:blipFill>
        <p:spPr>
          <a:xfrm>
            <a:off x="6572707" y="3172054"/>
            <a:ext cx="1028700" cy="362102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7715707" y="3276295"/>
            <a:ext cx="4864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+0.87%</a:t>
            </a:r>
            <a:endParaRPr lang="en-US" sz="900" dirty="0"/>
          </a:p>
        </p:txBody>
      </p:sp>
      <p:sp>
        <p:nvSpPr>
          <p:cNvPr id="33" name="Shape 25"/>
          <p:cNvSpPr/>
          <p:nvPr/>
        </p:nvSpPr>
        <p:spPr>
          <a:xfrm>
            <a:off x="2286000" y="3685946"/>
            <a:ext cx="8572500" cy="362102"/>
          </a:xfrm>
          <a:prstGeom prst="roundRect">
            <a:avLst>
              <a:gd name="adj" fmla="val 10632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9"/>
          <a:srcRect t="-21" b="-21"/>
          <a:stretch/>
        </p:blipFill>
        <p:spPr>
          <a:xfrm>
            <a:off x="6572707" y="3685946"/>
            <a:ext cx="685800" cy="362102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7372807" y="3791102"/>
            <a:ext cx="4956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+0.59%</a:t>
            </a:r>
            <a:endParaRPr lang="en-US" sz="900" dirty="0"/>
          </a:p>
        </p:txBody>
      </p:sp>
      <p:sp>
        <p:nvSpPr>
          <p:cNvPr id="36" name="Shape 27"/>
          <p:cNvSpPr/>
          <p:nvPr/>
        </p:nvSpPr>
        <p:spPr>
          <a:xfrm>
            <a:off x="2286000" y="4200754"/>
            <a:ext cx="8572500" cy="362102"/>
          </a:xfrm>
          <a:prstGeom prst="roundRect">
            <a:avLst>
              <a:gd name="adj" fmla="val 10632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10"/>
          <a:srcRect t="-21" b="-21"/>
          <a:stretch/>
        </p:blipFill>
        <p:spPr>
          <a:xfrm>
            <a:off x="6229807" y="4200754"/>
            <a:ext cx="342900" cy="362102"/>
          </a:xfrm>
          <a:prstGeom prst="rect">
            <a:avLst/>
          </a:prstGeom>
        </p:spPr>
      </p:pic>
      <p:sp>
        <p:nvSpPr>
          <p:cNvPr id="38" name="Text 28"/>
          <p:cNvSpPr txBox="1"/>
          <p:nvPr/>
        </p:nvSpPr>
        <p:spPr>
          <a:xfrm>
            <a:off x="5651906" y="4304995"/>
            <a:ext cx="4672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-0.28%</a:t>
            </a:r>
            <a:endParaRPr lang="en-US" sz="900" dirty="0"/>
          </a:p>
        </p:txBody>
      </p:sp>
      <p:sp>
        <p:nvSpPr>
          <p:cNvPr id="39" name="Shape 29"/>
          <p:cNvSpPr/>
          <p:nvPr/>
        </p:nvSpPr>
        <p:spPr>
          <a:xfrm>
            <a:off x="2286000" y="4714646"/>
            <a:ext cx="8572500" cy="362102"/>
          </a:xfrm>
          <a:prstGeom prst="roundRect">
            <a:avLst>
              <a:gd name="adj" fmla="val 10632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0" name="Image 8" descr="preencoded.png"/>
          <p:cNvPicPr>
            <a:picLocks noChangeAspect="1"/>
          </p:cNvPicPr>
          <p:nvPr/>
        </p:nvPicPr>
        <p:blipFill>
          <a:blip r:embed="rId11"/>
          <a:srcRect t="-6" b="-6"/>
          <a:stretch/>
        </p:blipFill>
        <p:spPr>
          <a:xfrm>
            <a:off x="6186830" y="4714646"/>
            <a:ext cx="385877" cy="362102"/>
          </a:xfrm>
          <a:prstGeom prst="rect">
            <a:avLst/>
          </a:prstGeom>
        </p:spPr>
      </p:pic>
      <p:sp>
        <p:nvSpPr>
          <p:cNvPr id="41" name="Text 30"/>
          <p:cNvSpPr txBox="1"/>
          <p:nvPr/>
        </p:nvSpPr>
        <p:spPr>
          <a:xfrm>
            <a:off x="5607101" y="4819802"/>
            <a:ext cx="4672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-0.30%</a:t>
            </a:r>
            <a:endParaRPr lang="en-US" sz="900" dirty="0"/>
          </a:p>
        </p:txBody>
      </p:sp>
      <p:sp>
        <p:nvSpPr>
          <p:cNvPr id="42" name="Shape 31"/>
          <p:cNvSpPr/>
          <p:nvPr/>
        </p:nvSpPr>
        <p:spPr>
          <a:xfrm>
            <a:off x="2286000" y="5229454"/>
            <a:ext cx="8572500" cy="362102"/>
          </a:xfrm>
          <a:prstGeom prst="roundRect">
            <a:avLst>
              <a:gd name="adj" fmla="val 10632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3" name="Image 9" descr="preencoded.png"/>
          <p:cNvPicPr>
            <a:picLocks noChangeAspect="1"/>
          </p:cNvPicPr>
          <p:nvPr/>
        </p:nvPicPr>
        <p:blipFill>
          <a:blip r:embed="rId12"/>
          <a:srcRect l="-6" r="-6"/>
          <a:stretch/>
        </p:blipFill>
        <p:spPr>
          <a:xfrm>
            <a:off x="5715000" y="5229454"/>
            <a:ext cx="857707" cy="362102"/>
          </a:xfrm>
          <a:prstGeom prst="rect">
            <a:avLst/>
          </a:prstGeom>
        </p:spPr>
      </p:pic>
      <p:sp>
        <p:nvSpPr>
          <p:cNvPr id="44" name="Text 32"/>
          <p:cNvSpPr txBox="1"/>
          <p:nvPr/>
        </p:nvSpPr>
        <p:spPr>
          <a:xfrm>
            <a:off x="5173675" y="5333695"/>
            <a:ext cx="52578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-0.71%</a:t>
            </a:r>
            <a:endParaRPr lang="en-US" sz="900" dirty="0"/>
          </a:p>
        </p:txBody>
      </p:sp>
      <p:sp>
        <p:nvSpPr>
          <p:cNvPr id="45" name="Text 33"/>
          <p:cNvSpPr txBox="1"/>
          <p:nvPr/>
        </p:nvSpPr>
        <p:spPr>
          <a:xfrm>
            <a:off x="571500" y="381305"/>
            <a:ext cx="889711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Traffic Did Not Decrease — It Shifted Across Facilities</a:t>
            </a:r>
            <a:endParaRPr lang="en-US" sz="2400" dirty="0"/>
          </a:p>
        </p:txBody>
      </p:sp>
      <p:sp>
        <p:nvSpPr>
          <p:cNvPr id="46" name="Shape 34"/>
          <p:cNvSpPr/>
          <p:nvPr/>
        </p:nvSpPr>
        <p:spPr>
          <a:xfrm>
            <a:off x="10577779" y="400507"/>
            <a:ext cx="1047902" cy="333756"/>
          </a:xfrm>
          <a:prstGeom prst="roundRect">
            <a:avLst>
              <a:gd name="adj" fmla="val 273973"/>
            </a:avLst>
          </a:prstGeom>
          <a:solidFill>
            <a:srgbClr val="14B8A6">
              <a:alpha val="20000"/>
            </a:srgbClr>
          </a:solidFill>
          <a:ln w="12700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10577779" y="400507"/>
            <a:ext cx="1047902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Q4 Answer</a:t>
            </a:r>
            <a:endParaRPr lang="en-US" sz="10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1102CC4-296C-281B-C7BB-C9DD507F14F3}"/>
              </a:ext>
            </a:extLst>
          </p:cNvPr>
          <p:cNvSpPr txBox="1"/>
          <p:nvPr/>
        </p:nvSpPr>
        <p:spPr>
          <a:xfrm>
            <a:off x="11658599" y="6158526"/>
            <a:ext cx="49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21</a:t>
            </a:r>
          </a:p>
        </p:txBody>
      </p:sp>
    </p:spTree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1143000"/>
            <a:ext cx="5181905" cy="4381805"/>
          </a:xfrm>
          <a:prstGeom prst="roundRect">
            <a:avLst>
              <a:gd name="adj" fmla="val 1452"/>
            </a:avLst>
          </a:prstGeom>
          <a:solidFill>
            <a:srgbClr val="14B8A6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71500" y="1143000"/>
            <a:ext cx="38405" cy="4381805"/>
          </a:xfrm>
          <a:prstGeom prst="roundRect">
            <a:avLst>
              <a:gd name="adj" fmla="val 165631"/>
            </a:avLst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14400" y="1576426"/>
            <a:ext cx="418795" cy="418795"/>
          </a:xfrm>
          <a:prstGeom prst="roundRect">
            <a:avLst>
              <a:gd name="adj" fmla="val 79397"/>
            </a:avLst>
          </a:prstGeom>
          <a:solidFill>
            <a:srgbClr val="14B8A6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52474" y="1690726"/>
            <a:ext cx="142646" cy="19019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84986" y="1457554"/>
            <a:ext cx="39529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Demand Is Increasing in Select Facilities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484986" y="1952244"/>
            <a:ext cx="39529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Traffic growing at key locations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927085" y="2408073"/>
            <a:ext cx="4524451" cy="466344"/>
          </a:xfrm>
          <a:prstGeom prst="roundRect">
            <a:avLst>
              <a:gd name="adj" fmla="val 64026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1073506" y="2460194"/>
            <a:ext cx="2115007" cy="3621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chemeClr val="bg1"/>
                </a:solidFill>
              </a:rPr>
              <a:t>George Washington Bridge Upper</a:t>
            </a:r>
          </a:p>
        </p:txBody>
      </p:sp>
      <p:sp>
        <p:nvSpPr>
          <p:cNvPr id="12" name="Text 8"/>
          <p:cNvSpPr txBox="1"/>
          <p:nvPr/>
        </p:nvSpPr>
        <p:spPr>
          <a:xfrm>
            <a:off x="3080215" y="2588209"/>
            <a:ext cx="5623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+2.94%</a:t>
            </a:r>
            <a:endParaRPr lang="en-US" sz="14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 l="-133" r="-133"/>
          <a:stretch/>
        </p:blipFill>
        <p:spPr>
          <a:xfrm>
            <a:off x="3991356" y="2595982"/>
            <a:ext cx="85954" cy="1143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153205" y="2576779"/>
            <a:ext cx="150327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Strongest increase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914400" y="3038551"/>
            <a:ext cx="4524451" cy="466344"/>
          </a:xfrm>
          <a:prstGeom prst="roundRect">
            <a:avLst>
              <a:gd name="adj" fmla="val 64026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1095451" y="3181198"/>
            <a:ext cx="23911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chemeClr val="bg1"/>
                </a:solidFill>
              </a:rPr>
              <a:t>Goethals Bridge</a:t>
            </a:r>
          </a:p>
        </p:txBody>
      </p:sp>
      <p:sp>
        <p:nvSpPr>
          <p:cNvPr id="17" name="Text 12"/>
          <p:cNvSpPr txBox="1"/>
          <p:nvPr/>
        </p:nvSpPr>
        <p:spPr>
          <a:xfrm>
            <a:off x="3080902" y="3192448"/>
            <a:ext cx="658785" cy="1981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+1.43%</a:t>
            </a:r>
            <a:endParaRPr lang="en-US" sz="14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5"/>
          <a:srcRect l="-133" r="-133"/>
          <a:stretch/>
        </p:blipFill>
        <p:spPr>
          <a:xfrm>
            <a:off x="4240987" y="3215030"/>
            <a:ext cx="85954" cy="11430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4402836" y="3195828"/>
            <a:ext cx="109453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Steady growth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914400" y="3657600"/>
            <a:ext cx="4524451" cy="466344"/>
          </a:xfrm>
          <a:prstGeom prst="roundRect">
            <a:avLst>
              <a:gd name="adj" fmla="val 64026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1095451" y="3719779"/>
            <a:ext cx="2134210" cy="339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chemeClr val="bg1"/>
                </a:solidFill>
              </a:rPr>
              <a:t>George Washington Bridge Lower</a:t>
            </a:r>
          </a:p>
        </p:txBody>
      </p:sp>
      <p:sp>
        <p:nvSpPr>
          <p:cNvPr id="22" name="Text 16"/>
          <p:cNvSpPr txBox="1"/>
          <p:nvPr/>
        </p:nvSpPr>
        <p:spPr>
          <a:xfrm>
            <a:off x="3080902" y="3800246"/>
            <a:ext cx="5532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+0.87%</a:t>
            </a:r>
            <a:endParaRPr lang="en-US" sz="140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5"/>
          <a:srcRect l="-133" r="-133"/>
          <a:stretch/>
        </p:blipFill>
        <p:spPr>
          <a:xfrm>
            <a:off x="3995928" y="3834079"/>
            <a:ext cx="85954" cy="11430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4157777" y="3814877"/>
            <a:ext cx="14292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Moderate increase</a:t>
            </a:r>
            <a:endParaRPr lang="en-US" sz="120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6"/>
          <a:srcRect t="-2089" b="-2089"/>
          <a:stretch/>
        </p:blipFill>
        <p:spPr>
          <a:xfrm>
            <a:off x="6090818" y="1143000"/>
            <a:ext cx="9144" cy="4381805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6443777" y="1143000"/>
            <a:ext cx="5181905" cy="4381805"/>
          </a:xfrm>
          <a:prstGeom prst="roundRect">
            <a:avLst>
              <a:gd name="adj" fmla="val 1452"/>
            </a:avLst>
          </a:prstGeom>
          <a:solidFill>
            <a:srgbClr val="EF4444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6443777" y="1143000"/>
            <a:ext cx="38405" cy="4381805"/>
          </a:xfrm>
          <a:prstGeom prst="roundRect">
            <a:avLst>
              <a:gd name="adj" fmla="val 165631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6786677" y="1462126"/>
            <a:ext cx="418795" cy="418795"/>
          </a:xfrm>
          <a:prstGeom prst="roundRect">
            <a:avLst>
              <a:gd name="adj" fmla="val 79397"/>
            </a:avLst>
          </a:prstGeom>
          <a:solidFill>
            <a:srgbClr val="EF4444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924751" y="1576426"/>
            <a:ext cx="142646" cy="190195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7358177" y="1457554"/>
            <a:ext cx="3849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Other Facilities Are Losing Traffic</a:t>
            </a:r>
            <a:endParaRPr lang="en-US" sz="1500" dirty="0"/>
          </a:p>
        </p:txBody>
      </p:sp>
      <p:sp>
        <p:nvSpPr>
          <p:cNvPr id="31" name="Text 22"/>
          <p:cNvSpPr txBox="1"/>
          <p:nvPr/>
        </p:nvSpPr>
        <p:spPr>
          <a:xfrm>
            <a:off x="7358177" y="1723644"/>
            <a:ext cx="32488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Declining usage indicates avoidance</a:t>
            </a:r>
            <a:endParaRPr lang="en-US" sz="1000" dirty="0"/>
          </a:p>
        </p:txBody>
      </p:sp>
      <p:sp>
        <p:nvSpPr>
          <p:cNvPr id="32" name="Shape 23"/>
          <p:cNvSpPr/>
          <p:nvPr/>
        </p:nvSpPr>
        <p:spPr>
          <a:xfrm>
            <a:off x="6786677" y="2190902"/>
            <a:ext cx="4524451" cy="466344"/>
          </a:xfrm>
          <a:prstGeom prst="roundRect">
            <a:avLst>
              <a:gd name="adj" fmla="val 64026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3" name="Text 24"/>
          <p:cNvSpPr txBox="1"/>
          <p:nvPr/>
        </p:nvSpPr>
        <p:spPr>
          <a:xfrm>
            <a:off x="6967728" y="2333549"/>
            <a:ext cx="27432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chemeClr val="bg1"/>
                </a:solidFill>
              </a:rPr>
              <a:t>Lincoln Tunnel</a:t>
            </a:r>
          </a:p>
        </p:txBody>
      </p:sp>
      <p:sp>
        <p:nvSpPr>
          <p:cNvPr id="34" name="Text 25"/>
          <p:cNvSpPr txBox="1"/>
          <p:nvPr/>
        </p:nvSpPr>
        <p:spPr>
          <a:xfrm>
            <a:off x="9340596" y="2343607"/>
            <a:ext cx="55138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-0.71%</a:t>
            </a:r>
            <a:endParaRPr lang="en-US" sz="1400" dirty="0"/>
          </a:p>
        </p:txBody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8"/>
          <a:srcRect l="-133" r="-133"/>
          <a:stretch/>
        </p:blipFill>
        <p:spPr>
          <a:xfrm>
            <a:off x="10418674" y="2367382"/>
            <a:ext cx="85954" cy="114300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10580522" y="2348179"/>
            <a:ext cx="75163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Declining</a:t>
            </a:r>
            <a:endParaRPr lang="en-US" sz="1200" dirty="0"/>
          </a:p>
        </p:txBody>
      </p:sp>
      <p:sp>
        <p:nvSpPr>
          <p:cNvPr id="37" name="Shape 27"/>
          <p:cNvSpPr/>
          <p:nvPr/>
        </p:nvSpPr>
        <p:spPr>
          <a:xfrm>
            <a:off x="6786677" y="2809951"/>
            <a:ext cx="4524451" cy="466344"/>
          </a:xfrm>
          <a:prstGeom prst="roundRect">
            <a:avLst>
              <a:gd name="adj" fmla="val 64026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8" name="Text 28"/>
          <p:cNvSpPr txBox="1"/>
          <p:nvPr/>
        </p:nvSpPr>
        <p:spPr>
          <a:xfrm>
            <a:off x="6967728" y="2952598"/>
            <a:ext cx="24195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chemeClr val="bg1"/>
                </a:solidFill>
              </a:rPr>
              <a:t>Holland Tunnel</a:t>
            </a:r>
          </a:p>
        </p:txBody>
      </p:sp>
      <p:sp>
        <p:nvSpPr>
          <p:cNvPr id="39" name="Text 29"/>
          <p:cNvSpPr txBox="1"/>
          <p:nvPr/>
        </p:nvSpPr>
        <p:spPr>
          <a:xfrm>
            <a:off x="9344119" y="2952598"/>
            <a:ext cx="5340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-0.30%</a:t>
            </a:r>
            <a:endParaRPr lang="en-US" sz="1400" dirty="0"/>
          </a:p>
        </p:txBody>
      </p:sp>
      <p:pic>
        <p:nvPicPr>
          <p:cNvPr id="40" name="Image 8" descr="preencoded.png"/>
          <p:cNvPicPr>
            <a:picLocks noChangeAspect="1"/>
          </p:cNvPicPr>
          <p:nvPr/>
        </p:nvPicPr>
        <p:blipFill>
          <a:blip r:embed="rId8"/>
          <a:srcRect l="-133" r="-133"/>
          <a:stretch/>
        </p:blipFill>
        <p:spPr>
          <a:xfrm>
            <a:off x="10136124" y="2986430"/>
            <a:ext cx="85954" cy="114300"/>
          </a:xfrm>
          <a:prstGeom prst="rect">
            <a:avLst/>
          </a:prstGeom>
        </p:spPr>
      </p:pic>
      <p:sp>
        <p:nvSpPr>
          <p:cNvPr id="41" name="Text 30"/>
          <p:cNvSpPr txBox="1"/>
          <p:nvPr/>
        </p:nvSpPr>
        <p:spPr>
          <a:xfrm>
            <a:off x="10297973" y="2967228"/>
            <a:ext cx="116494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Stable decline</a:t>
            </a:r>
            <a:endParaRPr lang="en-US" sz="1200" dirty="0"/>
          </a:p>
        </p:txBody>
      </p:sp>
      <p:sp>
        <p:nvSpPr>
          <p:cNvPr id="42" name="Shape 31"/>
          <p:cNvSpPr/>
          <p:nvPr/>
        </p:nvSpPr>
        <p:spPr>
          <a:xfrm>
            <a:off x="6786677" y="3429000"/>
            <a:ext cx="4524451" cy="466344"/>
          </a:xfrm>
          <a:prstGeom prst="roundRect">
            <a:avLst>
              <a:gd name="adj" fmla="val 64026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3" name="Text 32"/>
          <p:cNvSpPr txBox="1"/>
          <p:nvPr/>
        </p:nvSpPr>
        <p:spPr>
          <a:xfrm>
            <a:off x="6967728" y="3571646"/>
            <a:ext cx="23344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chemeClr val="bg1"/>
                </a:solidFill>
              </a:rPr>
              <a:t>Outerbridge Crossing</a:t>
            </a:r>
          </a:p>
        </p:txBody>
      </p:sp>
      <p:sp>
        <p:nvSpPr>
          <p:cNvPr id="44" name="Text 33"/>
          <p:cNvSpPr txBox="1"/>
          <p:nvPr/>
        </p:nvSpPr>
        <p:spPr>
          <a:xfrm>
            <a:off x="9349282" y="3571646"/>
            <a:ext cx="5340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-0.28%</a:t>
            </a:r>
            <a:endParaRPr lang="en-US" sz="1400" dirty="0"/>
          </a:p>
        </p:txBody>
      </p:sp>
      <p:pic>
        <p:nvPicPr>
          <p:cNvPr id="45" name="Image 9" descr="preencoded.png"/>
          <p:cNvPicPr>
            <a:picLocks noChangeAspect="1"/>
          </p:cNvPicPr>
          <p:nvPr/>
        </p:nvPicPr>
        <p:blipFill>
          <a:blip r:embed="rId8"/>
          <a:srcRect l="-133" r="-133"/>
          <a:stretch/>
        </p:blipFill>
        <p:spPr>
          <a:xfrm>
            <a:off x="10048342" y="3605479"/>
            <a:ext cx="85954" cy="114300"/>
          </a:xfrm>
          <a:prstGeom prst="rect">
            <a:avLst/>
          </a:prstGeom>
        </p:spPr>
      </p:pic>
      <p:sp>
        <p:nvSpPr>
          <p:cNvPr id="46" name="Text 34"/>
          <p:cNvSpPr txBox="1"/>
          <p:nvPr/>
        </p:nvSpPr>
        <p:spPr>
          <a:xfrm>
            <a:off x="10211105" y="3586277"/>
            <a:ext cx="117957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Minor decrease</a:t>
            </a:r>
            <a:endParaRPr lang="en-US" sz="1200" dirty="0"/>
          </a:p>
        </p:txBody>
      </p:sp>
      <p:sp>
        <p:nvSpPr>
          <p:cNvPr id="47" name="Shape 35"/>
          <p:cNvSpPr/>
          <p:nvPr/>
        </p:nvSpPr>
        <p:spPr>
          <a:xfrm>
            <a:off x="571500" y="5810098"/>
            <a:ext cx="11048695" cy="666598"/>
          </a:xfrm>
          <a:prstGeom prst="roundRect">
            <a:avLst>
              <a:gd name="adj" fmla="val 31354"/>
            </a:avLst>
          </a:prstGeom>
          <a:solidFill>
            <a:srgbClr val="14B8A6">
              <a:alpha val="10000"/>
            </a:srgbClr>
          </a:solidFill>
          <a:ln/>
        </p:spPr>
      </p:sp>
      <p:sp>
        <p:nvSpPr>
          <p:cNvPr id="48" name="Shape 36"/>
          <p:cNvSpPr/>
          <p:nvPr/>
        </p:nvSpPr>
        <p:spPr>
          <a:xfrm>
            <a:off x="571500" y="5810098"/>
            <a:ext cx="38405" cy="666598"/>
          </a:xfrm>
          <a:prstGeom prst="roundRect">
            <a:avLst>
              <a:gd name="adj" fmla="val 544215"/>
            </a:avLst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49" name="Text 37"/>
          <p:cNvSpPr txBox="1"/>
          <p:nvPr/>
        </p:nvSpPr>
        <p:spPr>
          <a:xfrm>
            <a:off x="1124712" y="6043270"/>
            <a:ext cx="104013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Drivers are actively optimizing routes</a:t>
            </a: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based on conditions — not reducing travel, but redistributing across the network </a:t>
            </a:r>
            <a:endParaRPr lang="en-US" sz="1300" dirty="0"/>
          </a:p>
        </p:txBody>
      </p:sp>
      <p:pic>
        <p:nvPicPr>
          <p:cNvPr id="50" name="Image 10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38505" y="6055157"/>
            <a:ext cx="171907" cy="171907"/>
          </a:xfrm>
          <a:prstGeom prst="rect">
            <a:avLst/>
          </a:prstGeom>
        </p:spPr>
      </p:pic>
      <p:sp>
        <p:nvSpPr>
          <p:cNvPr id="51" name="Text 38"/>
          <p:cNvSpPr txBox="1"/>
          <p:nvPr/>
        </p:nvSpPr>
        <p:spPr>
          <a:xfrm>
            <a:off x="571500" y="381305"/>
            <a:ext cx="959205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Traffic Redistribution Indicates Route Switching Behavior</a:t>
            </a:r>
            <a:endParaRPr lang="en-US" sz="2400" dirty="0"/>
          </a:p>
        </p:txBody>
      </p:sp>
      <p:sp>
        <p:nvSpPr>
          <p:cNvPr id="52" name="Shape 39"/>
          <p:cNvSpPr/>
          <p:nvPr/>
        </p:nvSpPr>
        <p:spPr>
          <a:xfrm>
            <a:off x="10477195" y="400507"/>
            <a:ext cx="1152144" cy="333756"/>
          </a:xfrm>
          <a:prstGeom prst="roundRect">
            <a:avLst>
              <a:gd name="adj" fmla="val 273973"/>
            </a:avLst>
          </a:prstGeom>
          <a:solidFill>
            <a:srgbClr val="14B8A6">
              <a:alpha val="20000"/>
            </a:srgbClr>
          </a:solidFill>
          <a:ln w="12700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53" name="Text 40"/>
          <p:cNvSpPr/>
          <p:nvPr/>
        </p:nvSpPr>
        <p:spPr>
          <a:xfrm>
            <a:off x="10477195" y="400507"/>
            <a:ext cx="1153058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Q4 Evidence</a:t>
            </a:r>
            <a:endParaRPr lang="en-US" sz="1000" dirty="0"/>
          </a:p>
        </p:txBody>
      </p:sp>
    </p:spTree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1333195"/>
            <a:ext cx="6858000" cy="4572000"/>
          </a:xfrm>
          <a:prstGeom prst="roundRect">
            <a:avLst>
              <a:gd name="adj" fmla="val 1333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61949" y="1723644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14B8A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67105" y="1828800"/>
            <a:ext cx="171907" cy="171907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57554" y="1814170"/>
            <a:ext cx="333298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Traffic Driver Importance Ranking</a:t>
            </a:r>
            <a:endParaRPr lang="en-US" sz="13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 l="-2512" r="-2512"/>
          <a:stretch/>
        </p:blipFill>
        <p:spPr>
          <a:xfrm>
            <a:off x="961949" y="3029407"/>
            <a:ext cx="105156" cy="133502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143000" y="3014777"/>
            <a:ext cx="70774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Facility</a:t>
            </a:r>
            <a:endParaRPr lang="en-US" sz="1200" dirty="0"/>
          </a:p>
        </p:txBody>
      </p:sp>
      <p:sp>
        <p:nvSpPr>
          <p:cNvPr id="10" name="Shape 5"/>
          <p:cNvSpPr/>
          <p:nvPr/>
        </p:nvSpPr>
        <p:spPr>
          <a:xfrm>
            <a:off x="2343607" y="2924251"/>
            <a:ext cx="4695444" cy="342900"/>
          </a:xfrm>
          <a:prstGeom prst="roundRect">
            <a:avLst>
              <a:gd name="adj" fmla="val 88889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rcRect t="-2" b="-2"/>
          <a:stretch/>
        </p:blipFill>
        <p:spPr>
          <a:xfrm>
            <a:off x="2343607" y="2924251"/>
            <a:ext cx="4169664" cy="34290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6003036" y="2960388"/>
            <a:ext cx="625450" cy="277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88.8%</a:t>
            </a:r>
            <a:endParaRPr lang="en-US" sz="12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rcRect t="-1100" b="-1100"/>
          <a:stretch/>
        </p:blipFill>
        <p:spPr>
          <a:xfrm>
            <a:off x="961949" y="3600907"/>
            <a:ext cx="114300" cy="133502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1152144" y="3586277"/>
            <a:ext cx="100218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of Week</a:t>
            </a:r>
            <a:endParaRPr lang="en-US" sz="1200" dirty="0"/>
          </a:p>
        </p:txBody>
      </p:sp>
      <p:sp>
        <p:nvSpPr>
          <p:cNvPr id="15" name="Shape 8"/>
          <p:cNvSpPr/>
          <p:nvPr/>
        </p:nvSpPr>
        <p:spPr>
          <a:xfrm>
            <a:off x="2343607" y="3495751"/>
            <a:ext cx="4695444" cy="342900"/>
          </a:xfrm>
          <a:prstGeom prst="roundRect">
            <a:avLst>
              <a:gd name="adj" fmla="val 88889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8"/>
          <a:srcRect l="-6" r="-6"/>
          <a:stretch/>
        </p:blipFill>
        <p:spPr>
          <a:xfrm>
            <a:off x="2343607" y="3495751"/>
            <a:ext cx="1174090" cy="342900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3078113" y="3543300"/>
            <a:ext cx="58155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25%</a:t>
            </a:r>
            <a:endParaRPr lang="en-US" sz="12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9"/>
          <a:srcRect l="-1507" r="-1507"/>
          <a:stretch/>
        </p:blipFill>
        <p:spPr>
          <a:xfrm>
            <a:off x="961949" y="4172407"/>
            <a:ext cx="85954" cy="133502"/>
          </a:xfrm>
          <a:prstGeom prst="rect">
            <a:avLst/>
          </a:prstGeom>
        </p:spPr>
      </p:pic>
      <p:sp>
        <p:nvSpPr>
          <p:cNvPr id="19" name="Text 10"/>
          <p:cNvSpPr txBox="1"/>
          <p:nvPr/>
        </p:nvSpPr>
        <p:spPr>
          <a:xfrm>
            <a:off x="1123798" y="4157777"/>
            <a:ext cx="100218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Temperature</a:t>
            </a:r>
            <a:endParaRPr lang="en-US" sz="1200" dirty="0"/>
          </a:p>
        </p:txBody>
      </p:sp>
      <p:sp>
        <p:nvSpPr>
          <p:cNvPr id="20" name="Shape 11"/>
          <p:cNvSpPr/>
          <p:nvPr/>
        </p:nvSpPr>
        <p:spPr>
          <a:xfrm>
            <a:off x="2343607" y="4067251"/>
            <a:ext cx="4695444" cy="342900"/>
          </a:xfrm>
          <a:prstGeom prst="roundRect">
            <a:avLst>
              <a:gd name="adj" fmla="val 88889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10"/>
          <a:srcRect t="-12" b="-12"/>
          <a:stretch/>
        </p:blipFill>
        <p:spPr>
          <a:xfrm>
            <a:off x="2343607" y="4067251"/>
            <a:ext cx="704088" cy="342900"/>
          </a:xfrm>
          <a:prstGeom prst="rect">
            <a:avLst/>
          </a:prstGeom>
        </p:spPr>
      </p:pic>
      <p:sp>
        <p:nvSpPr>
          <p:cNvPr id="22" name="Text 12"/>
          <p:cNvSpPr txBox="1"/>
          <p:nvPr/>
        </p:nvSpPr>
        <p:spPr>
          <a:xfrm>
            <a:off x="2577694" y="4091395"/>
            <a:ext cx="58521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</a:t>
            </a:r>
            <a:endParaRPr lang="en-US" sz="1200" dirty="0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11"/>
          <a:srcRect l="-1507" r="-1507"/>
          <a:stretch/>
        </p:blipFill>
        <p:spPr>
          <a:xfrm>
            <a:off x="961949" y="4743907"/>
            <a:ext cx="171907" cy="133502"/>
          </a:xfrm>
          <a:prstGeom prst="rect">
            <a:avLst/>
          </a:prstGeom>
        </p:spPr>
      </p:pic>
      <p:sp>
        <p:nvSpPr>
          <p:cNvPr id="24" name="Text 13"/>
          <p:cNvSpPr txBox="1"/>
          <p:nvPr/>
        </p:nvSpPr>
        <p:spPr>
          <a:xfrm>
            <a:off x="1209751" y="4729277"/>
            <a:ext cx="64099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Weather</a:t>
            </a:r>
            <a:endParaRPr lang="en-US" sz="1200" dirty="0"/>
          </a:p>
        </p:txBody>
      </p:sp>
      <p:sp>
        <p:nvSpPr>
          <p:cNvPr id="25" name="Shape 14"/>
          <p:cNvSpPr/>
          <p:nvPr/>
        </p:nvSpPr>
        <p:spPr>
          <a:xfrm>
            <a:off x="2343607" y="4638751"/>
            <a:ext cx="4695444" cy="342900"/>
          </a:xfrm>
          <a:prstGeom prst="roundRect">
            <a:avLst>
              <a:gd name="adj" fmla="val 88889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12"/>
          <a:srcRect l="-23" r="-23"/>
          <a:stretch/>
        </p:blipFill>
        <p:spPr>
          <a:xfrm>
            <a:off x="2343607" y="4638751"/>
            <a:ext cx="375818" cy="342900"/>
          </a:xfrm>
          <a:prstGeom prst="rect">
            <a:avLst/>
          </a:prstGeom>
        </p:spPr>
      </p:pic>
      <p:sp>
        <p:nvSpPr>
          <p:cNvPr id="27" name="Text 15"/>
          <p:cNvSpPr txBox="1"/>
          <p:nvPr/>
        </p:nvSpPr>
        <p:spPr>
          <a:xfrm>
            <a:off x="2400300" y="4733849"/>
            <a:ext cx="2103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8%</a:t>
            </a:r>
            <a:endParaRPr lang="en-US" sz="1200" dirty="0"/>
          </a:p>
        </p:txBody>
      </p:sp>
      <p:sp>
        <p:nvSpPr>
          <p:cNvPr id="28" name="Shape 16"/>
          <p:cNvSpPr/>
          <p:nvPr/>
        </p:nvSpPr>
        <p:spPr>
          <a:xfrm>
            <a:off x="7810805" y="1333195"/>
            <a:ext cx="3810305" cy="4572000"/>
          </a:xfrm>
          <a:prstGeom prst="roundRect">
            <a:avLst>
              <a:gd name="adj" fmla="val 1920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9" name="Shape 17"/>
          <p:cNvSpPr/>
          <p:nvPr/>
        </p:nvSpPr>
        <p:spPr>
          <a:xfrm>
            <a:off x="8124444" y="1647749"/>
            <a:ext cx="342900" cy="342900"/>
          </a:xfrm>
          <a:prstGeom prst="roundRect">
            <a:avLst>
              <a:gd name="adj" fmla="val 118519"/>
            </a:avLst>
          </a:prstGeom>
          <a:solidFill>
            <a:srgbClr val="14B8A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0" name="Image 10" descr="preencoded.png"/>
          <p:cNvPicPr>
            <a:picLocks noChangeAspect="1"/>
          </p:cNvPicPr>
          <p:nvPr/>
        </p:nvPicPr>
        <p:blipFill>
          <a:blip r:embed="rId13"/>
          <a:srcRect t="-100" b="-100"/>
          <a:stretch/>
        </p:blipFill>
        <p:spPr>
          <a:xfrm>
            <a:off x="8238744" y="1742846"/>
            <a:ext cx="114300" cy="152705"/>
          </a:xfrm>
          <a:prstGeom prst="rect">
            <a:avLst/>
          </a:prstGeom>
        </p:spPr>
      </p:pic>
      <p:sp>
        <p:nvSpPr>
          <p:cNvPr id="31" name="Text 18"/>
          <p:cNvSpPr txBox="1"/>
          <p:nvPr/>
        </p:nvSpPr>
        <p:spPr>
          <a:xfrm>
            <a:off x="8581644" y="1723644"/>
            <a:ext cx="10771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Insights</a:t>
            </a:r>
            <a:endParaRPr lang="en-US" sz="1600" dirty="0"/>
          </a:p>
        </p:txBody>
      </p:sp>
      <p:sp>
        <p:nvSpPr>
          <p:cNvPr id="32" name="Text 19"/>
          <p:cNvSpPr txBox="1"/>
          <p:nvPr/>
        </p:nvSpPr>
        <p:spPr>
          <a:xfrm>
            <a:off x="8124444" y="2180844"/>
            <a:ext cx="3182112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Congestion patterns are primarily determined by location, with predictable time behavior and environmental conditions playing secondary roles.</a:t>
            </a:r>
            <a:endParaRPr lang="en-US" sz="1400" dirty="0"/>
          </a:p>
        </p:txBody>
      </p:sp>
      <p:sp>
        <p:nvSpPr>
          <p:cNvPr id="33" name="Shape 20"/>
          <p:cNvSpPr/>
          <p:nvPr/>
        </p:nvSpPr>
        <p:spPr>
          <a:xfrm>
            <a:off x="8124444" y="3650285"/>
            <a:ext cx="3181198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21"/>
          <p:cNvSpPr/>
          <p:nvPr/>
        </p:nvSpPr>
        <p:spPr>
          <a:xfrm>
            <a:off x="8124444" y="3221431"/>
            <a:ext cx="75895" cy="75895"/>
          </a:xfrm>
          <a:prstGeom prst="ellipse">
            <a:avLst/>
          </a:prstGeom>
          <a:solidFill>
            <a:srgbClr val="14B8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22"/>
          <p:cNvSpPr txBox="1"/>
          <p:nvPr/>
        </p:nvSpPr>
        <p:spPr>
          <a:xfrm>
            <a:off x="8315554" y="3163824"/>
            <a:ext cx="299100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Congestion is primarily </a:t>
            </a:r>
            <a:r>
              <a:rPr lang="en-US" sz="1300" b="1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location-driven</a:t>
            </a:r>
            <a:r>
              <a:rPr lang="en-US" sz="130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- Facility 7: </a:t>
            </a:r>
            <a:r>
              <a:rPr lang="en-US" sz="1400" dirty="0">
                <a:solidFill>
                  <a:schemeClr val="bg1"/>
                </a:solidFill>
              </a:rPr>
              <a:t>George Washington Bridge Upper</a:t>
            </a:r>
            <a:r>
              <a:rPr lang="en-US" sz="13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30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accounts for 47% of total traffic</a:t>
            </a:r>
            <a:endParaRPr lang="en-US" sz="1300" dirty="0"/>
          </a:p>
        </p:txBody>
      </p:sp>
      <p:sp>
        <p:nvSpPr>
          <p:cNvPr id="36" name="Shape 23"/>
          <p:cNvSpPr/>
          <p:nvPr/>
        </p:nvSpPr>
        <p:spPr>
          <a:xfrm>
            <a:off x="8124444" y="4602175"/>
            <a:ext cx="3181198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24"/>
          <p:cNvSpPr/>
          <p:nvPr/>
        </p:nvSpPr>
        <p:spPr>
          <a:xfrm>
            <a:off x="8124444" y="4172407"/>
            <a:ext cx="75895" cy="75895"/>
          </a:xfrm>
          <a:prstGeom prst="ellipse">
            <a:avLst/>
          </a:prstGeom>
          <a:solidFill>
            <a:srgbClr val="14B8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25"/>
          <p:cNvSpPr txBox="1"/>
          <p:nvPr/>
        </p:nvSpPr>
        <p:spPr>
          <a:xfrm>
            <a:off x="8315554" y="4115714"/>
            <a:ext cx="299100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patterns </a:t>
            </a:r>
            <a:r>
              <a:rPr lang="en-US" sz="1300" b="1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shape demand</a:t>
            </a:r>
            <a:r>
              <a:rPr lang="en-US" sz="130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- Friday/Saturday show 15% higher traffic</a:t>
            </a:r>
            <a:endParaRPr lang="en-US" sz="1300" dirty="0"/>
          </a:p>
        </p:txBody>
      </p:sp>
      <p:sp>
        <p:nvSpPr>
          <p:cNvPr id="39" name="Shape 26"/>
          <p:cNvSpPr/>
          <p:nvPr/>
        </p:nvSpPr>
        <p:spPr>
          <a:xfrm>
            <a:off x="8124444" y="5124298"/>
            <a:ext cx="75895" cy="75895"/>
          </a:xfrm>
          <a:prstGeom prst="ellipse">
            <a:avLst/>
          </a:prstGeom>
          <a:solidFill>
            <a:srgbClr val="14B8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27"/>
          <p:cNvSpPr txBox="1"/>
          <p:nvPr/>
        </p:nvSpPr>
        <p:spPr>
          <a:xfrm>
            <a:off x="8315554" y="5067605"/>
            <a:ext cx="299100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Weather plays a </a:t>
            </a:r>
            <a:r>
              <a:rPr lang="en-US" sz="1300" b="1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secondary role</a:t>
            </a:r>
            <a:r>
              <a:rPr lang="en-US" sz="130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- only 8% influence on traffic</a:t>
            </a:r>
            <a:endParaRPr lang="en-US" sz="1300" dirty="0"/>
          </a:p>
        </p:txBody>
      </p:sp>
      <p:sp>
        <p:nvSpPr>
          <p:cNvPr id="41" name="Shape 28"/>
          <p:cNvSpPr/>
          <p:nvPr/>
        </p:nvSpPr>
        <p:spPr>
          <a:xfrm>
            <a:off x="571500" y="6152998"/>
            <a:ext cx="11048695" cy="514807"/>
          </a:xfrm>
          <a:prstGeom prst="roundRect">
            <a:avLst>
              <a:gd name="adj" fmla="val 52628"/>
            </a:avLst>
          </a:prstGeom>
          <a:solidFill>
            <a:srgbClr val="14B8A6">
              <a:alpha val="10000"/>
            </a:srgbClr>
          </a:solidFill>
          <a:ln/>
        </p:spPr>
      </p:sp>
      <p:sp>
        <p:nvSpPr>
          <p:cNvPr id="42" name="Shape 29"/>
          <p:cNvSpPr/>
          <p:nvPr/>
        </p:nvSpPr>
        <p:spPr>
          <a:xfrm>
            <a:off x="571500" y="6152998"/>
            <a:ext cx="38405" cy="514807"/>
          </a:xfrm>
          <a:prstGeom prst="roundRect">
            <a:avLst>
              <a:gd name="adj" fmla="val 705464"/>
            </a:avLst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43" name="Text 30"/>
          <p:cNvSpPr txBox="1"/>
          <p:nvPr/>
        </p:nvSpPr>
        <p:spPr>
          <a:xfrm>
            <a:off x="838505" y="6242608"/>
            <a:ext cx="6696614" cy="352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Congestion is concentrated</a:t>
            </a: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not evenly distributed across the network </a:t>
            </a:r>
            <a:endParaRPr lang="en-US" sz="1600" dirty="0"/>
          </a:p>
        </p:txBody>
      </p:sp>
      <p:sp>
        <p:nvSpPr>
          <p:cNvPr id="44" name="Text 31"/>
          <p:cNvSpPr txBox="1"/>
          <p:nvPr/>
        </p:nvSpPr>
        <p:spPr>
          <a:xfrm>
            <a:off x="571500" y="381305"/>
            <a:ext cx="762061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Congestion Is Driven by Location, Not Uniform Across the System</a:t>
            </a:r>
            <a:endParaRPr lang="en-US" sz="2400" dirty="0"/>
          </a:p>
        </p:txBody>
      </p:sp>
      <p:sp>
        <p:nvSpPr>
          <p:cNvPr id="45" name="Shape 32"/>
          <p:cNvSpPr/>
          <p:nvPr/>
        </p:nvSpPr>
        <p:spPr>
          <a:xfrm>
            <a:off x="10520172" y="381305"/>
            <a:ext cx="1104595" cy="333756"/>
          </a:xfrm>
          <a:prstGeom prst="roundRect">
            <a:avLst>
              <a:gd name="adj" fmla="val 273973"/>
            </a:avLst>
          </a:prstGeom>
          <a:solidFill>
            <a:srgbClr val="14B8A6">
              <a:alpha val="20000"/>
            </a:srgbClr>
          </a:solidFill>
          <a:ln w="12700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46" name="Text 33"/>
          <p:cNvSpPr/>
          <p:nvPr/>
        </p:nvSpPr>
        <p:spPr>
          <a:xfrm>
            <a:off x="10520172" y="381305"/>
            <a:ext cx="1105510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Q4 Analysis</a:t>
            </a:r>
            <a:endParaRPr lang="en-US" sz="10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DF75807-A6EF-9AA4-8A50-1453F972B940}"/>
              </a:ext>
            </a:extLst>
          </p:cNvPr>
          <p:cNvSpPr txBox="1"/>
          <p:nvPr/>
        </p:nvSpPr>
        <p:spPr>
          <a:xfrm>
            <a:off x="11620982" y="6158526"/>
            <a:ext cx="527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23</a:t>
            </a:r>
          </a:p>
        </p:txBody>
      </p:sp>
    </p:spTree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rcRect l="-3" r="-3"/>
          <a:stretch/>
        </p:blipFill>
        <p:spPr>
          <a:xfrm>
            <a:off x="761695" y="1429207"/>
            <a:ext cx="3238805" cy="4134002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rcRect l="-3" r="-3"/>
          <a:stretch/>
        </p:blipFill>
        <p:spPr>
          <a:xfrm>
            <a:off x="4476902" y="1429207"/>
            <a:ext cx="3238805" cy="4134002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6"/>
          <a:srcRect l="-3" r="-3"/>
          <a:stretch/>
        </p:blipFill>
        <p:spPr>
          <a:xfrm>
            <a:off x="8191195" y="1429207"/>
            <a:ext cx="3238805" cy="4134002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>
            <a:off x="1333195" y="5857646"/>
            <a:ext cx="9562795" cy="714146"/>
          </a:xfrm>
          <a:prstGeom prst="roundRect">
            <a:avLst>
              <a:gd name="adj" fmla="val 40973"/>
            </a:avLst>
          </a:prstGeom>
          <a:solidFill>
            <a:srgbClr val="14B8A6">
              <a:alpha val="15000"/>
            </a:srgbClr>
          </a:solidFill>
          <a:ln/>
        </p:spPr>
      </p:sp>
      <p:sp>
        <p:nvSpPr>
          <p:cNvPr id="8" name="Shape 2"/>
          <p:cNvSpPr/>
          <p:nvPr/>
        </p:nvSpPr>
        <p:spPr>
          <a:xfrm>
            <a:off x="1333195" y="5857646"/>
            <a:ext cx="38405" cy="714146"/>
          </a:xfrm>
          <a:prstGeom prst="roundRect">
            <a:avLst>
              <a:gd name="adj" fmla="val 761901"/>
            </a:avLst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9" name="Text 3"/>
          <p:cNvSpPr txBox="1"/>
          <p:nvPr/>
        </p:nvSpPr>
        <p:spPr>
          <a:xfrm>
            <a:off x="761695" y="381305"/>
            <a:ext cx="10668305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kern="0" spc="-37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Managing Congestion at the System Level</a:t>
            </a:r>
            <a:endParaRPr lang="en-US" sz="3100" dirty="0"/>
          </a:p>
        </p:txBody>
      </p:sp>
      <p:sp>
        <p:nvSpPr>
          <p:cNvPr id="10" name="Text 4"/>
          <p:cNvSpPr txBox="1"/>
          <p:nvPr/>
        </p:nvSpPr>
        <p:spPr>
          <a:xfrm>
            <a:off x="761695" y="937260"/>
            <a:ext cx="106683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Proactive network management to balance traffic distribution</a:t>
            </a:r>
            <a:endParaRPr lang="en-US" sz="14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>
            <a:alphaModFix amt="90000"/>
          </a:blip>
          <a:srcRect/>
          <a:stretch/>
        </p:blipFill>
        <p:spPr>
          <a:xfrm>
            <a:off x="2210105" y="1781251"/>
            <a:ext cx="342900" cy="34290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952805" y="2286000"/>
            <a:ext cx="28575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</a:rPr>
              <a:t>Recommendation</a:t>
            </a:r>
            <a:endParaRPr lang="en-US" sz="160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52805" y="2991002"/>
            <a:ext cx="152705" cy="152705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1218895" y="2952598"/>
            <a:ext cx="25914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 facility-level shifts in real-time</a:t>
            </a:r>
            <a:endParaRPr lang="en-US" sz="1400" dirty="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52805" y="3676802"/>
            <a:ext cx="152705" cy="152705"/>
          </a:xfrm>
          <a:prstGeom prst="rect">
            <a:avLst/>
          </a:prstGeom>
        </p:spPr>
      </p:pic>
      <p:sp>
        <p:nvSpPr>
          <p:cNvPr id="16" name="Text 7"/>
          <p:cNvSpPr txBox="1"/>
          <p:nvPr/>
        </p:nvSpPr>
        <p:spPr>
          <a:xfrm>
            <a:off x="1218895" y="3638398"/>
            <a:ext cx="25914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 congestion across the network</a:t>
            </a:r>
            <a:endParaRPr lang="en-US" sz="1400" dirty="0"/>
          </a:p>
        </p:txBody>
      </p:sp>
      <p:pic>
        <p:nvPicPr>
          <p:cNvPr id="17" name="Image 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52805" y="4362602"/>
            <a:ext cx="152705" cy="152705"/>
          </a:xfrm>
          <a:prstGeom prst="rect">
            <a:avLst/>
          </a:prstGeom>
        </p:spPr>
      </p:pic>
      <p:sp>
        <p:nvSpPr>
          <p:cNvPr id="18" name="Text 8"/>
          <p:cNvSpPr txBox="1"/>
          <p:nvPr/>
        </p:nvSpPr>
        <p:spPr>
          <a:xfrm>
            <a:off x="1218895" y="4324198"/>
            <a:ext cx="26755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Avoid isolated decision-making</a:t>
            </a:r>
            <a:endParaRPr lang="en-US" sz="1400" dirty="0"/>
          </a:p>
        </p:txBody>
      </p:sp>
      <p:pic>
        <p:nvPicPr>
          <p:cNvPr id="19" name="Image 8" descr="preencoded.png"/>
          <p:cNvPicPr>
            <a:picLocks noChangeAspect="1"/>
          </p:cNvPicPr>
          <p:nvPr/>
        </p:nvPicPr>
        <p:blipFill>
          <a:blip r:embed="rId9">
            <a:alphaModFix amt="90000"/>
          </a:blip>
          <a:srcRect l="-27" r="-27"/>
          <a:stretch/>
        </p:blipFill>
        <p:spPr>
          <a:xfrm>
            <a:off x="5881421" y="1781251"/>
            <a:ext cx="428854" cy="342900"/>
          </a:xfrm>
          <a:prstGeom prst="rect">
            <a:avLst/>
          </a:prstGeom>
        </p:spPr>
      </p:pic>
      <p:sp>
        <p:nvSpPr>
          <p:cNvPr id="20" name="Text 9"/>
          <p:cNvSpPr txBox="1"/>
          <p:nvPr/>
        </p:nvSpPr>
        <p:spPr>
          <a:xfrm>
            <a:off x="4667098" y="2286000"/>
            <a:ext cx="28575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Implementation</a:t>
            </a:r>
            <a:endParaRPr lang="en-US" sz="1600" dirty="0"/>
          </a:p>
        </p:txBody>
      </p:sp>
      <p:pic>
        <p:nvPicPr>
          <p:cNvPr id="21" name="Image 9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4667098" y="2991002"/>
            <a:ext cx="152705" cy="152705"/>
          </a:xfrm>
          <a:prstGeom prst="rect">
            <a:avLst/>
          </a:prstGeom>
        </p:spPr>
      </p:pic>
      <p:sp>
        <p:nvSpPr>
          <p:cNvPr id="22" name="Text 10"/>
          <p:cNvSpPr txBox="1"/>
          <p:nvPr/>
        </p:nvSpPr>
        <p:spPr>
          <a:xfrm>
            <a:off x="4934102" y="2952598"/>
            <a:ext cx="25914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traffic share changes in real-time dashboards</a:t>
            </a:r>
            <a:endParaRPr lang="en-US" sz="1400" dirty="0"/>
          </a:p>
        </p:txBody>
      </p:sp>
      <p:pic>
        <p:nvPicPr>
          <p:cNvPr id="23" name="Image 10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4667098" y="3676802"/>
            <a:ext cx="152705" cy="152705"/>
          </a:xfrm>
          <a:prstGeom prst="rect">
            <a:avLst/>
          </a:prstGeom>
        </p:spPr>
      </p:pic>
      <p:sp>
        <p:nvSpPr>
          <p:cNvPr id="24" name="Text 11"/>
          <p:cNvSpPr txBox="1"/>
          <p:nvPr/>
        </p:nvSpPr>
        <p:spPr>
          <a:xfrm>
            <a:off x="4934102" y="3638398"/>
            <a:ext cx="25914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Adjust toll and routing strategies dynamically</a:t>
            </a:r>
            <a:endParaRPr lang="en-US" sz="1400" dirty="0"/>
          </a:p>
        </p:txBody>
      </p:sp>
      <p:pic>
        <p:nvPicPr>
          <p:cNvPr id="25" name="Image 11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4667098" y="4362602"/>
            <a:ext cx="152705" cy="152705"/>
          </a:xfrm>
          <a:prstGeom prst="rect">
            <a:avLst/>
          </a:prstGeom>
        </p:spPr>
      </p:pic>
      <p:sp>
        <p:nvSpPr>
          <p:cNvPr id="26" name="Text 12"/>
          <p:cNvSpPr txBox="1"/>
          <p:nvPr/>
        </p:nvSpPr>
        <p:spPr>
          <a:xfrm>
            <a:off x="4934102" y="4324198"/>
            <a:ext cx="25914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Strengthen monitoring at high-growth facilities</a:t>
            </a:r>
            <a:endParaRPr lang="en-US" sz="1400" dirty="0"/>
          </a:p>
        </p:txBody>
      </p:sp>
      <p:pic>
        <p:nvPicPr>
          <p:cNvPr id="27" name="Image 12" descr="preencoded.png"/>
          <p:cNvPicPr>
            <a:picLocks noChangeAspect="1"/>
          </p:cNvPicPr>
          <p:nvPr/>
        </p:nvPicPr>
        <p:blipFill>
          <a:blip r:embed="rId11">
            <a:alphaModFix amt="90000"/>
          </a:blip>
          <a:srcRect/>
          <a:stretch/>
        </p:blipFill>
        <p:spPr>
          <a:xfrm>
            <a:off x="9639605" y="1781251"/>
            <a:ext cx="342900" cy="342900"/>
          </a:xfrm>
          <a:prstGeom prst="rect">
            <a:avLst/>
          </a:prstGeom>
        </p:spPr>
      </p:pic>
      <p:sp>
        <p:nvSpPr>
          <p:cNvPr id="28" name="Text 13"/>
          <p:cNvSpPr txBox="1"/>
          <p:nvPr/>
        </p:nvSpPr>
        <p:spPr>
          <a:xfrm>
            <a:off x="8382305" y="2286000"/>
            <a:ext cx="28575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Impact</a:t>
            </a:r>
            <a:endParaRPr lang="en-US" sz="1600" dirty="0"/>
          </a:p>
        </p:txBody>
      </p:sp>
      <p:pic>
        <p:nvPicPr>
          <p:cNvPr id="29" name="Image 13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8382305" y="2991002"/>
            <a:ext cx="152705" cy="152705"/>
          </a:xfrm>
          <a:prstGeom prst="rect">
            <a:avLst/>
          </a:prstGeom>
        </p:spPr>
      </p:pic>
      <p:sp>
        <p:nvSpPr>
          <p:cNvPr id="30" name="Text 14"/>
          <p:cNvSpPr txBox="1"/>
          <p:nvPr/>
        </p:nvSpPr>
        <p:spPr>
          <a:xfrm>
            <a:off x="8648395" y="2952598"/>
            <a:ext cx="286847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Prevent new congestion hotspots</a:t>
            </a:r>
            <a:endParaRPr lang="en-US" sz="1400" dirty="0"/>
          </a:p>
        </p:txBody>
      </p:sp>
      <p:pic>
        <p:nvPicPr>
          <p:cNvPr id="31" name="Image 14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8382305" y="3448202"/>
            <a:ext cx="152705" cy="152705"/>
          </a:xfrm>
          <a:prstGeom prst="rect">
            <a:avLst/>
          </a:prstGeom>
        </p:spPr>
      </p:pic>
      <p:sp>
        <p:nvSpPr>
          <p:cNvPr id="32" name="Text 15"/>
          <p:cNvSpPr txBox="1"/>
          <p:nvPr/>
        </p:nvSpPr>
        <p:spPr>
          <a:xfrm>
            <a:off x="8648395" y="3409798"/>
            <a:ext cx="2255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Balance traffic distribution</a:t>
            </a:r>
            <a:endParaRPr lang="en-US" sz="1400" dirty="0"/>
          </a:p>
        </p:txBody>
      </p:sp>
      <p:pic>
        <p:nvPicPr>
          <p:cNvPr id="33" name="Image 15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8382305" y="3905402"/>
            <a:ext cx="152705" cy="152705"/>
          </a:xfrm>
          <a:prstGeom prst="rect">
            <a:avLst/>
          </a:prstGeom>
        </p:spPr>
      </p:pic>
      <p:sp>
        <p:nvSpPr>
          <p:cNvPr id="34" name="Text 16"/>
          <p:cNvSpPr txBox="1"/>
          <p:nvPr/>
        </p:nvSpPr>
        <p:spPr>
          <a:xfrm>
            <a:off x="8648395" y="386699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Improve system-wide efficiency</a:t>
            </a:r>
            <a:endParaRPr lang="en-US" sz="1400" dirty="0"/>
          </a:p>
        </p:txBody>
      </p:sp>
      <p:sp>
        <p:nvSpPr>
          <p:cNvPr id="35" name="Text 17"/>
          <p:cNvSpPr txBox="1"/>
          <p:nvPr/>
        </p:nvSpPr>
        <p:spPr>
          <a:xfrm>
            <a:off x="2652674" y="6090818"/>
            <a:ext cx="726765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kern="0" spc="38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Congestion pricing shifts traffic — it must be actively managed</a:t>
            </a:r>
            <a:endParaRPr lang="en-US" sz="160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17589E0D-8359-411E-7576-025DAB7B9FB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851265" y="42977"/>
            <a:ext cx="1275338" cy="676656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5997D79D-9C80-4808-0B42-B520BF8071D1}"/>
              </a:ext>
            </a:extLst>
          </p:cNvPr>
          <p:cNvSpPr txBox="1"/>
          <p:nvPr/>
        </p:nvSpPr>
        <p:spPr>
          <a:xfrm>
            <a:off x="11620982" y="6158526"/>
            <a:ext cx="527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24</a:t>
            </a:r>
          </a:p>
        </p:txBody>
      </p:sp>
    </p:spTree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761695" y="571500"/>
            <a:ext cx="23820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14B8A6">
                    <a:alpha val="8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Question 5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1634033" y="2602382"/>
            <a:ext cx="8925458" cy="146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kern="0" spc="-75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What Is the </a:t>
            </a:r>
            <a:r>
              <a:rPr lang="en-US" sz="4800" b="1" u="sng" kern="0" spc="-75" dirty="0">
                <a:solidFill>
                  <a:schemeClr val="accent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Expected Future</a:t>
            </a:r>
            <a:endParaRPr lang="en-US" sz="4800" u="sng" dirty="0">
              <a:solidFill>
                <a:schemeClr val="accent4"/>
              </a:solidFill>
            </a:endParaRPr>
          </a:p>
          <a:p>
            <a:pPr marL="0" indent="0" algn="ctr">
              <a:buNone/>
            </a:pPr>
            <a:r>
              <a:rPr lang="en-US" sz="4800" b="1" kern="0" spc="-75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Traffic Demand? </a:t>
            </a:r>
            <a:endParaRPr lang="en-US" sz="4800" dirty="0"/>
          </a:p>
        </p:txBody>
      </p:sp>
      <p:sp>
        <p:nvSpPr>
          <p:cNvPr id="8" name="Text 4"/>
          <p:cNvSpPr txBox="1"/>
          <p:nvPr/>
        </p:nvSpPr>
        <p:spPr>
          <a:xfrm>
            <a:off x="2190902" y="5333695"/>
            <a:ext cx="7810805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Understanding how traffic usage will </a:t>
            </a:r>
            <a:r>
              <a:rPr lang="en-US" sz="1600" dirty="0">
                <a:solidFill>
                  <a:srgbClr val="14B8A6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evolve beyond 2025</a:t>
            </a:r>
            <a:r>
              <a:rPr lang="en-US" sz="160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strategic planning decisions </a:t>
            </a:r>
            <a:endParaRPr lang="en-US" sz="16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1183D71-03F5-E332-E878-5BC14B1955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51265" y="42977"/>
            <a:ext cx="1275338" cy="67665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04CFAA2-6485-E4CB-1CFD-D77304FCDB93}"/>
              </a:ext>
            </a:extLst>
          </p:cNvPr>
          <p:cNvSpPr txBox="1"/>
          <p:nvPr/>
        </p:nvSpPr>
        <p:spPr>
          <a:xfrm>
            <a:off x="11620982" y="6158526"/>
            <a:ext cx="527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25</a:t>
            </a:r>
          </a:p>
        </p:txBody>
      </p:sp>
    </p:spTree>
  </p:cSld>
  <p:clrMapOvr>
    <a:masterClrMapping/>
  </p:clrMapOvr>
  <p:transition spd="slow">
    <p:push dir="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1047902"/>
            <a:ext cx="6667805" cy="4667098"/>
          </a:xfrm>
          <a:prstGeom prst="roundRect">
            <a:avLst>
              <a:gd name="adj" fmla="val 1280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09244" y="1285646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14B8A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t="-14384" b="-14384"/>
          <a:stretch/>
        </p:blipFill>
        <p:spPr>
          <a:xfrm>
            <a:off x="933602" y="1390802"/>
            <a:ext cx="133502" cy="171907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304849" y="1371599"/>
            <a:ext cx="396163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chemeClr val="bg1"/>
                </a:solidFill>
              </a:rPr>
              <a:t>George Washington Bridge Upper </a:t>
            </a:r>
            <a:r>
              <a:rPr lang="en-US" sz="13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Traffic Forecast (2013-2027)</a:t>
            </a:r>
            <a:endParaRPr lang="en-US" sz="1300" b="1" dirty="0">
              <a:solidFill>
                <a:schemeClr val="bg1"/>
              </a:solidFill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 l="-1" r="-1"/>
          <a:stretch/>
        </p:blipFill>
        <p:spPr>
          <a:xfrm>
            <a:off x="809244" y="1819656"/>
            <a:ext cx="6191402" cy="365760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7619695" y="1047902"/>
            <a:ext cx="1923898" cy="981151"/>
          </a:xfrm>
          <a:prstGeom prst="roundRect">
            <a:avLst>
              <a:gd name="adj" fmla="val 21716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7781544" y="1209751"/>
            <a:ext cx="180136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Monthly Traffic</a:t>
            </a:r>
            <a:endParaRPr lang="en-US" sz="1200" dirty="0"/>
          </a:p>
        </p:txBody>
      </p:sp>
      <p:sp>
        <p:nvSpPr>
          <p:cNvPr id="11" name="Text 6"/>
          <p:cNvSpPr txBox="1"/>
          <p:nvPr/>
        </p:nvSpPr>
        <p:spPr>
          <a:xfrm>
            <a:off x="7781544" y="1438351"/>
            <a:ext cx="16002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258K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7781544" y="1676095"/>
            <a:ext cx="16002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+0.5% YoY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9696298" y="1047902"/>
            <a:ext cx="1923898" cy="981151"/>
          </a:xfrm>
          <a:prstGeom prst="roundRect">
            <a:avLst>
              <a:gd name="adj" fmla="val 21716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9858146" y="1209751"/>
            <a:ext cx="17099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Peak Daily Traffic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9858146" y="1438351"/>
            <a:ext cx="16002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95K+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9858146" y="1676095"/>
            <a:ext cx="16002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Facility 7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7619695" y="2180844"/>
            <a:ext cx="1923898" cy="981151"/>
          </a:xfrm>
          <a:prstGeom prst="roundRect">
            <a:avLst>
              <a:gd name="adj" fmla="val 21716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7781544" y="2343607"/>
            <a:ext cx="16002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Forecast Range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7781544" y="2572207"/>
            <a:ext cx="16002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250-260K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7781544" y="2809951"/>
            <a:ext cx="16002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2025-2027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9696298" y="2180844"/>
            <a:ext cx="1923898" cy="981151"/>
          </a:xfrm>
          <a:prstGeom prst="roundRect">
            <a:avLst>
              <a:gd name="adj" fmla="val 21716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9858146" y="2343607"/>
            <a:ext cx="16002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Stability Index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9858146" y="2572207"/>
            <a:ext cx="16002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94%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9858146" y="2809951"/>
            <a:ext cx="16002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Consistent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7619695" y="3353105"/>
            <a:ext cx="4000500" cy="866851"/>
          </a:xfrm>
          <a:prstGeom prst="roundRect">
            <a:avLst>
              <a:gd name="adj" fmla="val 18547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7781544" y="3631997"/>
            <a:ext cx="304495" cy="304495"/>
          </a:xfrm>
          <a:prstGeom prst="roundRect">
            <a:avLst>
              <a:gd name="adj" fmla="val 150150"/>
            </a:avLst>
          </a:prstGeom>
          <a:solidFill>
            <a:srgbClr val="14B8A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rcRect t="-13478" b="-13478"/>
          <a:stretch/>
        </p:blipFill>
        <p:spPr>
          <a:xfrm>
            <a:off x="7882128" y="3717950"/>
            <a:ext cx="105156" cy="133502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8201254" y="3476549"/>
            <a:ext cx="32580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Extreme Growth</a:t>
            </a:r>
            <a:endParaRPr lang="en-US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8201254" y="3696005"/>
            <a:ext cx="32580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Traffic does not show extreme growth or decline patterns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7619695" y="4329684"/>
            <a:ext cx="4000500" cy="866851"/>
          </a:xfrm>
          <a:prstGeom prst="roundRect">
            <a:avLst>
              <a:gd name="adj" fmla="val 18547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7781544" y="4609490"/>
            <a:ext cx="304495" cy="304495"/>
          </a:xfrm>
          <a:prstGeom prst="roundRect">
            <a:avLst>
              <a:gd name="adj" fmla="val 150150"/>
            </a:avLst>
          </a:prstGeom>
          <a:solidFill>
            <a:srgbClr val="14B8A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rcRect t="-29348" b="-29348"/>
          <a:stretch/>
        </p:blipFill>
        <p:spPr>
          <a:xfrm>
            <a:off x="7882128" y="4694530"/>
            <a:ext cx="105156" cy="133502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8201254" y="4454042"/>
            <a:ext cx="32580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Consistent Range</a:t>
            </a:r>
            <a:endParaRPr lang="en-US" sz="1300" dirty="0"/>
          </a:p>
        </p:txBody>
      </p:sp>
      <p:sp>
        <p:nvSpPr>
          <p:cNvPr id="34" name="Text 27"/>
          <p:cNvSpPr txBox="1"/>
          <p:nvPr/>
        </p:nvSpPr>
        <p:spPr>
          <a:xfrm>
            <a:off x="8201254" y="4672584"/>
            <a:ext cx="32580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Demand remains within 250-260K monthly range</a:t>
            </a:r>
            <a:endParaRPr lang="en-US" sz="1200" dirty="0"/>
          </a:p>
        </p:txBody>
      </p:sp>
      <p:sp>
        <p:nvSpPr>
          <p:cNvPr id="35" name="Shape 28"/>
          <p:cNvSpPr/>
          <p:nvPr/>
        </p:nvSpPr>
        <p:spPr>
          <a:xfrm>
            <a:off x="7619695" y="5307178"/>
            <a:ext cx="4000500" cy="666598"/>
          </a:xfrm>
          <a:prstGeom prst="roundRect">
            <a:avLst>
              <a:gd name="adj" fmla="val 31354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7781544" y="5487314"/>
            <a:ext cx="304495" cy="304495"/>
          </a:xfrm>
          <a:prstGeom prst="roundRect">
            <a:avLst>
              <a:gd name="adj" fmla="val 150150"/>
            </a:avLst>
          </a:prstGeom>
          <a:solidFill>
            <a:srgbClr val="14B8A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rcRect t="-29348" b="-29348"/>
          <a:stretch/>
        </p:blipFill>
        <p:spPr>
          <a:xfrm>
            <a:off x="7882128" y="5573268"/>
            <a:ext cx="105156" cy="133502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8201254" y="5430622"/>
            <a:ext cx="32580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Short-term Variation</a:t>
            </a:r>
            <a:endParaRPr lang="en-US" sz="1300" dirty="0"/>
          </a:p>
        </p:txBody>
      </p:sp>
      <p:sp>
        <p:nvSpPr>
          <p:cNvPr id="39" name="Text 31"/>
          <p:cNvSpPr txBox="1"/>
          <p:nvPr/>
        </p:nvSpPr>
        <p:spPr>
          <a:xfrm>
            <a:off x="8201254" y="5650078"/>
            <a:ext cx="386059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Traffic fluctuates with seasonal patterns</a:t>
            </a:r>
            <a:endParaRPr lang="en-US" sz="1200" dirty="0"/>
          </a:p>
        </p:txBody>
      </p:sp>
      <p:sp>
        <p:nvSpPr>
          <p:cNvPr id="40" name="Shape 32"/>
          <p:cNvSpPr/>
          <p:nvPr/>
        </p:nvSpPr>
        <p:spPr>
          <a:xfrm>
            <a:off x="571499" y="6090818"/>
            <a:ext cx="11048695" cy="571500"/>
          </a:xfrm>
          <a:prstGeom prst="roundRect">
            <a:avLst>
              <a:gd name="adj" fmla="val 42667"/>
            </a:avLst>
          </a:prstGeom>
          <a:solidFill>
            <a:srgbClr val="14B8A6">
              <a:alpha val="10000"/>
            </a:srgbClr>
          </a:solidFill>
          <a:ln/>
        </p:spPr>
      </p:sp>
      <p:sp>
        <p:nvSpPr>
          <p:cNvPr id="41" name="Shape 33"/>
          <p:cNvSpPr/>
          <p:nvPr/>
        </p:nvSpPr>
        <p:spPr>
          <a:xfrm>
            <a:off x="608990" y="6090818"/>
            <a:ext cx="38405" cy="571500"/>
          </a:xfrm>
          <a:prstGeom prst="roundRect">
            <a:avLst>
              <a:gd name="adj" fmla="val 634917"/>
            </a:avLst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42" name="Text 34"/>
          <p:cNvSpPr txBox="1"/>
          <p:nvPr/>
        </p:nvSpPr>
        <p:spPr>
          <a:xfrm>
            <a:off x="1132027" y="6286500"/>
            <a:ext cx="788852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Future demand is stable — not rapidly increasing, with predictable seasonal fluctuations </a:t>
            </a:r>
            <a:endParaRPr lang="en-US" sz="1600" dirty="0"/>
          </a:p>
        </p:txBody>
      </p:sp>
      <p:pic>
        <p:nvPicPr>
          <p:cNvPr id="43" name="Image 6" descr="preencoded.png"/>
          <p:cNvPicPr>
            <a:picLocks noChangeAspect="1"/>
          </p:cNvPicPr>
          <p:nvPr/>
        </p:nvPicPr>
        <p:blipFill>
          <a:blip r:embed="rId9"/>
          <a:srcRect t="-14384" b="-14384"/>
          <a:stretch/>
        </p:blipFill>
        <p:spPr>
          <a:xfrm>
            <a:off x="811933" y="6220901"/>
            <a:ext cx="257404" cy="331452"/>
          </a:xfrm>
          <a:prstGeom prst="rect">
            <a:avLst/>
          </a:prstGeom>
        </p:spPr>
      </p:pic>
      <p:sp>
        <p:nvSpPr>
          <p:cNvPr id="44" name="Text 35"/>
          <p:cNvSpPr txBox="1"/>
          <p:nvPr/>
        </p:nvSpPr>
        <p:spPr>
          <a:xfrm>
            <a:off x="571500" y="381305"/>
            <a:ext cx="10795406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37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Traffic Demand Is Stable but Continues to Fluctuate</a:t>
            </a:r>
            <a:endParaRPr lang="en-US" sz="2700" dirty="0"/>
          </a:p>
        </p:txBody>
      </p:sp>
      <p:sp>
        <p:nvSpPr>
          <p:cNvPr id="45" name="Shape 36"/>
          <p:cNvSpPr/>
          <p:nvPr/>
        </p:nvSpPr>
        <p:spPr>
          <a:xfrm>
            <a:off x="10381183" y="405079"/>
            <a:ext cx="1248156" cy="371246"/>
          </a:xfrm>
          <a:prstGeom prst="roundRect">
            <a:avLst>
              <a:gd name="adj" fmla="val 246306"/>
            </a:avLst>
          </a:prstGeom>
          <a:solidFill>
            <a:srgbClr val="14B8A6">
              <a:alpha val="20000"/>
            </a:srgbClr>
          </a:solidFill>
          <a:ln w="12700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46" name="Text 37"/>
          <p:cNvSpPr/>
          <p:nvPr/>
        </p:nvSpPr>
        <p:spPr>
          <a:xfrm>
            <a:off x="10381183" y="405079"/>
            <a:ext cx="1248156" cy="3721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Q5 Answer</a:t>
            </a:r>
            <a:endParaRPr lang="en-US" sz="13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F9237F9-6EF5-86C9-3B29-FB3723C74A44}"/>
              </a:ext>
            </a:extLst>
          </p:cNvPr>
          <p:cNvSpPr txBox="1"/>
          <p:nvPr/>
        </p:nvSpPr>
        <p:spPr>
          <a:xfrm>
            <a:off x="11620982" y="6158526"/>
            <a:ext cx="527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26</a:t>
            </a:r>
          </a:p>
        </p:txBody>
      </p:sp>
    </p:spTree>
  </p:cSld>
  <p:clrMapOvr>
    <a:masterClrMapping/>
  </p:clrMapOvr>
  <p:transition spd="slow"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76402" y="952805"/>
            <a:ext cx="5505602" cy="2029054"/>
          </a:xfrm>
          <a:prstGeom prst="roundRect">
            <a:avLst>
              <a:gd name="adj" fmla="val 5078"/>
            </a:avLst>
          </a:prstGeom>
          <a:solidFill>
            <a:srgbClr val="14B8A6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76402" y="952805"/>
            <a:ext cx="38405" cy="2029054"/>
          </a:xfrm>
          <a:prstGeom prst="roundRect">
            <a:avLst>
              <a:gd name="adj" fmla="val 268275"/>
            </a:avLst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80898" y="1190549"/>
            <a:ext cx="400507" cy="400507"/>
          </a:xfrm>
          <a:prstGeom prst="roundRect">
            <a:avLst>
              <a:gd name="adj" fmla="val 86975"/>
            </a:avLst>
          </a:prstGeom>
          <a:solidFill>
            <a:srgbClr val="14B8A6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l="-1773" r="-1773"/>
          <a:stretch/>
        </p:blipFill>
        <p:spPr>
          <a:xfrm>
            <a:off x="914400" y="1304849"/>
            <a:ext cx="133502" cy="17190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95705" y="1209751"/>
            <a:ext cx="27916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Facility-Level Differences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1254556" y="1465541"/>
            <a:ext cx="3884603" cy="247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High-demand facilities maintain higher volumes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780898" y="1800454"/>
            <a:ext cx="667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800" dirty="0"/>
          </a:p>
        </p:txBody>
      </p:sp>
      <p:sp>
        <p:nvSpPr>
          <p:cNvPr id="11" name="Text 7"/>
          <p:cNvSpPr txBox="1"/>
          <p:nvPr/>
        </p:nvSpPr>
        <p:spPr>
          <a:xfrm>
            <a:off x="933602" y="1789238"/>
            <a:ext cx="46680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High-demand facilities (7, 9) maintain 250-260K monthly traffic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80898" y="2115007"/>
            <a:ext cx="667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800" dirty="0"/>
          </a:p>
        </p:txBody>
      </p:sp>
      <p:sp>
        <p:nvSpPr>
          <p:cNvPr id="13" name="Text 9"/>
          <p:cNvSpPr txBox="1"/>
          <p:nvPr/>
        </p:nvSpPr>
        <p:spPr>
          <a:xfrm>
            <a:off x="933602" y="2057400"/>
            <a:ext cx="388254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Other facilities operate at different levels (150-190K)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780898" y="2428646"/>
            <a:ext cx="667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800" dirty="0"/>
          </a:p>
        </p:txBody>
      </p:sp>
      <p:sp>
        <p:nvSpPr>
          <p:cNvPr id="15" name="Text 11"/>
          <p:cNvSpPr txBox="1"/>
          <p:nvPr/>
        </p:nvSpPr>
        <p:spPr>
          <a:xfrm>
            <a:off x="933602" y="2371954"/>
            <a:ext cx="311719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Demand is not uniform across the system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210605" y="952805"/>
            <a:ext cx="5505602" cy="2029054"/>
          </a:xfrm>
          <a:prstGeom prst="roundRect">
            <a:avLst>
              <a:gd name="adj" fmla="val 5078"/>
            </a:avLst>
          </a:prstGeom>
          <a:solidFill>
            <a:srgbClr val="3B82F6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210605" y="952805"/>
            <a:ext cx="38405" cy="2029054"/>
          </a:xfrm>
          <a:prstGeom prst="roundRect">
            <a:avLst>
              <a:gd name="adj" fmla="val 268275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515100" y="1190549"/>
            <a:ext cx="400507" cy="400507"/>
          </a:xfrm>
          <a:prstGeom prst="roundRect">
            <a:avLst>
              <a:gd name="adj" fmla="val 86975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 t="-14384" b="-14384"/>
          <a:stretch/>
        </p:blipFill>
        <p:spPr>
          <a:xfrm>
            <a:off x="6648602" y="1304849"/>
            <a:ext cx="133502" cy="171907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7029907" y="1209750"/>
            <a:ext cx="2415035" cy="3072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Pattern Continuity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7029906" y="1456096"/>
            <a:ext cx="3290011" cy="294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Seasonal variation continues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6515100" y="1800454"/>
            <a:ext cx="667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800" dirty="0"/>
          </a:p>
        </p:txBody>
      </p:sp>
      <p:sp>
        <p:nvSpPr>
          <p:cNvPr id="23" name="Text 18"/>
          <p:cNvSpPr txBox="1"/>
          <p:nvPr/>
        </p:nvSpPr>
        <p:spPr>
          <a:xfrm>
            <a:off x="6667805" y="1742846"/>
            <a:ext cx="342259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Seasonal variation persists (+15% in summer)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6515100" y="2115007"/>
            <a:ext cx="667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800" dirty="0"/>
          </a:p>
        </p:txBody>
      </p:sp>
      <p:sp>
        <p:nvSpPr>
          <p:cNvPr id="25" name="Text 20"/>
          <p:cNvSpPr txBox="1"/>
          <p:nvPr/>
        </p:nvSpPr>
        <p:spPr>
          <a:xfrm>
            <a:off x="6667805" y="2057400"/>
            <a:ext cx="33439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Traffic fluctuates within stable ranges (±5%)</a:t>
            </a:r>
            <a:endParaRPr lang="en-US" sz="1200" dirty="0"/>
          </a:p>
        </p:txBody>
      </p:sp>
      <p:sp>
        <p:nvSpPr>
          <p:cNvPr id="26" name="Text 21"/>
          <p:cNvSpPr txBox="1"/>
          <p:nvPr/>
        </p:nvSpPr>
        <p:spPr>
          <a:xfrm>
            <a:off x="6515100" y="2428646"/>
            <a:ext cx="667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800" dirty="0"/>
          </a:p>
        </p:txBody>
      </p:sp>
      <p:sp>
        <p:nvSpPr>
          <p:cNvPr id="27" name="Text 22"/>
          <p:cNvSpPr txBox="1"/>
          <p:nvPr/>
        </p:nvSpPr>
        <p:spPr>
          <a:xfrm>
            <a:off x="6667805" y="2371954"/>
            <a:ext cx="29471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structural break in demand patterns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476402" y="3207715"/>
            <a:ext cx="11239805" cy="2628900"/>
          </a:xfrm>
          <a:prstGeom prst="roundRect">
            <a:avLst>
              <a:gd name="adj" fmla="val 3025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676656" y="3407969"/>
            <a:ext cx="386059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Facility Traffic Forecast Trends (2025-2027)</a:t>
            </a:r>
            <a:endParaRPr lang="en-US" sz="1400" dirty="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rcRect l="-504" r="-504"/>
          <a:stretch/>
        </p:blipFill>
        <p:spPr>
          <a:xfrm>
            <a:off x="6819595" y="3489350"/>
            <a:ext cx="152705" cy="28346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7048195" y="3427171"/>
            <a:ext cx="147401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Facility 7 (250-260K)</a:t>
            </a:r>
            <a:endParaRPr lang="en-US" sz="1200" dirty="0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rcRect l="-504" r="-504"/>
          <a:stretch/>
        </p:blipFill>
        <p:spPr>
          <a:xfrm>
            <a:off x="8475574" y="3489350"/>
            <a:ext cx="152705" cy="28346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8704174" y="3427171"/>
            <a:ext cx="142829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Facility 5 (180-190K)</a:t>
            </a:r>
            <a:endParaRPr lang="en-US" sz="1200" dirty="0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rcRect l="-504" r="-504"/>
          <a:stretch/>
        </p:blipFill>
        <p:spPr>
          <a:xfrm>
            <a:off x="10091318" y="3489350"/>
            <a:ext cx="152705" cy="28346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10319918" y="3427171"/>
            <a:ext cx="142829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Facility 2 (150-160K)</a:t>
            </a:r>
            <a:endParaRPr lang="en-US" sz="1200" dirty="0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rcRect t="-13" b="-13"/>
          <a:stretch/>
        </p:blipFill>
        <p:spPr>
          <a:xfrm>
            <a:off x="676656" y="3750869"/>
            <a:ext cx="10839298" cy="1886407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476402" y="6065215"/>
            <a:ext cx="11239805" cy="514807"/>
          </a:xfrm>
          <a:prstGeom prst="roundRect">
            <a:avLst>
              <a:gd name="adj" fmla="val 52628"/>
            </a:avLst>
          </a:prstGeom>
          <a:solidFill>
            <a:srgbClr val="14B8A6">
              <a:alpha val="10000"/>
            </a:srgbClr>
          </a:solidFill>
          <a:ln/>
        </p:spPr>
      </p:sp>
      <p:sp>
        <p:nvSpPr>
          <p:cNvPr id="38" name="Shape 29"/>
          <p:cNvSpPr/>
          <p:nvPr/>
        </p:nvSpPr>
        <p:spPr>
          <a:xfrm>
            <a:off x="476402" y="6065215"/>
            <a:ext cx="38405" cy="514807"/>
          </a:xfrm>
          <a:prstGeom prst="roundRect">
            <a:avLst>
              <a:gd name="adj" fmla="val 705464"/>
            </a:avLst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39" name="Text 30"/>
          <p:cNvSpPr txBox="1"/>
          <p:nvPr/>
        </p:nvSpPr>
        <p:spPr>
          <a:xfrm>
            <a:off x="972007" y="6227978"/>
            <a:ext cx="45912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Traffic patterns remain consistent</a:t>
            </a: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but vary by location </a:t>
            </a:r>
            <a:endParaRPr lang="en-US" sz="1400" dirty="0"/>
          </a:p>
        </p:txBody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10"/>
          <a:srcRect t="-12400" b="-12400"/>
          <a:stretch/>
        </p:blipFill>
        <p:spPr>
          <a:xfrm>
            <a:off x="743407" y="6246266"/>
            <a:ext cx="114300" cy="142646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476402" y="286207"/>
            <a:ext cx="886785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Traffic Behavior Remains Consistent Across Facilities</a:t>
            </a:r>
            <a:endParaRPr lang="en-US" sz="2400" dirty="0"/>
          </a:p>
        </p:txBody>
      </p:sp>
      <p:sp>
        <p:nvSpPr>
          <p:cNvPr id="42" name="Shape 32"/>
          <p:cNvSpPr/>
          <p:nvPr/>
        </p:nvSpPr>
        <p:spPr>
          <a:xfrm>
            <a:off x="10579608" y="304495"/>
            <a:ext cx="1143000" cy="333756"/>
          </a:xfrm>
          <a:prstGeom prst="roundRect">
            <a:avLst>
              <a:gd name="adj" fmla="val 273973"/>
            </a:avLst>
          </a:prstGeom>
          <a:solidFill>
            <a:srgbClr val="14B8A6">
              <a:alpha val="20000"/>
            </a:srgbClr>
          </a:solidFill>
          <a:ln w="12700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43" name="Text 33"/>
          <p:cNvSpPr/>
          <p:nvPr/>
        </p:nvSpPr>
        <p:spPr>
          <a:xfrm>
            <a:off x="10579608" y="304495"/>
            <a:ext cx="1143000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Q5 Evidence</a:t>
            </a:r>
            <a:endParaRPr lang="en-US" sz="10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C3E49FF-898A-1C56-0D80-90996F7AFCA3}"/>
              </a:ext>
            </a:extLst>
          </p:cNvPr>
          <p:cNvSpPr txBox="1"/>
          <p:nvPr/>
        </p:nvSpPr>
        <p:spPr>
          <a:xfrm>
            <a:off x="11620982" y="6158526"/>
            <a:ext cx="527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27</a:t>
            </a:r>
          </a:p>
        </p:txBody>
      </p:sp>
    </p:spTree>
  </p:cSld>
  <p:clrMapOvr>
    <a:masterClrMapping/>
  </p:clrMapOvr>
  <p:transition spd="slow">
    <p:push dir="u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rcRect l="-1" r="-1"/>
          <a:stretch/>
        </p:blipFill>
        <p:spPr>
          <a:xfrm>
            <a:off x="761695" y="1666951"/>
            <a:ext cx="3238805" cy="4038905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rcRect l="-1" r="-1"/>
          <a:stretch/>
        </p:blipFill>
        <p:spPr>
          <a:xfrm>
            <a:off x="4476902" y="1666951"/>
            <a:ext cx="3238805" cy="4038905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6"/>
          <a:srcRect l="-1" r="-1"/>
          <a:stretch/>
        </p:blipFill>
        <p:spPr>
          <a:xfrm>
            <a:off x="8191195" y="1666951"/>
            <a:ext cx="3238805" cy="4038905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>
            <a:off x="1333195" y="6001207"/>
            <a:ext cx="9562795" cy="571500"/>
          </a:xfrm>
          <a:prstGeom prst="roundRect">
            <a:avLst>
              <a:gd name="adj" fmla="val 42667"/>
            </a:avLst>
          </a:prstGeom>
          <a:solidFill>
            <a:srgbClr val="14B8A6">
              <a:alpha val="10000"/>
            </a:srgbClr>
          </a:solidFill>
          <a:ln/>
        </p:spPr>
      </p:sp>
      <p:sp>
        <p:nvSpPr>
          <p:cNvPr id="8" name="Shape 2"/>
          <p:cNvSpPr/>
          <p:nvPr/>
        </p:nvSpPr>
        <p:spPr>
          <a:xfrm>
            <a:off x="1333195" y="6001207"/>
            <a:ext cx="38405" cy="571500"/>
          </a:xfrm>
          <a:prstGeom prst="roundRect">
            <a:avLst>
              <a:gd name="adj" fmla="val 634917"/>
            </a:avLst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9" name="Text 3"/>
          <p:cNvSpPr txBox="1"/>
          <p:nvPr/>
        </p:nvSpPr>
        <p:spPr>
          <a:xfrm>
            <a:off x="761695" y="381305"/>
            <a:ext cx="10668305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0" b="1" kern="0" spc="-37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Planning for Stability, Not Expansion</a:t>
            </a:r>
            <a:endParaRPr lang="en-US" sz="3300" dirty="0"/>
          </a:p>
        </p:txBody>
      </p:sp>
      <p:sp>
        <p:nvSpPr>
          <p:cNvPr id="10" name="Text 4"/>
          <p:cNvSpPr txBox="1"/>
          <p:nvPr/>
        </p:nvSpPr>
        <p:spPr>
          <a:xfrm>
            <a:off x="761695" y="937260"/>
            <a:ext cx="106683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 on optimizing existing infrastructure and managing variability</a:t>
            </a:r>
            <a:endParaRPr lang="en-US" sz="13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>
            <a:alphaModFix amt="90000"/>
          </a:blip>
          <a:srcRect/>
          <a:stretch/>
        </p:blipFill>
        <p:spPr>
          <a:xfrm>
            <a:off x="2229307" y="2038198"/>
            <a:ext cx="304495" cy="304495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1846174" y="2636215"/>
            <a:ext cx="1076249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Strategy</a:t>
            </a:r>
            <a:endParaRPr lang="en-US" sz="160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52805" y="3228746"/>
            <a:ext cx="152705" cy="152705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1218895" y="3191256"/>
            <a:ext cx="291327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 on high-demand facilities</a:t>
            </a:r>
            <a:endParaRPr lang="en-US" sz="1200" dirty="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52805" y="3673145"/>
            <a:ext cx="152705" cy="152705"/>
          </a:xfrm>
          <a:prstGeom prst="rect">
            <a:avLst/>
          </a:prstGeom>
        </p:spPr>
      </p:pic>
      <p:sp>
        <p:nvSpPr>
          <p:cNvPr id="16" name="Text 7"/>
          <p:cNvSpPr txBox="1"/>
          <p:nvPr/>
        </p:nvSpPr>
        <p:spPr>
          <a:xfrm>
            <a:off x="1218895" y="3634740"/>
            <a:ext cx="285658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Optimize existing infrastructure</a:t>
            </a:r>
            <a:endParaRPr lang="en-US" sz="1200" dirty="0"/>
          </a:p>
        </p:txBody>
      </p:sp>
      <p:pic>
        <p:nvPicPr>
          <p:cNvPr id="17" name="Image 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52805" y="4117543"/>
            <a:ext cx="152705" cy="152705"/>
          </a:xfrm>
          <a:prstGeom prst="rect">
            <a:avLst/>
          </a:prstGeom>
        </p:spPr>
      </p:pic>
      <p:sp>
        <p:nvSpPr>
          <p:cNvPr id="18" name="Text 8"/>
          <p:cNvSpPr txBox="1"/>
          <p:nvPr/>
        </p:nvSpPr>
        <p:spPr>
          <a:xfrm>
            <a:off x="1218895" y="4079138"/>
            <a:ext cx="25914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 variability instead of growth</a:t>
            </a:r>
            <a:endParaRPr lang="en-US" sz="1200" dirty="0"/>
          </a:p>
        </p:txBody>
      </p:sp>
      <p:pic>
        <p:nvPicPr>
          <p:cNvPr id="19" name="Image 8" descr="preencoded.png"/>
          <p:cNvPicPr>
            <a:picLocks noChangeAspect="1"/>
          </p:cNvPicPr>
          <p:nvPr/>
        </p:nvPicPr>
        <p:blipFill>
          <a:blip r:embed="rId9"/>
          <a:srcRect t="-80" b="-80"/>
          <a:stretch/>
        </p:blipFill>
        <p:spPr>
          <a:xfrm>
            <a:off x="4166921" y="3552444"/>
            <a:ext cx="142646" cy="228600"/>
          </a:xfrm>
          <a:prstGeom prst="rect">
            <a:avLst/>
          </a:prstGeom>
        </p:spPr>
      </p:pic>
      <p:pic>
        <p:nvPicPr>
          <p:cNvPr id="20" name="Image 9" descr="preencoded.png"/>
          <p:cNvPicPr>
            <a:picLocks noChangeAspect="1"/>
          </p:cNvPicPr>
          <p:nvPr/>
        </p:nvPicPr>
        <p:blipFill>
          <a:blip r:embed="rId10">
            <a:alphaModFix amt="90000"/>
          </a:blip>
          <a:srcRect l="-90" r="-90"/>
          <a:stretch/>
        </p:blipFill>
        <p:spPr>
          <a:xfrm>
            <a:off x="5905195" y="2038198"/>
            <a:ext cx="381305" cy="304495"/>
          </a:xfrm>
          <a:prstGeom prst="rect">
            <a:avLst/>
          </a:prstGeom>
        </p:spPr>
      </p:pic>
      <p:sp>
        <p:nvSpPr>
          <p:cNvPr id="21" name="Text 9"/>
          <p:cNvSpPr txBox="1"/>
          <p:nvPr/>
        </p:nvSpPr>
        <p:spPr>
          <a:xfrm>
            <a:off x="5153558" y="2636215"/>
            <a:ext cx="189006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Implementation</a:t>
            </a:r>
            <a:endParaRPr lang="en-US" sz="1600" dirty="0"/>
          </a:p>
        </p:txBody>
      </p:sp>
      <p:pic>
        <p:nvPicPr>
          <p:cNvPr id="22" name="Image 10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4667098" y="3228746"/>
            <a:ext cx="152705" cy="152705"/>
          </a:xfrm>
          <a:prstGeom prst="rect">
            <a:avLst/>
          </a:prstGeom>
        </p:spPr>
      </p:pic>
      <p:sp>
        <p:nvSpPr>
          <p:cNvPr id="23" name="Text 10"/>
          <p:cNvSpPr txBox="1"/>
          <p:nvPr/>
        </p:nvSpPr>
        <p:spPr>
          <a:xfrm>
            <a:off x="4934102" y="3191256"/>
            <a:ext cx="25914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monthly forecasts for planning</a:t>
            </a:r>
            <a:endParaRPr lang="en-US" sz="1200" dirty="0"/>
          </a:p>
        </p:txBody>
      </p:sp>
      <p:pic>
        <p:nvPicPr>
          <p:cNvPr id="24" name="Image 11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4667098" y="3908146"/>
            <a:ext cx="152705" cy="152705"/>
          </a:xfrm>
          <a:prstGeom prst="rect">
            <a:avLst/>
          </a:prstGeom>
        </p:spPr>
      </p:pic>
      <p:sp>
        <p:nvSpPr>
          <p:cNvPr id="25" name="Text 11"/>
          <p:cNvSpPr txBox="1"/>
          <p:nvPr/>
        </p:nvSpPr>
        <p:spPr>
          <a:xfrm>
            <a:off x="4934102" y="3869741"/>
            <a:ext cx="25914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Adjust staffing and operations dynamically</a:t>
            </a:r>
            <a:endParaRPr lang="en-US" sz="1200" dirty="0"/>
          </a:p>
        </p:txBody>
      </p:sp>
      <p:pic>
        <p:nvPicPr>
          <p:cNvPr id="26" name="Image 12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4667098" y="4586630"/>
            <a:ext cx="152705" cy="152705"/>
          </a:xfrm>
          <a:prstGeom prst="rect">
            <a:avLst/>
          </a:prstGeom>
        </p:spPr>
      </p:pic>
      <p:sp>
        <p:nvSpPr>
          <p:cNvPr id="27" name="Text 12"/>
          <p:cNvSpPr txBox="1"/>
          <p:nvPr/>
        </p:nvSpPr>
        <p:spPr>
          <a:xfrm>
            <a:off x="4934102" y="4549140"/>
            <a:ext cx="2652674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 traffic at facility level</a:t>
            </a:r>
            <a:endParaRPr lang="en-US" sz="1200" dirty="0"/>
          </a:p>
        </p:txBody>
      </p:sp>
      <p:pic>
        <p:nvPicPr>
          <p:cNvPr id="28" name="Image 13" descr="preencoded.png"/>
          <p:cNvPicPr>
            <a:picLocks noChangeAspect="1"/>
          </p:cNvPicPr>
          <p:nvPr/>
        </p:nvPicPr>
        <p:blipFill>
          <a:blip r:embed="rId9"/>
          <a:srcRect t="-80" b="-80"/>
          <a:stretch/>
        </p:blipFill>
        <p:spPr>
          <a:xfrm>
            <a:off x="7882128" y="3552444"/>
            <a:ext cx="142646" cy="228600"/>
          </a:xfrm>
          <a:prstGeom prst="rect">
            <a:avLst/>
          </a:prstGeom>
        </p:spPr>
      </p:pic>
      <p:pic>
        <p:nvPicPr>
          <p:cNvPr id="29" name="Image 14" descr="preencoded.png"/>
          <p:cNvPicPr>
            <a:picLocks noChangeAspect="1"/>
          </p:cNvPicPr>
          <p:nvPr/>
        </p:nvPicPr>
        <p:blipFill>
          <a:blip r:embed="rId12">
            <a:alphaModFix amt="90000"/>
          </a:blip>
          <a:srcRect/>
          <a:stretch/>
        </p:blipFill>
        <p:spPr>
          <a:xfrm>
            <a:off x="9658807" y="2038198"/>
            <a:ext cx="304495" cy="304495"/>
          </a:xfrm>
          <a:prstGeom prst="rect">
            <a:avLst/>
          </a:prstGeom>
        </p:spPr>
      </p:pic>
      <p:sp>
        <p:nvSpPr>
          <p:cNvPr id="30" name="Text 13"/>
          <p:cNvSpPr txBox="1"/>
          <p:nvPr/>
        </p:nvSpPr>
        <p:spPr>
          <a:xfrm>
            <a:off x="9406433" y="2636215"/>
            <a:ext cx="81107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Impact</a:t>
            </a:r>
            <a:endParaRPr lang="en-US" sz="1600" dirty="0"/>
          </a:p>
        </p:txBody>
      </p:sp>
      <p:pic>
        <p:nvPicPr>
          <p:cNvPr id="31" name="Image 15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8382305" y="3228746"/>
            <a:ext cx="152705" cy="152705"/>
          </a:xfrm>
          <a:prstGeom prst="rect">
            <a:avLst/>
          </a:prstGeom>
        </p:spPr>
      </p:pic>
      <p:sp>
        <p:nvSpPr>
          <p:cNvPr id="32" name="Text 14"/>
          <p:cNvSpPr txBox="1"/>
          <p:nvPr/>
        </p:nvSpPr>
        <p:spPr>
          <a:xfrm>
            <a:off x="8648395" y="3191256"/>
            <a:ext cx="287944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Improved operational efficiency</a:t>
            </a:r>
            <a:endParaRPr lang="en-US" sz="1200" dirty="0"/>
          </a:p>
        </p:txBody>
      </p:sp>
      <p:pic>
        <p:nvPicPr>
          <p:cNvPr id="33" name="Image 16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8382305" y="3673145"/>
            <a:ext cx="152705" cy="152705"/>
          </a:xfrm>
          <a:prstGeom prst="rect">
            <a:avLst/>
          </a:prstGeom>
        </p:spPr>
      </p:pic>
      <p:sp>
        <p:nvSpPr>
          <p:cNvPr id="34" name="Text 15"/>
          <p:cNvSpPr txBox="1"/>
          <p:nvPr/>
        </p:nvSpPr>
        <p:spPr>
          <a:xfrm>
            <a:off x="8648395" y="3634740"/>
            <a:ext cx="225582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Reduced congestion risk</a:t>
            </a:r>
            <a:endParaRPr lang="en-US" sz="1200" dirty="0"/>
          </a:p>
        </p:txBody>
      </p:sp>
      <p:pic>
        <p:nvPicPr>
          <p:cNvPr id="35" name="Image 17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8382305" y="4117543"/>
            <a:ext cx="152705" cy="152705"/>
          </a:xfrm>
          <a:prstGeom prst="rect">
            <a:avLst/>
          </a:prstGeom>
        </p:spPr>
      </p:pic>
      <p:sp>
        <p:nvSpPr>
          <p:cNvPr id="36" name="Text 16"/>
          <p:cNvSpPr txBox="1"/>
          <p:nvPr/>
        </p:nvSpPr>
        <p:spPr>
          <a:xfrm>
            <a:off x="8648395" y="4079138"/>
            <a:ext cx="25914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Better long-term planning decisions</a:t>
            </a:r>
            <a:endParaRPr lang="en-US" sz="1200" dirty="0"/>
          </a:p>
        </p:txBody>
      </p:sp>
      <p:sp>
        <p:nvSpPr>
          <p:cNvPr id="37" name="Text 17"/>
          <p:cNvSpPr txBox="1"/>
          <p:nvPr/>
        </p:nvSpPr>
        <p:spPr>
          <a:xfrm>
            <a:off x="2669134" y="6148426"/>
            <a:ext cx="68580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kern="0" spc="38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Smarter management is more valuable than expansion</a:t>
            </a:r>
            <a:endParaRPr lang="en-US" sz="1800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E95CCCE3-2620-A4B6-DC39-3B1B617C065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851265" y="42977"/>
            <a:ext cx="1275338" cy="676656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C1F34801-E1B9-4BC7-55F9-54F6F3D8D273}"/>
              </a:ext>
            </a:extLst>
          </p:cNvPr>
          <p:cNvSpPr txBox="1"/>
          <p:nvPr/>
        </p:nvSpPr>
        <p:spPr>
          <a:xfrm>
            <a:off x="11609408" y="6158526"/>
            <a:ext cx="539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28</a:t>
            </a:r>
          </a:p>
        </p:txBody>
      </p:sp>
    </p:spTree>
  </p:cSld>
  <p:clrMapOvr>
    <a:masterClrMapping/>
  </p:clrMapOvr>
  <p:transition spd="slow">
    <p:push dir="u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1238098"/>
            <a:ext cx="3534156" cy="2276856"/>
          </a:xfrm>
          <a:prstGeom prst="roundRect">
            <a:avLst>
              <a:gd name="adj" fmla="val 403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rcRect l="-395" r="-395"/>
          <a:stretch/>
        </p:blipFill>
        <p:spPr>
          <a:xfrm>
            <a:off x="580644" y="1248156"/>
            <a:ext cx="38405" cy="225765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809244" y="1476756"/>
            <a:ext cx="457200" cy="457200"/>
          </a:xfrm>
          <a:prstGeom prst="roundRect">
            <a:avLst>
              <a:gd name="adj" fmla="val 83333"/>
            </a:avLst>
          </a:prstGeom>
          <a:solidFill>
            <a:srgbClr val="14B8A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rcRect t="-14689" b="-14689"/>
          <a:stretch/>
        </p:blipFill>
        <p:spPr>
          <a:xfrm>
            <a:off x="957377" y="1600200"/>
            <a:ext cx="161849" cy="209398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457554" y="1476756"/>
            <a:ext cx="24103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Predictable Patterns</a:t>
            </a:r>
            <a:endParaRPr lang="en-US" sz="1600" dirty="0"/>
          </a:p>
        </p:txBody>
      </p:sp>
      <p:sp>
        <p:nvSpPr>
          <p:cNvPr id="9" name="Text 4"/>
          <p:cNvSpPr txBox="1"/>
          <p:nvPr/>
        </p:nvSpPr>
        <p:spPr>
          <a:xfrm>
            <a:off x="1457554" y="1809598"/>
            <a:ext cx="24103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Traffic follows consistent time-based patterns with clear seasonal and daily cycles</a:t>
            </a:r>
            <a:endParaRPr lang="en-US" sz="1400" dirty="0"/>
          </a:p>
        </p:txBody>
      </p:sp>
      <p:sp>
        <p:nvSpPr>
          <p:cNvPr id="10" name="Text 5"/>
          <p:cNvSpPr txBox="1"/>
          <p:nvPr/>
        </p:nvSpPr>
        <p:spPr>
          <a:xfrm>
            <a:off x="1334110" y="2709824"/>
            <a:ext cx="5129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44K+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1915668" y="2686507"/>
            <a:ext cx="124724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daily traffic</a:t>
            </a:r>
            <a:endParaRPr lang="en-US" sz="1400" dirty="0"/>
          </a:p>
        </p:txBody>
      </p:sp>
      <p:sp>
        <p:nvSpPr>
          <p:cNvPr id="12" name="Text 7"/>
          <p:cNvSpPr txBox="1"/>
          <p:nvPr/>
        </p:nvSpPr>
        <p:spPr>
          <a:xfrm>
            <a:off x="1335939" y="3095244"/>
            <a:ext cx="45811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95K+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1903781" y="3095244"/>
            <a:ext cx="82753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peak daily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4330598" y="1238098"/>
            <a:ext cx="3534156" cy="2276856"/>
          </a:xfrm>
          <a:prstGeom prst="roundRect">
            <a:avLst>
              <a:gd name="adj" fmla="val 403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rcRect l="-395" r="-395"/>
          <a:stretch/>
        </p:blipFill>
        <p:spPr>
          <a:xfrm>
            <a:off x="4339742" y="1248156"/>
            <a:ext cx="38405" cy="2257654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4568342" y="1476756"/>
            <a:ext cx="457200" cy="457200"/>
          </a:xfrm>
          <a:prstGeom prst="roundRect">
            <a:avLst>
              <a:gd name="adj" fmla="val 83333"/>
            </a:avLst>
          </a:prstGeom>
          <a:solidFill>
            <a:srgbClr val="14B8A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rcRect l="-1528" r="-1528"/>
          <a:stretch/>
        </p:blipFill>
        <p:spPr>
          <a:xfrm>
            <a:off x="4716475" y="1600200"/>
            <a:ext cx="161849" cy="209398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5216652" y="1476756"/>
            <a:ext cx="2657246" cy="332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Concentrated Demand</a:t>
            </a:r>
            <a:endParaRPr lang="en-US" sz="1600" dirty="0"/>
          </a:p>
        </p:txBody>
      </p:sp>
      <p:sp>
        <p:nvSpPr>
          <p:cNvPr id="19" name="Text 12"/>
          <p:cNvSpPr txBox="1"/>
          <p:nvPr/>
        </p:nvSpPr>
        <p:spPr>
          <a:xfrm>
            <a:off x="5216652" y="1809597"/>
            <a:ext cx="2410358" cy="876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Traffic and violations are concentrated in key facilities (7 &amp; 9) </a:t>
            </a:r>
            <a:r>
              <a:rPr lang="en-US" sz="1400" b="1" dirty="0">
                <a:solidFill>
                  <a:schemeClr val="bg1"/>
                </a:solidFill>
              </a:rPr>
              <a:t>George Washington Bridge Upper </a:t>
            </a:r>
            <a:r>
              <a:rPr lang="en-US" sz="14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</a:t>
            </a:r>
            <a:r>
              <a:rPr lang="en-US" sz="1400" b="1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b="1" dirty="0">
                <a:solidFill>
                  <a:schemeClr val="bg1"/>
                </a:solidFill>
              </a:rPr>
              <a:t>George Washington Bridge Lower</a:t>
            </a:r>
            <a:r>
              <a:rPr lang="en-US" sz="1400" b="1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endParaRPr lang="en-US" sz="1400" dirty="0"/>
          </a:p>
        </p:txBody>
      </p:sp>
      <p:sp>
        <p:nvSpPr>
          <p:cNvPr id="20" name="Text 13"/>
          <p:cNvSpPr txBox="1"/>
          <p:nvPr/>
        </p:nvSpPr>
        <p:spPr>
          <a:xfrm>
            <a:off x="5138470" y="2754488"/>
            <a:ext cx="527610" cy="289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47%</a:t>
            </a:r>
            <a:endParaRPr lang="en-US" sz="1600" dirty="0"/>
          </a:p>
        </p:txBody>
      </p:sp>
      <p:sp>
        <p:nvSpPr>
          <p:cNvPr id="21" name="Text 14"/>
          <p:cNvSpPr txBox="1"/>
          <p:nvPr/>
        </p:nvSpPr>
        <p:spPr>
          <a:xfrm>
            <a:off x="5617159" y="2804111"/>
            <a:ext cx="124724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2 facilities</a:t>
            </a:r>
            <a:endParaRPr lang="en-US" sz="1400" dirty="0"/>
          </a:p>
        </p:txBody>
      </p:sp>
      <p:sp>
        <p:nvSpPr>
          <p:cNvPr id="22" name="Text 15"/>
          <p:cNvSpPr txBox="1"/>
          <p:nvPr/>
        </p:nvSpPr>
        <p:spPr>
          <a:xfrm>
            <a:off x="5126582" y="3063376"/>
            <a:ext cx="527609" cy="253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8M+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5615330" y="3095244"/>
            <a:ext cx="116768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violations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8089697" y="1238098"/>
            <a:ext cx="3534156" cy="2276856"/>
          </a:xfrm>
          <a:prstGeom prst="roundRect">
            <a:avLst>
              <a:gd name="adj" fmla="val 403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3"/>
          <a:srcRect l="-395" r="-395"/>
          <a:stretch/>
        </p:blipFill>
        <p:spPr>
          <a:xfrm>
            <a:off x="8099755" y="1248156"/>
            <a:ext cx="38405" cy="2257654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8328355" y="1476756"/>
            <a:ext cx="457200" cy="457200"/>
          </a:xfrm>
          <a:prstGeom prst="roundRect">
            <a:avLst>
              <a:gd name="adj" fmla="val 83333"/>
            </a:avLst>
          </a:prstGeom>
          <a:solidFill>
            <a:srgbClr val="14B8A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6"/>
          <a:srcRect t="-30861" b="-30861"/>
          <a:stretch/>
        </p:blipFill>
        <p:spPr>
          <a:xfrm>
            <a:off x="8475574" y="1600200"/>
            <a:ext cx="161849" cy="209398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8975750" y="1476756"/>
            <a:ext cx="24103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Behavior-Driven Flow</a:t>
            </a:r>
            <a:endParaRPr lang="en-US" sz="1600" dirty="0"/>
          </a:p>
        </p:txBody>
      </p:sp>
      <p:sp>
        <p:nvSpPr>
          <p:cNvPr id="29" name="Text 20"/>
          <p:cNvSpPr txBox="1"/>
          <p:nvPr/>
        </p:nvSpPr>
        <p:spPr>
          <a:xfrm>
            <a:off x="8975750" y="1809598"/>
            <a:ext cx="24103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Traffic changes based on user behavior and environmental conditions</a:t>
            </a:r>
            <a:endParaRPr lang="en-US" sz="1400" dirty="0"/>
          </a:p>
        </p:txBody>
      </p:sp>
      <p:sp>
        <p:nvSpPr>
          <p:cNvPr id="30" name="Text 21"/>
          <p:cNvSpPr txBox="1"/>
          <p:nvPr/>
        </p:nvSpPr>
        <p:spPr>
          <a:xfrm>
            <a:off x="8839211" y="2651864"/>
            <a:ext cx="824459" cy="242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+2.94%</a:t>
            </a:r>
            <a:endParaRPr lang="en-US" sz="1600" dirty="0"/>
          </a:p>
        </p:txBody>
      </p:sp>
      <p:sp>
        <p:nvSpPr>
          <p:cNvPr id="31" name="Text 22"/>
          <p:cNvSpPr txBox="1"/>
          <p:nvPr/>
        </p:nvSpPr>
        <p:spPr>
          <a:xfrm>
            <a:off x="9615830" y="2686507"/>
            <a:ext cx="106527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 7 growth</a:t>
            </a:r>
            <a:endParaRPr lang="en-US" sz="1400" dirty="0"/>
          </a:p>
        </p:txBody>
      </p:sp>
      <p:sp>
        <p:nvSpPr>
          <p:cNvPr id="32" name="Text 23"/>
          <p:cNvSpPr txBox="1"/>
          <p:nvPr/>
        </p:nvSpPr>
        <p:spPr>
          <a:xfrm>
            <a:off x="8855964" y="3003120"/>
            <a:ext cx="759866" cy="353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-0.71%</a:t>
            </a:r>
            <a:endParaRPr lang="en-US" sz="1600" dirty="0"/>
          </a:p>
        </p:txBody>
      </p:sp>
      <p:sp>
        <p:nvSpPr>
          <p:cNvPr id="33" name="Text 24"/>
          <p:cNvSpPr txBox="1"/>
          <p:nvPr/>
        </p:nvSpPr>
        <p:spPr>
          <a:xfrm>
            <a:off x="9544507" y="3095244"/>
            <a:ext cx="111099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 2 decline</a:t>
            </a:r>
            <a:endParaRPr lang="en-US" sz="1400" dirty="0"/>
          </a:p>
        </p:txBody>
      </p:sp>
      <p:sp>
        <p:nvSpPr>
          <p:cNvPr id="34" name="Shape 25"/>
          <p:cNvSpPr/>
          <p:nvPr/>
        </p:nvSpPr>
        <p:spPr>
          <a:xfrm>
            <a:off x="571500" y="3743554"/>
            <a:ext cx="5410505" cy="2190902"/>
          </a:xfrm>
          <a:prstGeom prst="roundRect">
            <a:avLst>
              <a:gd name="adj" fmla="val 4355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7"/>
          <a:srcRect l="-400" r="-400"/>
          <a:stretch/>
        </p:blipFill>
        <p:spPr>
          <a:xfrm>
            <a:off x="580644" y="3752698"/>
            <a:ext cx="38405" cy="2171700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809244" y="3981298"/>
            <a:ext cx="457200" cy="457200"/>
          </a:xfrm>
          <a:prstGeom prst="roundRect">
            <a:avLst>
              <a:gd name="adj" fmla="val 83333"/>
            </a:avLst>
          </a:prstGeom>
          <a:solidFill>
            <a:srgbClr val="14B8A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7" name="Image 8" descr="preencoded.png"/>
          <p:cNvPicPr>
            <a:picLocks noChangeAspect="1"/>
          </p:cNvPicPr>
          <p:nvPr/>
        </p:nvPicPr>
        <p:blipFill>
          <a:blip r:embed="rId8"/>
          <a:srcRect t="-14689" b="-14689"/>
          <a:stretch/>
        </p:blipFill>
        <p:spPr>
          <a:xfrm>
            <a:off x="957377" y="4105656"/>
            <a:ext cx="161849" cy="209398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1457554" y="3981298"/>
            <a:ext cx="42867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Adaptive System</a:t>
            </a:r>
            <a:endParaRPr lang="en-US" sz="1600" dirty="0"/>
          </a:p>
        </p:txBody>
      </p:sp>
      <p:sp>
        <p:nvSpPr>
          <p:cNvPr id="39" name="Text 28"/>
          <p:cNvSpPr txBox="1"/>
          <p:nvPr/>
        </p:nvSpPr>
        <p:spPr>
          <a:xfrm>
            <a:off x="1457554" y="4315054"/>
            <a:ext cx="42867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Drivers adjust routes in response to congestion and pricing changes</a:t>
            </a:r>
            <a:endParaRPr lang="en-US" sz="1200" dirty="0"/>
          </a:p>
        </p:txBody>
      </p:sp>
      <p:sp>
        <p:nvSpPr>
          <p:cNvPr id="40" name="Text 29"/>
          <p:cNvSpPr txBox="1"/>
          <p:nvPr/>
        </p:nvSpPr>
        <p:spPr>
          <a:xfrm>
            <a:off x="1365783" y="4962449"/>
            <a:ext cx="645566" cy="2852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</a:t>
            </a:r>
            <a:endParaRPr lang="en-US" sz="1600" dirty="0"/>
          </a:p>
        </p:txBody>
      </p:sp>
      <p:sp>
        <p:nvSpPr>
          <p:cNvPr id="41" name="Text 30"/>
          <p:cNvSpPr txBox="1"/>
          <p:nvPr/>
        </p:nvSpPr>
        <p:spPr>
          <a:xfrm>
            <a:off x="1906358" y="4995760"/>
            <a:ext cx="74889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shift year</a:t>
            </a:r>
            <a:endParaRPr lang="en-US" sz="1400" dirty="0"/>
          </a:p>
        </p:txBody>
      </p:sp>
      <p:sp>
        <p:nvSpPr>
          <p:cNvPr id="42" name="Text 31"/>
          <p:cNvSpPr txBox="1"/>
          <p:nvPr/>
        </p:nvSpPr>
        <p:spPr>
          <a:xfrm>
            <a:off x="2788463" y="5066689"/>
            <a:ext cx="7488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Dynamic</a:t>
            </a:r>
            <a:endParaRPr lang="en-US" sz="1400" dirty="0"/>
          </a:p>
        </p:txBody>
      </p:sp>
      <p:sp>
        <p:nvSpPr>
          <p:cNvPr id="43" name="Text 32"/>
          <p:cNvSpPr txBox="1"/>
          <p:nvPr/>
        </p:nvSpPr>
        <p:spPr>
          <a:xfrm>
            <a:off x="3517697" y="5066689"/>
            <a:ext cx="136062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routing response</a:t>
            </a:r>
            <a:endParaRPr lang="en-US" sz="1400" dirty="0"/>
          </a:p>
        </p:txBody>
      </p:sp>
      <p:sp>
        <p:nvSpPr>
          <p:cNvPr id="44" name="Shape 33"/>
          <p:cNvSpPr/>
          <p:nvPr/>
        </p:nvSpPr>
        <p:spPr>
          <a:xfrm>
            <a:off x="6210605" y="3743554"/>
            <a:ext cx="5410505" cy="2190902"/>
          </a:xfrm>
          <a:prstGeom prst="roundRect">
            <a:avLst>
              <a:gd name="adj" fmla="val 4355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45" name="Image 9" descr="preencoded.png"/>
          <p:cNvPicPr>
            <a:picLocks noChangeAspect="1"/>
          </p:cNvPicPr>
          <p:nvPr/>
        </p:nvPicPr>
        <p:blipFill>
          <a:blip r:embed="rId7"/>
          <a:srcRect l="-400" r="-400"/>
          <a:stretch/>
        </p:blipFill>
        <p:spPr>
          <a:xfrm>
            <a:off x="6219749" y="3752698"/>
            <a:ext cx="38405" cy="2171700"/>
          </a:xfrm>
          <a:prstGeom prst="rect">
            <a:avLst/>
          </a:prstGeom>
        </p:spPr>
      </p:pic>
      <p:sp>
        <p:nvSpPr>
          <p:cNvPr id="46" name="Shape 34"/>
          <p:cNvSpPr/>
          <p:nvPr/>
        </p:nvSpPr>
        <p:spPr>
          <a:xfrm>
            <a:off x="6448349" y="3981298"/>
            <a:ext cx="457200" cy="457200"/>
          </a:xfrm>
          <a:prstGeom prst="roundRect">
            <a:avLst>
              <a:gd name="adj" fmla="val 83333"/>
            </a:avLst>
          </a:prstGeom>
          <a:solidFill>
            <a:srgbClr val="14B8A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7" name="Image 10" descr="preencoded.png"/>
          <p:cNvPicPr>
            <a:picLocks noChangeAspect="1"/>
          </p:cNvPicPr>
          <p:nvPr/>
        </p:nvPicPr>
        <p:blipFill>
          <a:blip r:embed="rId9"/>
          <a:srcRect t="-14689" b="-14689"/>
          <a:stretch/>
        </p:blipFill>
        <p:spPr>
          <a:xfrm>
            <a:off x="6596482" y="4105656"/>
            <a:ext cx="161849" cy="209398"/>
          </a:xfrm>
          <a:prstGeom prst="rect">
            <a:avLst/>
          </a:prstGeom>
        </p:spPr>
      </p:pic>
      <p:sp>
        <p:nvSpPr>
          <p:cNvPr id="48" name="Text 35"/>
          <p:cNvSpPr txBox="1"/>
          <p:nvPr/>
        </p:nvSpPr>
        <p:spPr>
          <a:xfrm>
            <a:off x="7095744" y="3981298"/>
            <a:ext cx="42867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Stable Future Demand</a:t>
            </a:r>
            <a:endParaRPr lang="en-US" sz="1600" dirty="0"/>
          </a:p>
        </p:txBody>
      </p:sp>
      <p:sp>
        <p:nvSpPr>
          <p:cNvPr id="49" name="Text 36"/>
          <p:cNvSpPr txBox="1"/>
          <p:nvPr/>
        </p:nvSpPr>
        <p:spPr>
          <a:xfrm>
            <a:off x="7095744" y="4315054"/>
            <a:ext cx="42867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Traffic remains steady but uneven across facilities through 2027</a:t>
            </a:r>
            <a:endParaRPr lang="en-US" sz="1400" dirty="0"/>
          </a:p>
        </p:txBody>
      </p:sp>
      <p:sp>
        <p:nvSpPr>
          <p:cNvPr id="50" name="Text 37"/>
          <p:cNvSpPr txBox="1"/>
          <p:nvPr/>
        </p:nvSpPr>
        <p:spPr>
          <a:xfrm>
            <a:off x="6820510" y="4962449"/>
            <a:ext cx="918972" cy="4187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250-260K</a:t>
            </a:r>
            <a:endParaRPr lang="en-US" sz="1600" dirty="0"/>
          </a:p>
        </p:txBody>
      </p:sp>
      <p:sp>
        <p:nvSpPr>
          <p:cNvPr id="51" name="Text 38"/>
          <p:cNvSpPr txBox="1"/>
          <p:nvPr/>
        </p:nvSpPr>
        <p:spPr>
          <a:xfrm>
            <a:off x="7864754" y="5066691"/>
            <a:ext cx="187086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forecast range</a:t>
            </a:r>
            <a:endParaRPr lang="en-US" sz="1400" dirty="0"/>
          </a:p>
        </p:txBody>
      </p:sp>
      <p:sp>
        <p:nvSpPr>
          <p:cNvPr id="52" name="Text 39"/>
          <p:cNvSpPr txBox="1"/>
          <p:nvPr/>
        </p:nvSpPr>
        <p:spPr>
          <a:xfrm>
            <a:off x="9800209" y="5077211"/>
            <a:ext cx="53309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Stable</a:t>
            </a:r>
            <a:endParaRPr lang="en-US" sz="1100" dirty="0"/>
          </a:p>
        </p:txBody>
      </p:sp>
      <p:sp>
        <p:nvSpPr>
          <p:cNvPr id="53" name="Text 40"/>
          <p:cNvSpPr txBox="1"/>
          <p:nvPr/>
        </p:nvSpPr>
        <p:spPr>
          <a:xfrm>
            <a:off x="10207447" y="5066690"/>
            <a:ext cx="119054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growth pattern</a:t>
            </a:r>
            <a:endParaRPr lang="en-US" sz="1200" dirty="0"/>
          </a:p>
        </p:txBody>
      </p:sp>
      <p:sp>
        <p:nvSpPr>
          <p:cNvPr id="54" name="Shape 41"/>
          <p:cNvSpPr/>
          <p:nvPr/>
        </p:nvSpPr>
        <p:spPr>
          <a:xfrm>
            <a:off x="571500" y="6038698"/>
            <a:ext cx="11048695" cy="543154"/>
          </a:xfrm>
          <a:prstGeom prst="roundRect">
            <a:avLst>
              <a:gd name="adj" fmla="val 47256"/>
            </a:avLst>
          </a:prstGeom>
          <a:solidFill>
            <a:srgbClr val="14B8A6">
              <a:alpha val="8000"/>
            </a:srgbClr>
          </a:solidFill>
          <a:ln/>
        </p:spPr>
      </p:sp>
      <p:sp>
        <p:nvSpPr>
          <p:cNvPr id="55" name="Shape 42"/>
          <p:cNvSpPr/>
          <p:nvPr/>
        </p:nvSpPr>
        <p:spPr>
          <a:xfrm>
            <a:off x="571500" y="6038698"/>
            <a:ext cx="38405" cy="543154"/>
          </a:xfrm>
          <a:prstGeom prst="roundRect">
            <a:avLst>
              <a:gd name="adj" fmla="val 668334"/>
            </a:avLst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56" name="Text 43"/>
          <p:cNvSpPr txBox="1"/>
          <p:nvPr/>
        </p:nvSpPr>
        <p:spPr>
          <a:xfrm>
            <a:off x="1171346" y="6204760"/>
            <a:ext cx="102778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Traffic is not random — it can be managed with precision</a:t>
            </a: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using data-driven insights and targeted interventions </a:t>
            </a:r>
            <a:endParaRPr lang="en-US" sz="1400" dirty="0"/>
          </a:p>
        </p:txBody>
      </p:sp>
      <p:pic>
        <p:nvPicPr>
          <p:cNvPr id="57" name="Image 11" descr="preencoded.png"/>
          <p:cNvPicPr>
            <a:picLocks noChangeAspect="1"/>
          </p:cNvPicPr>
          <p:nvPr/>
        </p:nvPicPr>
        <p:blipFill>
          <a:blip r:embed="rId10"/>
          <a:srcRect t="-13462" b="-13462"/>
          <a:stretch/>
        </p:blipFill>
        <p:spPr>
          <a:xfrm>
            <a:off x="929030" y="6243164"/>
            <a:ext cx="142646" cy="181051"/>
          </a:xfrm>
          <a:prstGeom prst="rect">
            <a:avLst/>
          </a:prstGeom>
        </p:spPr>
      </p:pic>
      <p:sp>
        <p:nvSpPr>
          <p:cNvPr id="58" name="Text 44"/>
          <p:cNvSpPr txBox="1"/>
          <p:nvPr/>
        </p:nvSpPr>
        <p:spPr>
          <a:xfrm>
            <a:off x="571500" y="381305"/>
            <a:ext cx="9915754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Traffic Behavior Is Predictable, Structured, and Manageable</a:t>
            </a:r>
            <a:endParaRPr lang="en-US" sz="2400" dirty="0"/>
          </a:p>
        </p:txBody>
      </p:sp>
      <p:sp>
        <p:nvSpPr>
          <p:cNvPr id="59" name="Shape 45"/>
          <p:cNvSpPr/>
          <p:nvPr/>
        </p:nvSpPr>
        <p:spPr>
          <a:xfrm>
            <a:off x="10154412" y="385877"/>
            <a:ext cx="1466698" cy="362102"/>
          </a:xfrm>
          <a:prstGeom prst="roundRect">
            <a:avLst>
              <a:gd name="adj" fmla="val 252526"/>
            </a:avLst>
          </a:prstGeom>
          <a:solidFill>
            <a:srgbClr val="14B8A6">
              <a:alpha val="20000"/>
            </a:srgbClr>
          </a:solidFill>
          <a:ln w="12700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60" name="Text 46"/>
          <p:cNvSpPr/>
          <p:nvPr/>
        </p:nvSpPr>
        <p:spPr>
          <a:xfrm>
            <a:off x="10154412" y="385877"/>
            <a:ext cx="1467612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DFA469C-B1D4-215E-CBC6-37F4567A328E}"/>
              </a:ext>
            </a:extLst>
          </p:cNvPr>
          <p:cNvSpPr txBox="1"/>
          <p:nvPr/>
        </p:nvSpPr>
        <p:spPr>
          <a:xfrm>
            <a:off x="11719865" y="6158526"/>
            <a:ext cx="428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29</a:t>
            </a:r>
          </a:p>
        </p:txBody>
      </p:sp>
    </p:spTree>
  </p:cSld>
  <p:clrMapOvr>
    <a:masterClrMapping/>
  </p:clrMapOvr>
  <p:transition spd="slow">
    <p:push dir="u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rcRect t="-4" b="-4"/>
          <a:stretch/>
        </p:blipFill>
        <p:spPr>
          <a:xfrm>
            <a:off x="761695" y="1524305"/>
            <a:ext cx="3448202" cy="3829507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4"/>
          <a:srcRect t="-4" b="-4"/>
          <a:stretch/>
        </p:blipFill>
        <p:spPr>
          <a:xfrm>
            <a:off x="4381805" y="1524305"/>
            <a:ext cx="3448202" cy="3829507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5"/>
          <a:srcRect t="-4" b="-4"/>
          <a:stretch/>
        </p:blipFill>
        <p:spPr>
          <a:xfrm>
            <a:off x="8001000" y="1524305"/>
            <a:ext cx="3448202" cy="3829507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>
            <a:off x="1333195" y="5572354"/>
            <a:ext cx="9562795" cy="619049"/>
          </a:xfrm>
          <a:prstGeom prst="roundRect">
            <a:avLst>
              <a:gd name="adj" fmla="val 36359"/>
            </a:avLst>
          </a:prstGeom>
          <a:solidFill>
            <a:srgbClr val="14B8A6">
              <a:alpha val="15000"/>
            </a:srgbClr>
          </a:solidFill>
          <a:ln/>
        </p:spPr>
      </p:sp>
      <p:sp>
        <p:nvSpPr>
          <p:cNvPr id="8" name="Shape 2"/>
          <p:cNvSpPr/>
          <p:nvPr/>
        </p:nvSpPr>
        <p:spPr>
          <a:xfrm>
            <a:off x="1333195" y="5572354"/>
            <a:ext cx="38405" cy="619049"/>
          </a:xfrm>
          <a:prstGeom prst="roundRect">
            <a:avLst>
              <a:gd name="adj" fmla="val 586078"/>
            </a:avLst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9" name="Text 3"/>
          <p:cNvSpPr txBox="1"/>
          <p:nvPr/>
        </p:nvSpPr>
        <p:spPr>
          <a:xfrm>
            <a:off x="179222" y="381305"/>
            <a:ext cx="1183416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kern="0" spc="-37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Reactive Operations to Proactive Traffic Management</a:t>
            </a:r>
            <a:endParaRPr lang="en-US" sz="2700" dirty="0"/>
          </a:p>
        </p:txBody>
      </p:sp>
      <p:sp>
        <p:nvSpPr>
          <p:cNvPr id="10" name="Text 4"/>
          <p:cNvSpPr txBox="1"/>
          <p:nvPr/>
        </p:nvSpPr>
        <p:spPr>
          <a:xfrm>
            <a:off x="761695" y="952805"/>
            <a:ext cx="106683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Transforming traffic management through data-driven insights and predictive analytics</a:t>
            </a:r>
            <a:endParaRPr lang="en-US" sz="13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6"/>
          <a:srcRect t="-13755" b="-13755"/>
          <a:stretch/>
        </p:blipFill>
        <p:spPr>
          <a:xfrm>
            <a:off x="2371954" y="1867205"/>
            <a:ext cx="209398" cy="267005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952805" y="2286000"/>
            <a:ext cx="3048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Data-Driven Traffic Management</a:t>
            </a:r>
            <a:endParaRPr lang="en-US" sz="160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7"/>
          <a:srcRect t="-16800" b="-16800"/>
          <a:stretch/>
        </p:blipFill>
        <p:spPr>
          <a:xfrm>
            <a:off x="1047902" y="2991002"/>
            <a:ext cx="114300" cy="152705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1257300" y="2952598"/>
            <a:ext cx="26481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 traffic at facility level, focusing on high-impact areas</a:t>
            </a:r>
            <a:endParaRPr lang="en-US" sz="1400" dirty="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7"/>
          <a:srcRect t="-16800" b="-16800"/>
          <a:stretch/>
        </p:blipFill>
        <p:spPr>
          <a:xfrm>
            <a:off x="1047902" y="3682289"/>
            <a:ext cx="114300" cy="152705"/>
          </a:xfrm>
          <a:prstGeom prst="rect">
            <a:avLst/>
          </a:prstGeom>
        </p:spPr>
      </p:pic>
      <p:sp>
        <p:nvSpPr>
          <p:cNvPr id="16" name="Text 7"/>
          <p:cNvSpPr txBox="1"/>
          <p:nvPr/>
        </p:nvSpPr>
        <p:spPr>
          <a:xfrm>
            <a:off x="1257300" y="3643884"/>
            <a:ext cx="26481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patterns, not assumptions, for decision-making</a:t>
            </a:r>
            <a:endParaRPr lang="en-US" sz="1400" dirty="0"/>
          </a:p>
        </p:txBody>
      </p:sp>
      <p:pic>
        <p:nvPicPr>
          <p:cNvPr id="17" name="Image 7" descr="preencoded.png"/>
          <p:cNvPicPr>
            <a:picLocks noChangeAspect="1"/>
          </p:cNvPicPr>
          <p:nvPr/>
        </p:nvPicPr>
        <p:blipFill>
          <a:blip r:embed="rId7"/>
          <a:srcRect t="-16800" b="-16800"/>
          <a:stretch/>
        </p:blipFill>
        <p:spPr>
          <a:xfrm>
            <a:off x="1047902" y="4373575"/>
            <a:ext cx="114300" cy="152705"/>
          </a:xfrm>
          <a:prstGeom prst="rect">
            <a:avLst/>
          </a:prstGeom>
        </p:spPr>
      </p:pic>
      <p:sp>
        <p:nvSpPr>
          <p:cNvPr id="18" name="Text 8"/>
          <p:cNvSpPr txBox="1"/>
          <p:nvPr/>
        </p:nvSpPr>
        <p:spPr>
          <a:xfrm>
            <a:off x="1257300" y="4336085"/>
            <a:ext cx="26481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Prioritize resources based on data insights</a:t>
            </a:r>
            <a:endParaRPr lang="en-US" sz="1400" dirty="0"/>
          </a:p>
        </p:txBody>
      </p:sp>
      <p:pic>
        <p:nvPicPr>
          <p:cNvPr id="19" name="Image 8" descr="preencoded.png"/>
          <p:cNvPicPr>
            <a:picLocks noChangeAspect="1"/>
          </p:cNvPicPr>
          <p:nvPr/>
        </p:nvPicPr>
        <p:blipFill>
          <a:blip r:embed="rId8"/>
          <a:srcRect t="-29694" b="-29694"/>
          <a:stretch/>
        </p:blipFill>
        <p:spPr>
          <a:xfrm>
            <a:off x="5991149" y="1867205"/>
            <a:ext cx="209398" cy="267005"/>
          </a:xfrm>
          <a:prstGeom prst="rect">
            <a:avLst/>
          </a:prstGeom>
        </p:spPr>
      </p:pic>
      <p:sp>
        <p:nvSpPr>
          <p:cNvPr id="20" name="Text 9"/>
          <p:cNvSpPr txBox="1"/>
          <p:nvPr/>
        </p:nvSpPr>
        <p:spPr>
          <a:xfrm>
            <a:off x="4572000" y="2286000"/>
            <a:ext cx="3048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to Execute</a:t>
            </a:r>
            <a:endParaRPr lang="en-US" sz="1600" dirty="0"/>
          </a:p>
        </p:txBody>
      </p:sp>
      <p:pic>
        <p:nvPicPr>
          <p:cNvPr id="21" name="Image 9" descr="preencoded.png"/>
          <p:cNvPicPr>
            <a:picLocks noChangeAspect="1"/>
          </p:cNvPicPr>
          <p:nvPr/>
        </p:nvPicPr>
        <p:blipFill>
          <a:blip r:embed="rId9"/>
          <a:srcRect t="-16800" b="-16800"/>
          <a:stretch/>
        </p:blipFill>
        <p:spPr>
          <a:xfrm>
            <a:off x="4667098" y="2991002"/>
            <a:ext cx="114300" cy="152705"/>
          </a:xfrm>
          <a:prstGeom prst="rect">
            <a:avLst/>
          </a:prstGeom>
        </p:spPr>
      </p:pic>
      <p:sp>
        <p:nvSpPr>
          <p:cNvPr id="22" name="Text 10"/>
          <p:cNvSpPr txBox="1"/>
          <p:nvPr/>
        </p:nvSpPr>
        <p:spPr>
          <a:xfrm>
            <a:off x="4876495" y="2952598"/>
            <a:ext cx="26481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 traffic and violations in real time</a:t>
            </a:r>
            <a:endParaRPr lang="en-US" sz="1400" dirty="0"/>
          </a:p>
        </p:txBody>
      </p:sp>
      <p:pic>
        <p:nvPicPr>
          <p:cNvPr id="23" name="Image 10" descr="preencoded.png"/>
          <p:cNvPicPr>
            <a:picLocks noChangeAspect="1"/>
          </p:cNvPicPr>
          <p:nvPr/>
        </p:nvPicPr>
        <p:blipFill>
          <a:blip r:embed="rId9"/>
          <a:srcRect t="-16800" b="-16800"/>
          <a:stretch/>
        </p:blipFill>
        <p:spPr>
          <a:xfrm>
            <a:off x="4667098" y="3682289"/>
            <a:ext cx="114300" cy="152705"/>
          </a:xfrm>
          <a:prstGeom prst="rect">
            <a:avLst/>
          </a:prstGeom>
        </p:spPr>
      </p:pic>
      <p:sp>
        <p:nvSpPr>
          <p:cNvPr id="24" name="Text 11"/>
          <p:cNvSpPr txBox="1"/>
          <p:nvPr/>
        </p:nvSpPr>
        <p:spPr>
          <a:xfrm>
            <a:off x="4876495" y="3643884"/>
            <a:ext cx="26481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Adjust staffing and operations dynamically</a:t>
            </a:r>
            <a:endParaRPr lang="en-US" sz="1400" dirty="0"/>
          </a:p>
        </p:txBody>
      </p:sp>
      <p:pic>
        <p:nvPicPr>
          <p:cNvPr id="25" name="Image 11" descr="preencoded.png"/>
          <p:cNvPicPr>
            <a:picLocks noChangeAspect="1"/>
          </p:cNvPicPr>
          <p:nvPr/>
        </p:nvPicPr>
        <p:blipFill>
          <a:blip r:embed="rId9"/>
          <a:srcRect t="-16800" b="-16800"/>
          <a:stretch/>
        </p:blipFill>
        <p:spPr>
          <a:xfrm>
            <a:off x="4667098" y="4373575"/>
            <a:ext cx="114300" cy="152705"/>
          </a:xfrm>
          <a:prstGeom prst="rect">
            <a:avLst/>
          </a:prstGeom>
        </p:spPr>
      </p:pic>
      <p:sp>
        <p:nvSpPr>
          <p:cNvPr id="26" name="Text 12"/>
          <p:cNvSpPr txBox="1"/>
          <p:nvPr/>
        </p:nvSpPr>
        <p:spPr>
          <a:xfrm>
            <a:off x="4876495" y="4336085"/>
            <a:ext cx="26481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Align pricing and enforcement with demand</a:t>
            </a:r>
            <a:endParaRPr lang="en-US" sz="1400" dirty="0"/>
          </a:p>
        </p:txBody>
      </p:sp>
      <p:pic>
        <p:nvPicPr>
          <p:cNvPr id="27" name="Image 12" descr="preencoded.png"/>
          <p:cNvPicPr>
            <a:picLocks noChangeAspect="1"/>
          </p:cNvPicPr>
          <p:nvPr/>
        </p:nvPicPr>
        <p:blipFill>
          <a:blip r:embed="rId10"/>
          <a:srcRect t="-13755" b="-13755"/>
          <a:stretch/>
        </p:blipFill>
        <p:spPr>
          <a:xfrm>
            <a:off x="9610344" y="1867205"/>
            <a:ext cx="209398" cy="267005"/>
          </a:xfrm>
          <a:prstGeom prst="rect">
            <a:avLst/>
          </a:prstGeom>
        </p:spPr>
      </p:pic>
      <p:sp>
        <p:nvSpPr>
          <p:cNvPr id="28" name="Text 13"/>
          <p:cNvSpPr txBox="1"/>
          <p:nvPr/>
        </p:nvSpPr>
        <p:spPr>
          <a:xfrm>
            <a:off x="8191195" y="2286000"/>
            <a:ext cx="3048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Expected Outcomes</a:t>
            </a:r>
            <a:endParaRPr lang="en-US" sz="1600" dirty="0"/>
          </a:p>
        </p:txBody>
      </p:sp>
      <p:pic>
        <p:nvPicPr>
          <p:cNvPr id="29" name="Image 13" descr="preencoded.png"/>
          <p:cNvPicPr>
            <a:picLocks noChangeAspect="1"/>
          </p:cNvPicPr>
          <p:nvPr/>
        </p:nvPicPr>
        <p:blipFill>
          <a:blip r:embed="rId11"/>
          <a:srcRect t="-16800" b="-16800"/>
          <a:stretch/>
        </p:blipFill>
        <p:spPr>
          <a:xfrm>
            <a:off x="8287207" y="3115818"/>
            <a:ext cx="114300" cy="152705"/>
          </a:xfrm>
          <a:prstGeom prst="rect">
            <a:avLst/>
          </a:prstGeom>
        </p:spPr>
      </p:pic>
      <p:sp>
        <p:nvSpPr>
          <p:cNvPr id="30" name="Text 14"/>
          <p:cNvSpPr txBox="1"/>
          <p:nvPr/>
        </p:nvSpPr>
        <p:spPr>
          <a:xfrm>
            <a:off x="8496605" y="2952598"/>
            <a:ext cx="26481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Reduced congestion and violations</a:t>
            </a:r>
            <a:endParaRPr lang="en-US" sz="1400" dirty="0"/>
          </a:p>
        </p:txBody>
      </p:sp>
      <p:pic>
        <p:nvPicPr>
          <p:cNvPr id="31" name="Image 14" descr="preencoded.png"/>
          <p:cNvPicPr>
            <a:picLocks noChangeAspect="1"/>
          </p:cNvPicPr>
          <p:nvPr/>
        </p:nvPicPr>
        <p:blipFill>
          <a:blip r:embed="rId11"/>
          <a:srcRect t="-16800" b="-16800"/>
          <a:stretch/>
        </p:blipFill>
        <p:spPr>
          <a:xfrm>
            <a:off x="8287207" y="3682289"/>
            <a:ext cx="114300" cy="152705"/>
          </a:xfrm>
          <a:prstGeom prst="rect">
            <a:avLst/>
          </a:prstGeom>
        </p:spPr>
      </p:pic>
      <p:sp>
        <p:nvSpPr>
          <p:cNvPr id="32" name="Text 15"/>
          <p:cNvSpPr txBox="1"/>
          <p:nvPr/>
        </p:nvSpPr>
        <p:spPr>
          <a:xfrm>
            <a:off x="8496605" y="3643884"/>
            <a:ext cx="2346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Better resource allocation</a:t>
            </a:r>
            <a:endParaRPr lang="en-US" sz="1400" dirty="0"/>
          </a:p>
        </p:txBody>
      </p:sp>
      <p:pic>
        <p:nvPicPr>
          <p:cNvPr id="33" name="Image 15" descr="preencoded.png"/>
          <p:cNvPicPr>
            <a:picLocks noChangeAspect="1"/>
          </p:cNvPicPr>
          <p:nvPr/>
        </p:nvPicPr>
        <p:blipFill>
          <a:blip r:embed="rId11"/>
          <a:srcRect t="-16800" b="-16800"/>
          <a:stretch/>
        </p:blipFill>
        <p:spPr>
          <a:xfrm>
            <a:off x="8287207" y="4146804"/>
            <a:ext cx="114300" cy="152705"/>
          </a:xfrm>
          <a:prstGeom prst="rect">
            <a:avLst/>
          </a:prstGeom>
        </p:spPr>
      </p:pic>
      <p:sp>
        <p:nvSpPr>
          <p:cNvPr id="34" name="Text 16"/>
          <p:cNvSpPr txBox="1"/>
          <p:nvPr/>
        </p:nvSpPr>
        <p:spPr>
          <a:xfrm>
            <a:off x="8496605" y="4109314"/>
            <a:ext cx="27660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Improved traffic flow reliability</a:t>
            </a:r>
            <a:endParaRPr lang="en-US" sz="1400" dirty="0"/>
          </a:p>
        </p:txBody>
      </p:sp>
      <p:sp>
        <p:nvSpPr>
          <p:cNvPr id="35" name="Text 17"/>
          <p:cNvSpPr txBox="1"/>
          <p:nvPr/>
        </p:nvSpPr>
        <p:spPr>
          <a:xfrm>
            <a:off x="2573122" y="5767121"/>
            <a:ext cx="7086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kern="0" spc="2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Proactive, data-driven decisions can transform system performance</a:t>
            </a:r>
            <a:endParaRPr lang="en-US" sz="1500" dirty="0"/>
          </a:p>
        </p:txBody>
      </p:sp>
      <p:sp>
        <p:nvSpPr>
          <p:cNvPr id="36" name="Text 18"/>
          <p:cNvSpPr txBox="1"/>
          <p:nvPr/>
        </p:nvSpPr>
        <p:spPr>
          <a:xfrm>
            <a:off x="761695" y="6334049"/>
            <a:ext cx="10668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"Effective traffic management is not about reacting to congestion — it is about anticipating and controlling it."</a:t>
            </a:r>
            <a:endParaRPr lang="en-US" sz="14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D9C7B44-EA6A-B854-CC9E-2A16AAA0DE48}"/>
              </a:ext>
            </a:extLst>
          </p:cNvPr>
          <p:cNvSpPr txBox="1"/>
          <p:nvPr/>
        </p:nvSpPr>
        <p:spPr>
          <a:xfrm>
            <a:off x="11705686" y="6158526"/>
            <a:ext cx="443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30</a:t>
            </a:r>
          </a:p>
        </p:txBody>
      </p:sp>
    </p:spTree>
  </p:cSld>
  <p:clrMapOvr>
    <a:masterClrMapping/>
  </p:clrMapOvr>
  <p:transition spd="slow">
    <p:push dir="u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>
            <a:alphaModFix amt="30000"/>
          </a:blip>
          <a:srcRect t="-401" b="-401"/>
          <a:stretch/>
        </p:blipFill>
        <p:spPr>
          <a:xfrm>
            <a:off x="0" y="0"/>
            <a:ext cx="12191695" cy="38405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-1429207" y="-1429207"/>
            <a:ext cx="5715000" cy="5715000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905902" y="2572207"/>
            <a:ext cx="5715000" cy="5715000"/>
          </a:xfrm>
          <a:prstGeom prst="rect">
            <a:avLst/>
          </a:prstGeom>
        </p:spPr>
      </p:pic>
      <p:sp>
        <p:nvSpPr>
          <p:cNvPr id="7" name="Text 1"/>
          <p:cNvSpPr txBox="1"/>
          <p:nvPr/>
        </p:nvSpPr>
        <p:spPr>
          <a:xfrm>
            <a:off x="761695" y="696773"/>
            <a:ext cx="10668305" cy="1286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kern="0" spc="-75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Traffic is </a:t>
            </a:r>
            <a:r>
              <a:rPr lang="en-US" sz="4200" b="1" kern="0" spc="-75" dirty="0">
                <a:solidFill>
                  <a:srgbClr val="14B8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structured, predictable</a:t>
            </a:r>
            <a:r>
              <a:rPr lang="en-US" sz="4200" b="1" kern="0" spc="-75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and </a:t>
            </a:r>
            <a:r>
              <a:rPr lang="en-US" sz="4200" b="1" kern="0" spc="-75" dirty="0">
                <a:solidFill>
                  <a:srgbClr val="14B8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manageable</a:t>
            </a:r>
            <a:endParaRPr lang="en-US" sz="4200" dirty="0"/>
          </a:p>
        </p:txBody>
      </p:sp>
      <p:sp>
        <p:nvSpPr>
          <p:cNvPr id="8" name="Text 2"/>
          <p:cNvSpPr txBox="1"/>
          <p:nvPr/>
        </p:nvSpPr>
        <p:spPr>
          <a:xfrm>
            <a:off x="761695" y="2148840"/>
            <a:ext cx="106683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Traffic demand is stable, but requires smarter management</a:t>
            </a:r>
            <a:endParaRPr lang="en-US" sz="2200" dirty="0"/>
          </a:p>
        </p:txBody>
      </p:sp>
      <p:sp>
        <p:nvSpPr>
          <p:cNvPr id="9" name="Shape 3"/>
          <p:cNvSpPr/>
          <p:nvPr/>
        </p:nvSpPr>
        <p:spPr>
          <a:xfrm>
            <a:off x="952805" y="3268980"/>
            <a:ext cx="3238805" cy="1714500"/>
          </a:xfrm>
          <a:prstGeom prst="roundRect">
            <a:avLst>
              <a:gd name="adj" fmla="val 948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0" name="Shape 4"/>
          <p:cNvSpPr/>
          <p:nvPr/>
        </p:nvSpPr>
        <p:spPr>
          <a:xfrm>
            <a:off x="1152144" y="3506724"/>
            <a:ext cx="418795" cy="418795"/>
          </a:xfrm>
          <a:prstGeom prst="roundRect">
            <a:avLst>
              <a:gd name="adj" fmla="val 99246"/>
            </a:avLst>
          </a:prstGeom>
          <a:solidFill>
            <a:srgbClr val="14B8A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266444" y="3621024"/>
            <a:ext cx="190195" cy="190195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1723644" y="3506724"/>
            <a:ext cx="226771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Demand is Stable</a:t>
            </a:r>
            <a:endParaRPr lang="en-US" sz="1500" dirty="0"/>
          </a:p>
        </p:txBody>
      </p:sp>
      <p:sp>
        <p:nvSpPr>
          <p:cNvPr id="13" name="Text 6"/>
          <p:cNvSpPr txBox="1"/>
          <p:nvPr/>
        </p:nvSpPr>
        <p:spPr>
          <a:xfrm>
            <a:off x="1723644" y="3831336"/>
            <a:ext cx="226771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Traffic does not show extreme growth or decline patterns</a:t>
            </a:r>
            <a:endParaRPr lang="en-US" sz="1400" dirty="0"/>
          </a:p>
        </p:txBody>
      </p:sp>
      <p:sp>
        <p:nvSpPr>
          <p:cNvPr id="14" name="Shape 7"/>
          <p:cNvSpPr/>
          <p:nvPr/>
        </p:nvSpPr>
        <p:spPr>
          <a:xfrm>
            <a:off x="4476902" y="3268980"/>
            <a:ext cx="3238805" cy="1714500"/>
          </a:xfrm>
          <a:prstGeom prst="roundRect">
            <a:avLst>
              <a:gd name="adj" fmla="val 948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5" name="Shape 8"/>
          <p:cNvSpPr/>
          <p:nvPr/>
        </p:nvSpPr>
        <p:spPr>
          <a:xfrm>
            <a:off x="4677156" y="3506724"/>
            <a:ext cx="418795" cy="418795"/>
          </a:xfrm>
          <a:prstGeom prst="roundRect">
            <a:avLst>
              <a:gd name="adj" fmla="val 99246"/>
            </a:avLst>
          </a:prstGeom>
          <a:solidFill>
            <a:srgbClr val="14B8A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815230" y="3621024"/>
            <a:ext cx="142646" cy="190195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5248656" y="3506724"/>
            <a:ext cx="226771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Congestion is Concentrated</a:t>
            </a:r>
            <a:endParaRPr lang="en-US" sz="1500" dirty="0"/>
          </a:p>
        </p:txBody>
      </p:sp>
      <p:sp>
        <p:nvSpPr>
          <p:cNvPr id="18" name="Text 10"/>
          <p:cNvSpPr txBox="1"/>
          <p:nvPr/>
        </p:nvSpPr>
        <p:spPr>
          <a:xfrm>
            <a:off x="5248656" y="4078224"/>
            <a:ext cx="226771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Traffic issues are localized, not system-wide</a:t>
            </a:r>
            <a:endParaRPr lang="en-US" sz="1400" dirty="0"/>
          </a:p>
        </p:txBody>
      </p:sp>
      <p:sp>
        <p:nvSpPr>
          <p:cNvPr id="19" name="Shape 11"/>
          <p:cNvSpPr/>
          <p:nvPr/>
        </p:nvSpPr>
        <p:spPr>
          <a:xfrm>
            <a:off x="8001000" y="3268980"/>
            <a:ext cx="3238805" cy="1714500"/>
          </a:xfrm>
          <a:prstGeom prst="roundRect">
            <a:avLst>
              <a:gd name="adj" fmla="val 948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0" name="Shape 12"/>
          <p:cNvSpPr/>
          <p:nvPr/>
        </p:nvSpPr>
        <p:spPr>
          <a:xfrm>
            <a:off x="8201254" y="3506724"/>
            <a:ext cx="418795" cy="418795"/>
          </a:xfrm>
          <a:prstGeom prst="roundRect">
            <a:avLst>
              <a:gd name="adj" fmla="val 99246"/>
            </a:avLst>
          </a:prstGeom>
          <a:solidFill>
            <a:srgbClr val="14B8A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315554" y="3621024"/>
            <a:ext cx="190195" cy="190195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8772754" y="3506724"/>
            <a:ext cx="226771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Behavior Adapts</a:t>
            </a:r>
            <a:endParaRPr lang="en-US" sz="1500" dirty="0"/>
          </a:p>
        </p:txBody>
      </p:sp>
      <p:sp>
        <p:nvSpPr>
          <p:cNvPr id="23" name="Text 14"/>
          <p:cNvSpPr txBox="1"/>
          <p:nvPr/>
        </p:nvSpPr>
        <p:spPr>
          <a:xfrm>
            <a:off x="8772754" y="3831336"/>
            <a:ext cx="226771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Drivers adjust routes based on conditions</a:t>
            </a:r>
            <a:endParaRPr lang="en-US" sz="1400" dirty="0"/>
          </a:p>
        </p:txBody>
      </p:sp>
      <p:sp>
        <p:nvSpPr>
          <p:cNvPr id="24" name="Shape 15"/>
          <p:cNvSpPr/>
          <p:nvPr/>
        </p:nvSpPr>
        <p:spPr>
          <a:xfrm>
            <a:off x="1360627" y="5724144"/>
            <a:ext cx="9477756" cy="657454"/>
          </a:xfrm>
          <a:prstGeom prst="roundRect">
            <a:avLst>
              <a:gd name="adj" fmla="val 32251"/>
            </a:avLst>
          </a:prstGeom>
          <a:solidFill>
            <a:srgbClr val="14B8A6">
              <a:alpha val="10000"/>
            </a:srgbClr>
          </a:solidFill>
          <a:ln/>
        </p:spPr>
      </p:sp>
      <p:sp>
        <p:nvSpPr>
          <p:cNvPr id="25" name="Shape 16"/>
          <p:cNvSpPr/>
          <p:nvPr/>
        </p:nvSpPr>
        <p:spPr>
          <a:xfrm>
            <a:off x="1360627" y="5724144"/>
            <a:ext cx="38405" cy="657454"/>
          </a:xfrm>
          <a:prstGeom prst="roundRect">
            <a:avLst>
              <a:gd name="adj" fmla="val 552102"/>
            </a:avLst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8"/>
          <a:srcRect l="-1169" r="-1169"/>
          <a:stretch/>
        </p:blipFill>
        <p:spPr>
          <a:xfrm>
            <a:off x="1855318" y="5928970"/>
            <a:ext cx="190195" cy="247802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2198218" y="5724144"/>
            <a:ext cx="8182051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opportunity is not </a:t>
            </a:r>
            <a:r>
              <a:rPr lang="en-US" sz="1800" b="1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expansion</a:t>
            </a:r>
            <a:r>
              <a:rPr 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it is </a:t>
            </a:r>
            <a:r>
              <a:rPr lang="en-US" sz="1800" b="1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smarter, data-driven management</a:t>
            </a:r>
            <a:endParaRPr lang="en-US" sz="18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69112D52-DAE3-15B9-3E09-A45CA4E8D64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51265" y="42977"/>
            <a:ext cx="1275338" cy="676656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3233816B-F0E2-3D88-D439-19235D4C37E9}"/>
              </a:ext>
            </a:extLst>
          </p:cNvPr>
          <p:cNvSpPr txBox="1"/>
          <p:nvPr/>
        </p:nvSpPr>
        <p:spPr>
          <a:xfrm>
            <a:off x="11637569" y="6158526"/>
            <a:ext cx="511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31</a:t>
            </a:r>
          </a:p>
        </p:txBody>
      </p:sp>
    </p:spTree>
  </p:cSld>
  <p:clrMapOvr>
    <a:masterClrMapping/>
  </p:clrMapOvr>
  <p:transition spd="slow">
    <p:push dir="u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71500" y="381305"/>
            <a:ext cx="76206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90-Day Execution Roadmap</a:t>
            </a:r>
            <a:endParaRPr lang="en-US" sz="24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1524305" y="2095805"/>
            <a:ext cx="9144000" cy="38405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4"/>
          <a:srcRect t="-400" b="-400"/>
          <a:stretch/>
        </p:blipFill>
        <p:spPr>
          <a:xfrm>
            <a:off x="1524305" y="2095805"/>
            <a:ext cx="9144000" cy="38405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6057900"/>
            <a:ext cx="11048695" cy="609905"/>
          </a:xfrm>
          <a:prstGeom prst="roundRect">
            <a:avLst>
              <a:gd name="adj" fmla="val 37481"/>
            </a:avLst>
          </a:prstGeom>
          <a:solidFill>
            <a:srgbClr val="14B8A6">
              <a:alpha val="10000"/>
            </a:srgbClr>
          </a:solidFill>
          <a:ln/>
        </p:spPr>
      </p:sp>
      <p:sp>
        <p:nvSpPr>
          <p:cNvPr id="8" name="Shape 3"/>
          <p:cNvSpPr/>
          <p:nvPr/>
        </p:nvSpPr>
        <p:spPr>
          <a:xfrm>
            <a:off x="571500" y="6057900"/>
            <a:ext cx="38405" cy="609905"/>
          </a:xfrm>
          <a:prstGeom prst="roundRect">
            <a:avLst>
              <a:gd name="adj" fmla="val 595235"/>
            </a:avLst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14654" y="6267298"/>
            <a:ext cx="85633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Focused execution can deliver measurable results within 90 days</a:t>
            </a: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through systematic implementation</a:t>
            </a:r>
            <a:endParaRPr lang="en-US" sz="14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38505" y="6281928"/>
            <a:ext cx="161849" cy="161849"/>
          </a:xfrm>
          <a:prstGeom prst="rect">
            <a:avLst/>
          </a:prstGeom>
        </p:spPr>
      </p:pic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286000" y="1923898"/>
            <a:ext cx="457200" cy="457200"/>
          </a:xfrm>
          <a:prstGeom prst="rect">
            <a:avLst/>
          </a:prstGeom>
        </p:spPr>
      </p:pic>
      <p:pic>
        <p:nvPicPr>
          <p:cNvPr id="13" name="Image 6" descr="preencoded.png"/>
          <p:cNvPicPr>
            <a:picLocks noChangeAspect="1"/>
          </p:cNvPicPr>
          <p:nvPr/>
        </p:nvPicPr>
        <p:blipFill>
          <a:blip r:embed="rId7"/>
          <a:srcRect t="-1100" b="-1100"/>
          <a:stretch/>
        </p:blipFill>
        <p:spPr>
          <a:xfrm>
            <a:off x="2457907" y="2085746"/>
            <a:ext cx="114300" cy="133502"/>
          </a:xfrm>
          <a:prstGeom prst="rect">
            <a:avLst/>
          </a:prstGeom>
        </p:spPr>
      </p:pic>
      <p:pic>
        <p:nvPicPr>
          <p:cNvPr id="14" name="Image 7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905195" y="1923898"/>
            <a:ext cx="457200" cy="457200"/>
          </a:xfrm>
          <a:prstGeom prst="rect">
            <a:avLst/>
          </a:prstGeom>
        </p:spPr>
      </p:pic>
      <p:pic>
        <p:nvPicPr>
          <p:cNvPr id="15" name="Image 8" descr="preencoded.png"/>
          <p:cNvPicPr>
            <a:picLocks noChangeAspect="1"/>
          </p:cNvPicPr>
          <p:nvPr/>
        </p:nvPicPr>
        <p:blipFill>
          <a:blip r:embed="rId8"/>
          <a:srcRect t="-1100" b="-1100"/>
          <a:stretch/>
        </p:blipFill>
        <p:spPr>
          <a:xfrm>
            <a:off x="6077102" y="2085746"/>
            <a:ext cx="114300" cy="133502"/>
          </a:xfrm>
          <a:prstGeom prst="rect">
            <a:avLst/>
          </a:prstGeom>
        </p:spPr>
      </p:pic>
      <p:pic>
        <p:nvPicPr>
          <p:cNvPr id="16" name="Image 9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525305" y="1923898"/>
            <a:ext cx="457200" cy="457200"/>
          </a:xfrm>
          <a:prstGeom prst="rect">
            <a:avLst/>
          </a:prstGeom>
        </p:spPr>
      </p:pic>
      <p:pic>
        <p:nvPicPr>
          <p:cNvPr id="17" name="Image 10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687154" y="2085746"/>
            <a:ext cx="133502" cy="133502"/>
          </a:xfrm>
          <a:prstGeom prst="rect">
            <a:avLst/>
          </a:prstGeom>
        </p:spPr>
      </p:pic>
      <p:sp>
        <p:nvSpPr>
          <p:cNvPr id="18" name="Shape 5"/>
          <p:cNvSpPr/>
          <p:nvPr/>
        </p:nvSpPr>
        <p:spPr>
          <a:xfrm>
            <a:off x="10096805" y="381305"/>
            <a:ext cx="1524305" cy="381305"/>
          </a:xfrm>
          <a:prstGeom prst="roundRect">
            <a:avLst>
              <a:gd name="adj" fmla="val 239808"/>
            </a:avLst>
          </a:prstGeom>
          <a:solidFill>
            <a:srgbClr val="14B8A6">
              <a:alpha val="20000"/>
            </a:srgbClr>
          </a:solidFill>
          <a:ln w="12700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19" name="Text 6"/>
          <p:cNvSpPr/>
          <p:nvPr/>
        </p:nvSpPr>
        <p:spPr>
          <a:xfrm>
            <a:off x="10096805" y="381305"/>
            <a:ext cx="1524305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Implementation</a:t>
            </a:r>
            <a:endParaRPr lang="en-US" sz="1000" dirty="0"/>
          </a:p>
        </p:txBody>
      </p:sp>
      <p:sp>
        <p:nvSpPr>
          <p:cNvPr id="20" name="Text 7"/>
          <p:cNvSpPr txBox="1"/>
          <p:nvPr/>
        </p:nvSpPr>
        <p:spPr>
          <a:xfrm>
            <a:off x="1143000" y="2572207"/>
            <a:ext cx="2667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B8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Phase 1</a:t>
            </a:r>
            <a:endParaRPr lang="en-US" sz="1500" dirty="0"/>
          </a:p>
        </p:txBody>
      </p:sp>
      <p:sp>
        <p:nvSpPr>
          <p:cNvPr id="21" name="Text 8"/>
          <p:cNvSpPr txBox="1"/>
          <p:nvPr/>
        </p:nvSpPr>
        <p:spPr>
          <a:xfrm>
            <a:off x="1143000" y="2838298"/>
            <a:ext cx="2667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0-30 Days</a:t>
            </a:r>
            <a:endParaRPr lang="en-US" sz="1200" dirty="0"/>
          </a:p>
        </p:txBody>
      </p:sp>
      <p:sp>
        <p:nvSpPr>
          <p:cNvPr id="22" name="Shape 9"/>
          <p:cNvSpPr/>
          <p:nvPr/>
        </p:nvSpPr>
        <p:spPr>
          <a:xfrm>
            <a:off x="1143000" y="3219602"/>
            <a:ext cx="2667305" cy="2190902"/>
          </a:xfrm>
          <a:prstGeom prst="roundRect">
            <a:avLst>
              <a:gd name="adj" fmla="val 4355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3" name="Text 10"/>
          <p:cNvSpPr txBox="1"/>
          <p:nvPr/>
        </p:nvSpPr>
        <p:spPr>
          <a:xfrm>
            <a:off x="1590142" y="3457346"/>
            <a:ext cx="19815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Translate insights into operational plan</a:t>
            </a:r>
            <a:endParaRPr lang="en-US" sz="1400" dirty="0"/>
          </a:p>
        </p:txBody>
      </p:sp>
      <p:pic>
        <p:nvPicPr>
          <p:cNvPr id="24" name="Image 11" descr="preencoded.png"/>
          <p:cNvPicPr>
            <a:picLocks noChangeAspect="1"/>
          </p:cNvPicPr>
          <p:nvPr/>
        </p:nvPicPr>
        <p:blipFill>
          <a:blip r:embed="rId10"/>
          <a:srcRect t="-1100" b="-1100"/>
          <a:stretch/>
        </p:blipFill>
        <p:spPr>
          <a:xfrm>
            <a:off x="1380744" y="3495751"/>
            <a:ext cx="114300" cy="133502"/>
          </a:xfrm>
          <a:prstGeom prst="rect">
            <a:avLst/>
          </a:prstGeom>
        </p:spPr>
      </p:pic>
      <p:sp>
        <p:nvSpPr>
          <p:cNvPr id="25" name="Text 11"/>
          <p:cNvSpPr txBox="1"/>
          <p:nvPr/>
        </p:nvSpPr>
        <p:spPr>
          <a:xfrm>
            <a:off x="1524305" y="4009644"/>
            <a:ext cx="2113757" cy="609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 up traffic &amp; violation monitoring system</a:t>
            </a:r>
            <a:endParaRPr lang="en-US" sz="1600" dirty="0"/>
          </a:p>
        </p:txBody>
      </p:sp>
      <p:pic>
        <p:nvPicPr>
          <p:cNvPr id="26" name="Image 12" descr="preencoded.png"/>
          <p:cNvPicPr>
            <a:picLocks noChangeAspect="1"/>
          </p:cNvPicPr>
          <p:nvPr/>
        </p:nvPicPr>
        <p:blipFill>
          <a:blip r:embed="rId10"/>
          <a:srcRect t="-1100" b="-1100"/>
          <a:stretch/>
        </p:blipFill>
        <p:spPr>
          <a:xfrm>
            <a:off x="1372058" y="4190696"/>
            <a:ext cx="114300" cy="133502"/>
          </a:xfrm>
          <a:prstGeom prst="rect">
            <a:avLst/>
          </a:prstGeom>
        </p:spPr>
      </p:pic>
      <p:sp>
        <p:nvSpPr>
          <p:cNvPr id="27" name="Text 12"/>
          <p:cNvSpPr txBox="1"/>
          <p:nvPr/>
        </p:nvSpPr>
        <p:spPr>
          <a:xfrm>
            <a:off x="1581454" y="4809745"/>
            <a:ext cx="19815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 baseline KPIs for performance tracking</a:t>
            </a:r>
            <a:endParaRPr lang="en-US" sz="1400" dirty="0"/>
          </a:p>
        </p:txBody>
      </p:sp>
      <p:pic>
        <p:nvPicPr>
          <p:cNvPr id="28" name="Image 13" descr="preencoded.png"/>
          <p:cNvPicPr>
            <a:picLocks noChangeAspect="1"/>
          </p:cNvPicPr>
          <p:nvPr/>
        </p:nvPicPr>
        <p:blipFill>
          <a:blip r:embed="rId10"/>
          <a:srcRect t="-1100" b="-1100"/>
          <a:stretch/>
        </p:blipFill>
        <p:spPr>
          <a:xfrm>
            <a:off x="1380744" y="4924043"/>
            <a:ext cx="114300" cy="133502"/>
          </a:xfrm>
          <a:prstGeom prst="rect">
            <a:avLst/>
          </a:prstGeom>
        </p:spPr>
      </p:pic>
      <p:sp>
        <p:nvSpPr>
          <p:cNvPr id="29" name="Text 13"/>
          <p:cNvSpPr txBox="1"/>
          <p:nvPr/>
        </p:nvSpPr>
        <p:spPr>
          <a:xfrm>
            <a:off x="4762195" y="2572207"/>
            <a:ext cx="2667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B8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Phase 2</a:t>
            </a:r>
            <a:endParaRPr lang="en-US" sz="1500" dirty="0"/>
          </a:p>
        </p:txBody>
      </p:sp>
      <p:sp>
        <p:nvSpPr>
          <p:cNvPr id="30" name="Text 14"/>
          <p:cNvSpPr txBox="1"/>
          <p:nvPr/>
        </p:nvSpPr>
        <p:spPr>
          <a:xfrm>
            <a:off x="4762195" y="2838298"/>
            <a:ext cx="2667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30-60 Days</a:t>
            </a:r>
            <a:endParaRPr lang="en-US" sz="1200" dirty="0"/>
          </a:p>
        </p:txBody>
      </p:sp>
      <p:sp>
        <p:nvSpPr>
          <p:cNvPr id="31" name="Shape 15"/>
          <p:cNvSpPr/>
          <p:nvPr/>
        </p:nvSpPr>
        <p:spPr>
          <a:xfrm>
            <a:off x="4762195" y="3219602"/>
            <a:ext cx="2667305" cy="2190902"/>
          </a:xfrm>
          <a:prstGeom prst="roundRect">
            <a:avLst>
              <a:gd name="adj" fmla="val 4355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2" name="Text 16"/>
          <p:cNvSpPr txBox="1"/>
          <p:nvPr/>
        </p:nvSpPr>
        <p:spPr>
          <a:xfrm>
            <a:off x="5210251" y="3457346"/>
            <a:ext cx="19815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 enforcement at high-risk locations</a:t>
            </a:r>
            <a:endParaRPr lang="en-US" sz="1400" dirty="0"/>
          </a:p>
        </p:txBody>
      </p:sp>
      <p:pic>
        <p:nvPicPr>
          <p:cNvPr id="33" name="Image 14" descr="preencoded.png"/>
          <p:cNvPicPr>
            <a:picLocks noChangeAspect="1"/>
          </p:cNvPicPr>
          <p:nvPr/>
        </p:nvPicPr>
        <p:blipFill>
          <a:blip r:embed="rId10"/>
          <a:srcRect t="-1100" b="-1100"/>
          <a:stretch/>
        </p:blipFill>
        <p:spPr>
          <a:xfrm>
            <a:off x="5000854" y="3495751"/>
            <a:ext cx="114300" cy="133502"/>
          </a:xfrm>
          <a:prstGeom prst="rect">
            <a:avLst/>
          </a:prstGeom>
        </p:spPr>
      </p:pic>
      <p:sp>
        <p:nvSpPr>
          <p:cNvPr id="34" name="Text 17"/>
          <p:cNvSpPr txBox="1"/>
          <p:nvPr/>
        </p:nvSpPr>
        <p:spPr>
          <a:xfrm>
            <a:off x="5210251" y="4009644"/>
            <a:ext cx="19815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Adjust staffing based on peak patterns</a:t>
            </a:r>
            <a:endParaRPr lang="en-US" sz="1400" dirty="0"/>
          </a:p>
        </p:txBody>
      </p:sp>
      <p:pic>
        <p:nvPicPr>
          <p:cNvPr id="35" name="Image 15" descr="preencoded.png"/>
          <p:cNvPicPr>
            <a:picLocks noChangeAspect="1"/>
          </p:cNvPicPr>
          <p:nvPr/>
        </p:nvPicPr>
        <p:blipFill>
          <a:blip r:embed="rId10"/>
          <a:srcRect t="-1100" b="-1100"/>
          <a:stretch/>
        </p:blipFill>
        <p:spPr>
          <a:xfrm>
            <a:off x="5000854" y="4048049"/>
            <a:ext cx="114300" cy="133502"/>
          </a:xfrm>
          <a:prstGeom prst="rect">
            <a:avLst/>
          </a:prstGeom>
        </p:spPr>
      </p:pic>
      <p:sp>
        <p:nvSpPr>
          <p:cNvPr id="36" name="Text 18"/>
          <p:cNvSpPr txBox="1"/>
          <p:nvPr/>
        </p:nvSpPr>
        <p:spPr>
          <a:xfrm>
            <a:off x="5210251" y="4562856"/>
            <a:ext cx="239847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 congestion strategies</a:t>
            </a:r>
            <a:endParaRPr lang="en-US" sz="1400" dirty="0"/>
          </a:p>
        </p:txBody>
      </p:sp>
      <p:pic>
        <p:nvPicPr>
          <p:cNvPr id="37" name="Image 16" descr="preencoded.png"/>
          <p:cNvPicPr>
            <a:picLocks noChangeAspect="1"/>
          </p:cNvPicPr>
          <p:nvPr/>
        </p:nvPicPr>
        <p:blipFill>
          <a:blip r:embed="rId10"/>
          <a:srcRect t="-1100" b="-1100"/>
          <a:stretch/>
        </p:blipFill>
        <p:spPr>
          <a:xfrm>
            <a:off x="5000854" y="4600346"/>
            <a:ext cx="114300" cy="133502"/>
          </a:xfrm>
          <a:prstGeom prst="rect">
            <a:avLst/>
          </a:prstGeom>
        </p:spPr>
      </p:pic>
      <p:sp>
        <p:nvSpPr>
          <p:cNvPr id="38" name="Text 19"/>
          <p:cNvSpPr txBox="1"/>
          <p:nvPr/>
        </p:nvSpPr>
        <p:spPr>
          <a:xfrm>
            <a:off x="8382305" y="2572207"/>
            <a:ext cx="2667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B8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Phase 3</a:t>
            </a:r>
            <a:endParaRPr lang="en-US" sz="1500" dirty="0"/>
          </a:p>
        </p:txBody>
      </p:sp>
      <p:sp>
        <p:nvSpPr>
          <p:cNvPr id="39" name="Text 20"/>
          <p:cNvSpPr txBox="1"/>
          <p:nvPr/>
        </p:nvSpPr>
        <p:spPr>
          <a:xfrm>
            <a:off x="8382305" y="2838298"/>
            <a:ext cx="2667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60-90 Days</a:t>
            </a:r>
            <a:endParaRPr lang="en-US" sz="1200" dirty="0"/>
          </a:p>
        </p:txBody>
      </p:sp>
      <p:sp>
        <p:nvSpPr>
          <p:cNvPr id="40" name="Shape 21"/>
          <p:cNvSpPr/>
          <p:nvPr/>
        </p:nvSpPr>
        <p:spPr>
          <a:xfrm>
            <a:off x="8382305" y="3219602"/>
            <a:ext cx="2667305" cy="2190902"/>
          </a:xfrm>
          <a:prstGeom prst="roundRect">
            <a:avLst>
              <a:gd name="adj" fmla="val 4355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1" name="Text 22"/>
          <p:cNvSpPr txBox="1"/>
          <p:nvPr/>
        </p:nvSpPr>
        <p:spPr>
          <a:xfrm>
            <a:off x="8829446" y="3457346"/>
            <a:ext cx="19815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 performance improvements</a:t>
            </a:r>
            <a:endParaRPr lang="en-US" sz="1400" dirty="0"/>
          </a:p>
        </p:txBody>
      </p:sp>
      <p:pic>
        <p:nvPicPr>
          <p:cNvPr id="42" name="Image 17" descr="preencoded.png"/>
          <p:cNvPicPr>
            <a:picLocks noChangeAspect="1"/>
          </p:cNvPicPr>
          <p:nvPr/>
        </p:nvPicPr>
        <p:blipFill>
          <a:blip r:embed="rId10"/>
          <a:srcRect t="-1100" b="-1100"/>
          <a:stretch/>
        </p:blipFill>
        <p:spPr>
          <a:xfrm>
            <a:off x="8620049" y="3495751"/>
            <a:ext cx="114300" cy="133502"/>
          </a:xfrm>
          <a:prstGeom prst="rect">
            <a:avLst/>
          </a:prstGeom>
        </p:spPr>
      </p:pic>
      <p:sp>
        <p:nvSpPr>
          <p:cNvPr id="43" name="Text 23"/>
          <p:cNvSpPr txBox="1"/>
          <p:nvPr/>
        </p:nvSpPr>
        <p:spPr>
          <a:xfrm>
            <a:off x="8829446" y="4009644"/>
            <a:ext cx="19815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Refine strategies</a:t>
            </a:r>
            <a:endParaRPr lang="en-US" sz="1400" dirty="0"/>
          </a:p>
        </p:txBody>
      </p:sp>
      <p:pic>
        <p:nvPicPr>
          <p:cNvPr id="44" name="Image 18" descr="preencoded.png"/>
          <p:cNvPicPr>
            <a:picLocks noChangeAspect="1"/>
          </p:cNvPicPr>
          <p:nvPr/>
        </p:nvPicPr>
        <p:blipFill>
          <a:blip r:embed="rId10"/>
          <a:srcRect t="-1100" b="-1100"/>
          <a:stretch/>
        </p:blipFill>
        <p:spPr>
          <a:xfrm>
            <a:off x="8620049" y="4048049"/>
            <a:ext cx="114300" cy="133502"/>
          </a:xfrm>
          <a:prstGeom prst="rect">
            <a:avLst/>
          </a:prstGeom>
        </p:spPr>
      </p:pic>
      <p:sp>
        <p:nvSpPr>
          <p:cNvPr id="45" name="Text 24"/>
          <p:cNvSpPr txBox="1"/>
          <p:nvPr/>
        </p:nvSpPr>
        <p:spPr>
          <a:xfrm>
            <a:off x="8829446" y="4362602"/>
            <a:ext cx="19815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 successful interventions</a:t>
            </a:r>
            <a:endParaRPr lang="en-US" sz="1400" dirty="0"/>
          </a:p>
        </p:txBody>
      </p:sp>
      <p:pic>
        <p:nvPicPr>
          <p:cNvPr id="46" name="Image 19" descr="preencoded.png"/>
          <p:cNvPicPr>
            <a:picLocks noChangeAspect="1"/>
          </p:cNvPicPr>
          <p:nvPr/>
        </p:nvPicPr>
        <p:blipFill>
          <a:blip r:embed="rId10"/>
          <a:srcRect t="-1100" b="-1100"/>
          <a:stretch/>
        </p:blipFill>
        <p:spPr>
          <a:xfrm>
            <a:off x="8620049" y="4401007"/>
            <a:ext cx="114300" cy="13350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4CEAD4B-2A74-9EF4-AD18-9BF44031E2CD}"/>
              </a:ext>
            </a:extLst>
          </p:cNvPr>
          <p:cNvSpPr txBox="1"/>
          <p:nvPr/>
        </p:nvSpPr>
        <p:spPr>
          <a:xfrm>
            <a:off x="11621110" y="6158526"/>
            <a:ext cx="527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32</a:t>
            </a:r>
          </a:p>
        </p:txBody>
      </p:sp>
    </p:spTree>
  </p:cSld>
  <p:clrMapOvr>
    <a:masterClrMapping/>
  </p:clrMapOvr>
  <p:transition spd="slow">
    <p:push dir="u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1380744"/>
            <a:ext cx="6286500" cy="4286707"/>
          </a:xfrm>
          <a:prstGeom prst="roundRect">
            <a:avLst>
              <a:gd name="adj" fmla="val 1517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09244" y="1619402"/>
            <a:ext cx="418795" cy="418795"/>
          </a:xfrm>
          <a:prstGeom prst="roundRect">
            <a:avLst>
              <a:gd name="adj" fmla="val 99246"/>
            </a:avLst>
          </a:prstGeom>
          <a:solidFill>
            <a:srgbClr val="14B8A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23544" y="1733702"/>
            <a:ext cx="190195" cy="19019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380744" y="1699870"/>
            <a:ext cx="401238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the Dashboard Will Enable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809244" y="2180844"/>
            <a:ext cx="5810098" cy="638251"/>
          </a:xfrm>
          <a:prstGeom prst="roundRect">
            <a:avLst>
              <a:gd name="adj" fmla="val 34213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972007" y="2345436"/>
            <a:ext cx="304495" cy="304495"/>
          </a:xfrm>
          <a:prstGeom prst="roundRect">
            <a:avLst>
              <a:gd name="adj" fmla="val 150150"/>
            </a:avLst>
          </a:prstGeom>
          <a:solidFill>
            <a:srgbClr val="14B8A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rcRect l="-1507" r="-1507"/>
          <a:stretch/>
        </p:blipFill>
        <p:spPr>
          <a:xfrm>
            <a:off x="1080821" y="2431390"/>
            <a:ext cx="85954" cy="13350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429207" y="2305202"/>
            <a:ext cx="502920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Traffic monitoring by facility</a:t>
            </a:r>
            <a:r>
              <a:rPr lang="en-US" sz="1100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- Real-time visibility into vehicle flow across all facilities 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809244" y="2928823"/>
            <a:ext cx="5810098" cy="638251"/>
          </a:xfrm>
          <a:prstGeom prst="roundRect">
            <a:avLst>
              <a:gd name="adj" fmla="val 34213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972007" y="3093415"/>
            <a:ext cx="304495" cy="304495"/>
          </a:xfrm>
          <a:prstGeom prst="roundRect">
            <a:avLst>
              <a:gd name="adj" fmla="val 150150"/>
            </a:avLst>
          </a:prstGeom>
          <a:solidFill>
            <a:srgbClr val="14B8A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57046" y="3179369"/>
            <a:ext cx="133502" cy="133502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429207" y="3053182"/>
            <a:ext cx="502920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Violation tracking over time</a:t>
            </a:r>
            <a:r>
              <a:rPr lang="en-US" sz="1100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- Trend analysis of toll violations and enforcement effectiveness 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809244" y="3676802"/>
            <a:ext cx="5810098" cy="552298"/>
          </a:xfrm>
          <a:prstGeom prst="roundRect">
            <a:avLst>
              <a:gd name="adj" fmla="val 45672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972007" y="3800246"/>
            <a:ext cx="304495" cy="304495"/>
          </a:xfrm>
          <a:prstGeom prst="roundRect">
            <a:avLst>
              <a:gd name="adj" fmla="val 150150"/>
            </a:avLst>
          </a:prstGeom>
          <a:solidFill>
            <a:srgbClr val="14B8A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57046" y="3886200"/>
            <a:ext cx="133502" cy="133502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429207" y="3856025"/>
            <a:ext cx="57150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Peak demand identification</a:t>
            </a:r>
            <a:r>
              <a:rPr lang="en-US" sz="1100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- Automated detection of high-traffic periods </a:t>
            </a:r>
            <a:endParaRPr lang="en-US" sz="1100" dirty="0"/>
          </a:p>
        </p:txBody>
      </p:sp>
      <p:sp>
        <p:nvSpPr>
          <p:cNvPr id="20" name="Shape 13"/>
          <p:cNvSpPr/>
          <p:nvPr/>
        </p:nvSpPr>
        <p:spPr>
          <a:xfrm>
            <a:off x="809244" y="4343400"/>
            <a:ext cx="5810098" cy="552298"/>
          </a:xfrm>
          <a:prstGeom prst="roundRect">
            <a:avLst>
              <a:gd name="adj" fmla="val 45672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1" name="Shape 14"/>
          <p:cNvSpPr/>
          <p:nvPr/>
        </p:nvSpPr>
        <p:spPr>
          <a:xfrm>
            <a:off x="972007" y="4466844"/>
            <a:ext cx="304495" cy="304495"/>
          </a:xfrm>
          <a:prstGeom prst="roundRect">
            <a:avLst>
              <a:gd name="adj" fmla="val 150150"/>
            </a:avLst>
          </a:prstGeom>
          <a:solidFill>
            <a:srgbClr val="14B8A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7"/>
          <a:srcRect l="-837" r="-837"/>
          <a:stretch/>
        </p:blipFill>
        <p:spPr>
          <a:xfrm>
            <a:off x="1047902" y="4552798"/>
            <a:ext cx="152705" cy="133502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1429207" y="4523537"/>
            <a:ext cx="57150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Facility-level performance visibility</a:t>
            </a:r>
            <a:r>
              <a:rPr lang="en-US" sz="1100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- Granular insights for each location </a:t>
            </a:r>
            <a:endParaRPr lang="en-US" sz="1100" dirty="0"/>
          </a:p>
        </p:txBody>
      </p:sp>
      <p:sp>
        <p:nvSpPr>
          <p:cNvPr id="24" name="Shape 16"/>
          <p:cNvSpPr/>
          <p:nvPr/>
        </p:nvSpPr>
        <p:spPr>
          <a:xfrm>
            <a:off x="7144207" y="1380744"/>
            <a:ext cx="4476902" cy="4286707"/>
          </a:xfrm>
          <a:prstGeom prst="roundRect">
            <a:avLst>
              <a:gd name="adj" fmla="val 1517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5" name="Shape 17"/>
          <p:cNvSpPr/>
          <p:nvPr/>
        </p:nvSpPr>
        <p:spPr>
          <a:xfrm>
            <a:off x="7381951" y="1666951"/>
            <a:ext cx="381305" cy="418795"/>
          </a:xfrm>
          <a:prstGeom prst="roundRect">
            <a:avLst>
              <a:gd name="adj" fmla="val 119904"/>
            </a:avLst>
          </a:prstGeom>
          <a:solidFill>
            <a:srgbClr val="14B8A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474306" y="1781251"/>
            <a:ext cx="190195" cy="190195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7910474" y="1619402"/>
            <a:ext cx="3477463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Business Impact of Implementation</a:t>
            </a:r>
            <a:endParaRPr lang="en-US" sz="1600" dirty="0"/>
          </a:p>
        </p:txBody>
      </p:sp>
      <p:sp>
        <p:nvSpPr>
          <p:cNvPr id="28" name="Shape 19"/>
          <p:cNvSpPr/>
          <p:nvPr/>
        </p:nvSpPr>
        <p:spPr>
          <a:xfrm>
            <a:off x="7381951" y="2276856"/>
            <a:ext cx="4000500" cy="714146"/>
          </a:xfrm>
          <a:prstGeom prst="roundRect">
            <a:avLst>
              <a:gd name="adj" fmla="val 27315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9" name="Shape 20"/>
          <p:cNvSpPr/>
          <p:nvPr/>
        </p:nvSpPr>
        <p:spPr>
          <a:xfrm>
            <a:off x="7543800" y="2400300"/>
            <a:ext cx="304495" cy="304495"/>
          </a:xfrm>
          <a:prstGeom prst="roundRect">
            <a:avLst>
              <a:gd name="adj" fmla="val 150150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9"/>
          <a:srcRect l="-837" r="-837"/>
          <a:stretch/>
        </p:blipFill>
        <p:spPr>
          <a:xfrm>
            <a:off x="7619695" y="2486254"/>
            <a:ext cx="152705" cy="133502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8001000" y="2381098"/>
            <a:ext cx="32196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Would enable real-time monitoring of traffic patterns</a:t>
            </a:r>
            <a:endParaRPr lang="en-US" sz="1000" dirty="0"/>
          </a:p>
        </p:txBody>
      </p:sp>
      <p:sp>
        <p:nvSpPr>
          <p:cNvPr id="32" name="Text 22"/>
          <p:cNvSpPr txBox="1"/>
          <p:nvPr/>
        </p:nvSpPr>
        <p:spPr>
          <a:xfrm>
            <a:off x="8001000" y="2734056"/>
            <a:ext cx="381670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Continuous visibility into traffic patterns and anomalies</a:t>
            </a:r>
            <a:endParaRPr lang="en-US" sz="900" dirty="0"/>
          </a:p>
        </p:txBody>
      </p:sp>
      <p:sp>
        <p:nvSpPr>
          <p:cNvPr id="33" name="Shape 23"/>
          <p:cNvSpPr/>
          <p:nvPr/>
        </p:nvSpPr>
        <p:spPr>
          <a:xfrm>
            <a:off x="7381951" y="3082442"/>
            <a:ext cx="4000500" cy="714146"/>
          </a:xfrm>
          <a:prstGeom prst="roundRect">
            <a:avLst>
              <a:gd name="adj" fmla="val 27315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4" name="Shape 24"/>
          <p:cNvSpPr/>
          <p:nvPr/>
        </p:nvSpPr>
        <p:spPr>
          <a:xfrm>
            <a:off x="7543800" y="3206801"/>
            <a:ext cx="304495" cy="304495"/>
          </a:xfrm>
          <a:prstGeom prst="roundRect">
            <a:avLst>
              <a:gd name="adj" fmla="val 150150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5" name="Image 8" descr="preencoded.png"/>
          <p:cNvPicPr>
            <a:picLocks noChangeAspect="1"/>
          </p:cNvPicPr>
          <p:nvPr/>
        </p:nvPicPr>
        <p:blipFill>
          <a:blip r:embed="rId10"/>
          <a:srcRect l="-1507" r="-1507"/>
          <a:stretch/>
        </p:blipFill>
        <p:spPr>
          <a:xfrm>
            <a:off x="7610551" y="3291840"/>
            <a:ext cx="171907" cy="133502"/>
          </a:xfrm>
          <a:prstGeom prst="rect">
            <a:avLst/>
          </a:prstGeom>
        </p:spPr>
      </p:pic>
      <p:sp>
        <p:nvSpPr>
          <p:cNvPr id="36" name="Text 25"/>
          <p:cNvSpPr txBox="1"/>
          <p:nvPr/>
        </p:nvSpPr>
        <p:spPr>
          <a:xfrm>
            <a:off x="8001000" y="3187598"/>
            <a:ext cx="32196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Would support dynamic staffing and operational adjustments</a:t>
            </a:r>
            <a:endParaRPr lang="en-US" sz="1000" dirty="0"/>
          </a:p>
        </p:txBody>
      </p:sp>
      <p:sp>
        <p:nvSpPr>
          <p:cNvPr id="37" name="Text 26"/>
          <p:cNvSpPr txBox="1"/>
          <p:nvPr/>
        </p:nvSpPr>
        <p:spPr>
          <a:xfrm>
            <a:off x="8001000" y="3539642"/>
            <a:ext cx="347197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Data-driven resource allocation based on demand</a:t>
            </a:r>
            <a:endParaRPr lang="en-US" sz="900" dirty="0"/>
          </a:p>
        </p:txBody>
      </p:sp>
      <p:sp>
        <p:nvSpPr>
          <p:cNvPr id="38" name="Shape 27"/>
          <p:cNvSpPr/>
          <p:nvPr/>
        </p:nvSpPr>
        <p:spPr>
          <a:xfrm>
            <a:off x="7381951" y="3888943"/>
            <a:ext cx="4000500" cy="714146"/>
          </a:xfrm>
          <a:prstGeom prst="roundRect">
            <a:avLst>
              <a:gd name="adj" fmla="val 27315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9" name="Shape 28"/>
          <p:cNvSpPr/>
          <p:nvPr/>
        </p:nvSpPr>
        <p:spPr>
          <a:xfrm>
            <a:off x="7543800" y="4012387"/>
            <a:ext cx="304495" cy="304495"/>
          </a:xfrm>
          <a:prstGeom prst="roundRect">
            <a:avLst>
              <a:gd name="adj" fmla="val 150150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7629754" y="4098341"/>
            <a:ext cx="133502" cy="133502"/>
          </a:xfrm>
          <a:prstGeom prst="rect">
            <a:avLst/>
          </a:prstGeom>
        </p:spPr>
      </p:pic>
      <p:sp>
        <p:nvSpPr>
          <p:cNvPr id="41" name="Text 29"/>
          <p:cNvSpPr txBox="1"/>
          <p:nvPr/>
        </p:nvSpPr>
        <p:spPr>
          <a:xfrm>
            <a:off x="8001000" y="3993185"/>
            <a:ext cx="32196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Would track effectiveness of enforcement and congestion strategies</a:t>
            </a:r>
            <a:endParaRPr lang="en-US" sz="1000" dirty="0"/>
          </a:p>
        </p:txBody>
      </p:sp>
      <p:sp>
        <p:nvSpPr>
          <p:cNvPr id="42" name="Text 30"/>
          <p:cNvSpPr txBox="1"/>
          <p:nvPr/>
        </p:nvSpPr>
        <p:spPr>
          <a:xfrm>
            <a:off x="8001000" y="4346143"/>
            <a:ext cx="347197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Measures impact of pricing and control measures</a:t>
            </a:r>
            <a:endParaRPr lang="en-US" sz="900" dirty="0"/>
          </a:p>
        </p:txBody>
      </p:sp>
      <p:sp>
        <p:nvSpPr>
          <p:cNvPr id="43" name="Shape 31"/>
          <p:cNvSpPr/>
          <p:nvPr/>
        </p:nvSpPr>
        <p:spPr>
          <a:xfrm>
            <a:off x="7381951" y="4694530"/>
            <a:ext cx="4000500" cy="714146"/>
          </a:xfrm>
          <a:prstGeom prst="roundRect">
            <a:avLst>
              <a:gd name="adj" fmla="val 27315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4" name="Shape 32"/>
          <p:cNvSpPr/>
          <p:nvPr/>
        </p:nvSpPr>
        <p:spPr>
          <a:xfrm>
            <a:off x="7543800" y="4818888"/>
            <a:ext cx="304495" cy="304495"/>
          </a:xfrm>
          <a:prstGeom prst="roundRect">
            <a:avLst>
              <a:gd name="adj" fmla="val 150150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5" name="Image 10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7629754" y="4903927"/>
            <a:ext cx="133502" cy="133502"/>
          </a:xfrm>
          <a:prstGeom prst="rect">
            <a:avLst/>
          </a:prstGeom>
        </p:spPr>
      </p:pic>
      <p:sp>
        <p:nvSpPr>
          <p:cNvPr id="46" name="Text 33"/>
          <p:cNvSpPr txBox="1"/>
          <p:nvPr/>
        </p:nvSpPr>
        <p:spPr>
          <a:xfrm>
            <a:off x="8001000" y="4799686"/>
            <a:ext cx="32196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Would provide continuous visibility into traffic and system performance</a:t>
            </a:r>
            <a:endParaRPr lang="en-US" sz="1000" dirty="0"/>
          </a:p>
        </p:txBody>
      </p:sp>
      <p:sp>
        <p:nvSpPr>
          <p:cNvPr id="47" name="Text 34"/>
          <p:cNvSpPr txBox="1"/>
          <p:nvPr/>
        </p:nvSpPr>
        <p:spPr>
          <a:xfrm>
            <a:off x="8001000" y="5151730"/>
            <a:ext cx="32196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24/7 monitoring for proactive management</a:t>
            </a:r>
            <a:endParaRPr lang="en-US" sz="900" dirty="0"/>
          </a:p>
        </p:txBody>
      </p:sp>
      <p:sp>
        <p:nvSpPr>
          <p:cNvPr id="48" name="Text 35"/>
          <p:cNvSpPr txBox="1"/>
          <p:nvPr/>
        </p:nvSpPr>
        <p:spPr>
          <a:xfrm>
            <a:off x="571500" y="409651"/>
            <a:ext cx="9964217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37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Step: Operational Dashboard Implementation</a:t>
            </a:r>
            <a:endParaRPr lang="en-US" sz="2700" dirty="0"/>
          </a:p>
        </p:txBody>
      </p:sp>
      <p:sp>
        <p:nvSpPr>
          <p:cNvPr id="49" name="Shape 36"/>
          <p:cNvSpPr/>
          <p:nvPr/>
        </p:nvSpPr>
        <p:spPr>
          <a:xfrm>
            <a:off x="9998964" y="452628"/>
            <a:ext cx="1628546" cy="333756"/>
          </a:xfrm>
          <a:prstGeom prst="roundRect">
            <a:avLst>
              <a:gd name="adj" fmla="val 273973"/>
            </a:avLst>
          </a:prstGeom>
          <a:solidFill>
            <a:srgbClr val="14B8A6">
              <a:alpha val="20000"/>
            </a:srgbClr>
          </a:solidFill>
          <a:ln w="12700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50" name="Text 37"/>
          <p:cNvSpPr/>
          <p:nvPr/>
        </p:nvSpPr>
        <p:spPr>
          <a:xfrm>
            <a:off x="9998964" y="452628"/>
            <a:ext cx="1629461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 Integration</a:t>
            </a:r>
            <a:endParaRPr lang="en-US" sz="1000" dirty="0"/>
          </a:p>
        </p:txBody>
      </p:sp>
      <p:sp>
        <p:nvSpPr>
          <p:cNvPr id="51" name="Text 38"/>
          <p:cNvSpPr txBox="1"/>
          <p:nvPr/>
        </p:nvSpPr>
        <p:spPr>
          <a:xfrm>
            <a:off x="571500" y="905256"/>
            <a:ext cx="68488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Translating analysis into a real-time monitoring and decision-making system</a:t>
            </a:r>
            <a:endParaRPr lang="en-US" sz="1300" dirty="0"/>
          </a:p>
        </p:txBody>
      </p:sp>
      <p:sp>
        <p:nvSpPr>
          <p:cNvPr id="52" name="Shape 39"/>
          <p:cNvSpPr/>
          <p:nvPr/>
        </p:nvSpPr>
        <p:spPr>
          <a:xfrm>
            <a:off x="571500" y="5905195"/>
            <a:ext cx="11048695" cy="571500"/>
          </a:xfrm>
          <a:prstGeom prst="roundRect">
            <a:avLst>
              <a:gd name="adj" fmla="val 42667"/>
            </a:avLst>
          </a:prstGeom>
          <a:solidFill>
            <a:srgbClr val="14B8A6">
              <a:alpha val="10000"/>
            </a:srgbClr>
          </a:solidFill>
          <a:ln/>
        </p:spPr>
      </p:sp>
      <p:sp>
        <p:nvSpPr>
          <p:cNvPr id="53" name="Shape 40"/>
          <p:cNvSpPr/>
          <p:nvPr/>
        </p:nvSpPr>
        <p:spPr>
          <a:xfrm>
            <a:off x="571500" y="5905195"/>
            <a:ext cx="38405" cy="571500"/>
          </a:xfrm>
          <a:prstGeom prst="roundRect">
            <a:avLst>
              <a:gd name="adj" fmla="val 634917"/>
            </a:avLst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pic>
        <p:nvPicPr>
          <p:cNvPr id="54" name="Image 11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838505" y="6102706"/>
            <a:ext cx="171907" cy="171907"/>
          </a:xfrm>
          <a:prstGeom prst="rect">
            <a:avLst/>
          </a:prstGeom>
        </p:spPr>
      </p:pic>
      <p:sp>
        <p:nvSpPr>
          <p:cNvPr id="55" name="Text 41"/>
          <p:cNvSpPr txBox="1"/>
          <p:nvPr/>
        </p:nvSpPr>
        <p:spPr>
          <a:xfrm>
            <a:off x="1123798" y="6090818"/>
            <a:ext cx="72393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dashboard will translate analysis into real-time decision-making capability</a:t>
            </a:r>
            <a:endParaRPr lang="en-US" sz="13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6A4B5F9-D9F8-69EE-4916-0A7567F3CC96}"/>
              </a:ext>
            </a:extLst>
          </p:cNvPr>
          <p:cNvSpPr txBox="1"/>
          <p:nvPr/>
        </p:nvSpPr>
        <p:spPr>
          <a:xfrm>
            <a:off x="11733581" y="6158526"/>
            <a:ext cx="415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33</a:t>
            </a:r>
          </a:p>
        </p:txBody>
      </p:sp>
    </p:spTree>
  </p:cSld>
  <p:clrMapOvr>
    <a:masterClrMapping/>
  </p:clrMapOvr>
  <p:transition spd="slow">
    <p:push dir="u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917290" y="838505"/>
            <a:ext cx="4366260" cy="924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kern="0" spc="-75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</a:t>
            </a:r>
            <a:endParaRPr lang="en-US" sz="60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4667098" y="4962449"/>
            <a:ext cx="2857500" cy="1920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693615" y="5458054"/>
            <a:ext cx="281178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3866998" y="5820156"/>
            <a:ext cx="44631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look forward to your feedback and insights</a:t>
            </a:r>
            <a:endParaRPr lang="en-US" sz="13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>
            <a:alphaModFix amt="20000"/>
          </a:blip>
          <a:srcRect l="-9" r="-9"/>
          <a:stretch/>
        </p:blipFill>
        <p:spPr>
          <a:xfrm>
            <a:off x="5762549" y="1837944"/>
            <a:ext cx="666598" cy="761695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1809598" y="2143354"/>
            <a:ext cx="8572500" cy="2057400"/>
          </a:xfrm>
          <a:prstGeom prst="roundRect">
            <a:avLst>
              <a:gd name="adj" fmla="val 4938"/>
            </a:avLst>
          </a:prstGeom>
          <a:solidFill>
            <a:srgbClr val="14B8A6">
              <a:alpha val="5000"/>
            </a:srgbClr>
          </a:solidFill>
          <a:ln w="50800">
            <a:solidFill>
              <a:srgbClr val="14B8A6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1809598" y="2143354"/>
            <a:ext cx="8572500" cy="20574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0" tIns="571500" rIns="762000" bIns="57150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"Traffic is not a problem of volume — it is a problem of how it is managed."</a:t>
            </a:r>
            <a:endParaRPr lang="en-US" sz="24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6AD5EE2-C2CE-087A-CD04-364798F7DC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51265" y="42977"/>
            <a:ext cx="1275338" cy="67665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5158408-EC0A-6B0C-CD1D-5F62ED318852}"/>
              </a:ext>
            </a:extLst>
          </p:cNvPr>
          <p:cNvSpPr txBox="1"/>
          <p:nvPr/>
        </p:nvSpPr>
        <p:spPr>
          <a:xfrm>
            <a:off x="11609408" y="6158526"/>
            <a:ext cx="539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34</a:t>
            </a:r>
          </a:p>
        </p:txBody>
      </p: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</TotalTime>
  <Words>2403</Words>
  <Application>Microsoft Office PowerPoint</Application>
  <PresentationFormat>Widescreen</PresentationFormat>
  <Paragraphs>509</Paragraphs>
  <Slides>34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Arial</vt:lpstr>
      <vt:lpstr>Inter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Nandani Raj</cp:lastModifiedBy>
  <cp:revision>10</cp:revision>
  <dcterms:created xsi:type="dcterms:W3CDTF">2026-04-28T08:33:05Z</dcterms:created>
  <dcterms:modified xsi:type="dcterms:W3CDTF">2026-05-10T03:41:49Z</dcterms:modified>
</cp:coreProperties>
</file>